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docProps/core.xml" ContentType="application/vnd.openxmlformats-package.core-properties+xml"/>
  <Override PartName="/ppt/slideLayouts/slideLayout8.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3"/>
  </p:notesMasterIdLst>
  <p:sldIdLst>
    <p:sldId id="256" r:id="rId4"/>
    <p:sldId id="257" r:id="rId5"/>
    <p:sldId id="258" r:id="rId6"/>
    <p:sldId id="259" r:id="rId7"/>
    <p:sldId id="260" r:id="rId8"/>
    <p:sldId id="261" r:id="rId9"/>
    <p:sldId id="262" r:id="rId10"/>
    <p:sldId id="263" r:id="rId11"/>
    <p:sldId id="264" r:id="rId12"/>
  </p:sldIdLst>
  <p:sldSz cx="12188952" cy="6858000" type="screen4x3"/>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24" d="100"/>
          <a:sy n="124" d="100"/>
        </p:scale>
        <p:origin x="-1512" y="-11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notesMaster" Target="notesMasters/notesMaster1.xml"/><Relationship Id="rId14" Type="http://schemas.openxmlformats.org/officeDocument/2006/relationships/presProps" Target="presProps.xml" /><Relationship Id="rId15" Type="http://schemas.openxmlformats.org/officeDocument/2006/relationships/tableStyles" Target="tableStyles.xml" /><Relationship Id="rId1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3"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5303049" name="Slide Image Placeholder 1"/>
          <p:cNvSpPr>
            <a:spLocks noGrp="1"/>
          </p:cNvSpPr>
          <p:nvPr>
            <p:ph type="sldImg" idx="2"/>
          </p:nvPr>
        </p:nvSpPr>
        <p:spPr bwMode="auto"/>
      </p:sp>
      <p:sp>
        <p:nvSpPr>
          <p:cNvPr id="1077422784" name="Notes Placeholder 2"/>
          <p:cNvSpPr>
            <a:spLocks noGrp="1"/>
          </p:cNvSpPr>
          <p:nvPr>
            <p:ph type="body" sz="quarter" idx="3"/>
          </p:nvPr>
        </p:nvSpPr>
        <p:spPr bwMode="auto"/>
        <p:txBody>
          <a:bodyPr/>
          <a:lstStyle/>
          <a:p>
            <a:pPr>
              <a:defRPr/>
            </a:pPr>
            <a:r>
              <a:rPr/>
              <a:t>Welcome. This presentation covers the data collection strategy and model training pipeline for the Oceanographic reef prediction framework. This is a machine learning prototype designed to classify reef health and assess restoration suitability from simulated marine sensor observations. I'll walk through how the data was generated, how it was processed and validated, how the models were trained, and what results were achieved on a synthetic benchmark dataset. Everything you see here is backed by actual code and evaluation files in the project repository.</a:t>
            </a:r>
            <a:endParaRPr/>
          </a:p>
        </p:txBody>
      </p:sp>
      <p:sp>
        <p:nvSpPr>
          <p:cNvPr id="1313239849"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8822242" name="Slide Image Placeholder 1"/>
          <p:cNvSpPr>
            <a:spLocks noGrp="1"/>
          </p:cNvSpPr>
          <p:nvPr>
            <p:ph type="sldImg" idx="2"/>
          </p:nvPr>
        </p:nvSpPr>
        <p:spPr bwMode="auto"/>
      </p:sp>
      <p:sp>
        <p:nvSpPr>
          <p:cNvPr id="1278227843" name="Notes Placeholder 2"/>
          <p:cNvSpPr>
            <a:spLocks noGrp="1"/>
          </p:cNvSpPr>
          <p:nvPr>
            <p:ph type="body" sz="quarter" idx="3"/>
          </p:nvPr>
        </p:nvSpPr>
        <p:spPr bwMode="auto"/>
        <p:txBody>
          <a:bodyPr/>
          <a:lstStyle/>
          <a:p>
            <a:pPr>
              <a:defRPr/>
            </a:pPr>
            <a:r>
              <a:rPr/>
              <a:t>No real sonar data or field surveys have been collected for this prototype. Real sonar hardware, environmental buoys, and biological survey teams have not yet been deployed. All 15,000 observations were generated using a documented Python script that applies statistical rules derived from published Indian reef literature. Gaussian noise prevents any single feature from being a perfect predictor. The key advantage is that the complete MLOps pipeline — validation, preprocessing, training, evaluation, serving — can be built and tested now, and then the synthetic generator simply gets replaced with a real ingestion module when field data becomes available. The proposed future collection plan involves multi-beam sonar from boats and AUVs, fixed environmental sensor buoys, and expert biological surveys conducted by trained marine biologists.</a:t>
            </a:r>
            <a:endParaRPr/>
          </a:p>
        </p:txBody>
      </p:sp>
      <p:sp>
        <p:nvSpPr>
          <p:cNvPr id="2031853534"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66676407" name="Slide Image Placeholder 1"/>
          <p:cNvSpPr>
            <a:spLocks noGrp="1"/>
          </p:cNvSpPr>
          <p:nvPr>
            <p:ph type="sldImg" idx="2"/>
          </p:nvPr>
        </p:nvSpPr>
        <p:spPr bwMode="auto"/>
      </p:sp>
      <p:sp>
        <p:nvSpPr>
          <p:cNvPr id="946447590" name="Notes Placeholder 2"/>
          <p:cNvSpPr>
            <a:spLocks noGrp="1"/>
          </p:cNvSpPr>
          <p:nvPr>
            <p:ph type="body" sz="quarter" idx="3"/>
          </p:nvPr>
        </p:nvSpPr>
        <p:spPr bwMode="auto"/>
        <p:txBody>
          <a:bodyPr/>
          <a:lstStyle/>
          <a:p>
            <a:pPr>
              <a:defRPr/>
            </a:pPr>
            <a:r>
              <a:rPr/>
              <a:t>The dataset has 21 columns divided into five logical groups. Geographic metadata locates each observation in one of four Indian reef regions. Sonar-derived features describe the physical structure of the reef — rugosity, backscatter, hard substrate fraction, and acoustic complexity. These are habitat structure indicators only. An important scientific limit is that sonar cannot directly measure bleaching percentages, coral cover, or water chemistry. Environmental sensors capture the physical conditions of the water column — temperature, pH, dissolved oxygen, turbidity, salinity, light, and current. Reef-condition observations record what a diver or camera would see — coral cover, bleaching extent, and disease prevalence. Finally, we have two target label columns. In a real deployment, the sonar and sensor data would be collected continuously, while biological survey labels would require periodic expert annotation.</a:t>
            </a:r>
            <a:endParaRPr/>
          </a:p>
        </p:txBody>
      </p:sp>
      <p:sp>
        <p:nvSpPr>
          <p:cNvPr id="2047159984"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2801737" name="Slide Image Placeholder 1"/>
          <p:cNvSpPr>
            <a:spLocks noGrp="1"/>
          </p:cNvSpPr>
          <p:nvPr>
            <p:ph type="sldImg" idx="2"/>
          </p:nvPr>
        </p:nvSpPr>
        <p:spPr bwMode="auto"/>
      </p:sp>
      <p:sp>
        <p:nvSpPr>
          <p:cNvPr id="1021041608" name="Notes Placeholder 2"/>
          <p:cNvSpPr>
            <a:spLocks noGrp="1"/>
          </p:cNvSpPr>
          <p:nvPr>
            <p:ph type="body" sz="quarter" idx="3"/>
          </p:nvPr>
        </p:nvSpPr>
        <p:spPr bwMode="auto"/>
        <p:txBody>
          <a:bodyPr/>
          <a:lstStyle/>
          <a:p>
            <a:pPr>
              <a:defRPr/>
            </a:pPr>
            <a:r>
              <a:rPr/>
              <a:t>The dataset has exactly 15,000 rows and 21 columns, confirmed from the CSV file. The 80/20 stratified split gives 12,000 training rows and 3,000 test rows. Stratification ensures that class proportions are preserved in both splits. There are no missing values because all fields are required in the Pandera schema — any row with a null value would be rejected at validation. The class distribution is not perfectly balanced. For reef health, the stressed class is by far the most common, followed by severely degraded, healthy, and bleached. For restoration suitability, moderately suitable is the majority class. This imbalance is handled during training using the class_weight=balanced setting, which automatically adjusts the loss function to give more weight to minority classes. The charts shown here are approximate distributions scaled from the test-set support counts in the evaluation JSON files.</a:t>
            </a:r>
            <a:endParaRPr/>
          </a:p>
        </p:txBody>
      </p:sp>
      <p:sp>
        <p:nvSpPr>
          <p:cNvPr id="1139178968"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22904326" name="Slide Image Placeholder 1"/>
          <p:cNvSpPr>
            <a:spLocks noGrp="1"/>
          </p:cNvSpPr>
          <p:nvPr>
            <p:ph type="sldImg" idx="2"/>
          </p:nvPr>
        </p:nvSpPr>
        <p:spPr bwMode="auto"/>
      </p:sp>
      <p:sp>
        <p:nvSpPr>
          <p:cNvPr id="1640120146" name="Notes Placeholder 2"/>
          <p:cNvSpPr>
            <a:spLocks noGrp="1"/>
          </p:cNvSpPr>
          <p:nvPr>
            <p:ph type="body" sz="quarter" idx="3"/>
          </p:nvPr>
        </p:nvSpPr>
        <p:spPr bwMode="auto"/>
        <p:txBody>
          <a:bodyPr/>
          <a:lstStyle/>
          <a:p>
            <a:pPr>
              <a:defRPr/>
            </a:pPr>
            <a:r>
              <a:rPr/>
              <a:t>The preprocessing step converts raw feature columns into a numeric matrix that sklearn classifiers can consume. There are two separate pipelines: one for numeric features and one for the categorical region column. The critical design rule is that the ColumnTransformer is fitted only on the training split. If we fitted on the full dataset, the scaler would learn the mean and variance of test rows, which would constitute data leakage and inflate apparent test performance. Each task — health and restoration — gets its own fitted preprocessor saved as a .joblib file. These artifacts are used both during the DVC pipeline evaluation and at inference time in the FastAPI service. The preprocessor is always called in transform-only mode at inference time — never refit on production data. In addition to the 16 raw features, 6 derived features are computed before splitting: thermal stress index, oxygen stress index, acidity deviation, water quality index, substrate stability score, and structural complexity score.</a:t>
            </a:r>
            <a:endParaRPr/>
          </a:p>
        </p:txBody>
      </p:sp>
      <p:sp>
        <p:nvSpPr>
          <p:cNvPr id="985320470"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2999506" name="Slide Image Placeholder 1"/>
          <p:cNvSpPr>
            <a:spLocks noGrp="1"/>
          </p:cNvSpPr>
          <p:nvPr>
            <p:ph type="sldImg" idx="2"/>
          </p:nvPr>
        </p:nvSpPr>
        <p:spPr bwMode="auto"/>
      </p:sp>
      <p:sp>
        <p:nvSpPr>
          <p:cNvPr id="1282558889" name="Notes Placeholder 2"/>
          <p:cNvSpPr>
            <a:spLocks noGrp="1"/>
          </p:cNvSpPr>
          <p:nvPr>
            <p:ph type="body" sz="quarter" idx="3"/>
          </p:nvPr>
        </p:nvSpPr>
        <p:spPr bwMode="auto"/>
        <p:txBody>
          <a:bodyPr/>
          <a:lstStyle/>
          <a:p>
            <a:pPr>
              <a:defRPr/>
            </a:pPr>
            <a:r>
              <a:rPr/>
              <a:t>Three algorithms are trained for each classification task: Logistic Regression, Random Forest, and XGBoost. All hyperparameters are stored in params.yaml so they can be tracked and changed reproducibly via DVC. The two tasks are trained completely independently — health and restoration have separate preprocessors, separate training runs, and separate registered models. Class imbalance is handled by setting class_weight to balanced in all three algorithms. The primary selection metric is CV macro-F1, which averages F1 score equally across all classes regardless of their frequency. This matters because naive accuracy would favor the majority class. Five-fold cross-validation is used to estimate generalisation performance before any test data is touched. The model with the highest CV macro-F1 is selected, and only then evaluated on the held-out 3,000-row test set. MLflow tracks every experiment run — parameters, metrics, the trained model artifact, and confusion matrix — all stored in a local SQLite database at artifacts/mlruns.db.</a:t>
            </a:r>
            <a:endParaRPr/>
          </a:p>
        </p:txBody>
      </p:sp>
      <p:sp>
        <p:nvSpPr>
          <p:cNvPr id="974075450"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3869930" name="Slide Image Placeholder 1"/>
          <p:cNvSpPr>
            <a:spLocks noGrp="1"/>
          </p:cNvSpPr>
          <p:nvPr>
            <p:ph type="sldImg" idx="2"/>
          </p:nvPr>
        </p:nvSpPr>
        <p:spPr bwMode="auto"/>
      </p:sp>
      <p:sp>
        <p:nvSpPr>
          <p:cNvPr id="779581961" name="Notes Placeholder 2"/>
          <p:cNvSpPr>
            <a:spLocks noGrp="1"/>
          </p:cNvSpPr>
          <p:nvPr>
            <p:ph type="body" sz="quarter" idx="3"/>
          </p:nvPr>
        </p:nvSpPr>
        <p:spPr bwMode="auto"/>
        <p:txBody>
          <a:bodyPr/>
          <a:lstStyle/>
          <a:p>
            <a:pPr>
              <a:defRPr/>
            </a:pPr>
            <a:r>
              <a:rPr/>
              <a:t>For the reef health task, all three algorithms performed very similarly. Logistic Regression achieved the highest five-fold cross-validation macro-F1 of 0.7612, slightly ahead of Random Forest at 0.7605 and XGBoost at 0.7580. On the held-out test set, Logistic Regression also achieved the best macro-F1 of 0.7871 and balanced accuracy of 0.8012. The stressed class is the easiest to classify, with an F1 of about 0.90 across all models — this is the majority class and has the clearest feature signal. The healthy and severely degraded classes are harder, both scoring around 0.67 to 0.70 F1. This reflects overlapping feature ranges between adjacent ordinal health states, which is intentional in the synthetic data generator. It is critical to remember that these scores are on synthetic data with known statistical structure. Real reef data would likely produce different results due to genuine environmental complexity and labelling noise.</a:t>
            </a:r>
            <a:endParaRPr/>
          </a:p>
        </p:txBody>
      </p:sp>
      <p:sp>
        <p:nvSpPr>
          <p:cNvPr id="916505361"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4827138" name="Slide Image Placeholder 1"/>
          <p:cNvSpPr>
            <a:spLocks noGrp="1"/>
          </p:cNvSpPr>
          <p:nvPr>
            <p:ph type="sldImg" idx="2"/>
          </p:nvPr>
        </p:nvSpPr>
        <p:spPr bwMode="auto"/>
      </p:sp>
      <p:sp>
        <p:nvSpPr>
          <p:cNvPr id="1180069835" name="Notes Placeholder 2"/>
          <p:cNvSpPr>
            <a:spLocks noGrp="1"/>
          </p:cNvSpPr>
          <p:nvPr>
            <p:ph type="body" sz="quarter" idx="3"/>
          </p:nvPr>
        </p:nvSpPr>
        <p:spPr bwMode="auto"/>
        <p:txBody>
          <a:bodyPr/>
          <a:lstStyle/>
          <a:p>
            <a:pPr>
              <a:defRPr/>
            </a:pPr>
            <a:r>
              <a:rPr/>
              <a:t>For the restoration suitability task, XGBoost achieved the highest cross-validation macro-F1 of 0.7913, compared to 0.7839 for Random Forest and 0.7808 for Logistic Regression. On the test set, XGBoost also led with a macro-F1 of 0.8029 and accuracy of 0.8277. The moderately suitable class has the highest per-class F1 at 0.8884, which makes sense as it is the majority class. The suitable class is harder to classify at 0.7204, which reflects overlap with moderately suitable sites where most conditions are good but one or two factors are suboptimal. The unsuitable class achieves a solid 0.8000 F1, as the extreme conditions that make a site unsuitable are generally quite distinct. Comparing across the two tasks, XGBoost did better on restoration but not on health, suggesting the restoration decision depends more heavily on non-linear interactions — particularly between substrate quality, turbidity, and temperature — that boosted trees handle well.</a:t>
            </a:r>
            <a:endParaRPr/>
          </a:p>
        </p:txBody>
      </p:sp>
      <p:sp>
        <p:nvSpPr>
          <p:cNvPr id="103159907"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8517430" name="Slide Image Placeholder 1"/>
          <p:cNvSpPr>
            <a:spLocks noGrp="1"/>
          </p:cNvSpPr>
          <p:nvPr>
            <p:ph type="sldImg" idx="2"/>
          </p:nvPr>
        </p:nvSpPr>
        <p:spPr bwMode="auto"/>
      </p:sp>
      <p:sp>
        <p:nvSpPr>
          <p:cNvPr id="1353898369" name="Notes Placeholder 2"/>
          <p:cNvSpPr>
            <a:spLocks noGrp="1"/>
          </p:cNvSpPr>
          <p:nvPr>
            <p:ph type="body" sz="quarter" idx="3"/>
          </p:nvPr>
        </p:nvSpPr>
        <p:spPr bwMode="auto"/>
        <p:txBody>
          <a:bodyPr/>
          <a:lstStyle/>
          <a:p>
            <a:pPr>
              <a:defRPr/>
            </a:pPr>
            <a:r>
              <a:rPr/>
              <a:t>To summarise the training results: for reef health classification, Logistic Regression was selected with a test macro-F1 of 0.7871 and accuracy of 0.8193. For restoration suitability, XGBoost was selected with a test macro-F1 of 0.8029 and accuracy of 0.8277. Both models are registered in the MLflow model registry with the 'champion' alias. These are strong results for a classification prototype, but the critical limitation is that the data is entirely synthetic. The synthetic generator bakes in certain correlations by design, which means the models are learning the structure of the simulation rather than the complexity of real reef ecosystems. The next concrete steps are to deploy real hardware and collect labelled field data, and then to evaluate the models on a geographically separated hold-out reef to test for spatial generalisation. The complete MLOps infrastructure — the validation pipeline, drift monitoring, retraining governance, FastAPI inference service, and Streamlit dashboard — are already built and waiting for real data to flow through them.</a:t>
            </a:r>
            <a:endParaRPr/>
          </a:p>
        </p:txBody>
      </p:sp>
      <p:sp>
        <p:nvSpPr>
          <p:cNvPr id="1743952056"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731473001"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lang="en-US"/>
          </a:p>
        </p:txBody>
      </p:sp>
      <p:sp>
        <p:nvSpPr>
          <p:cNvPr id="158595581"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lang="en-US"/>
          </a:p>
        </p:txBody>
      </p:sp>
      <p:sp>
        <p:nvSpPr>
          <p:cNvPr id="1309926375"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394596084" name="Footer Placeholder 4"/>
          <p:cNvSpPr>
            <a:spLocks noGrp="1"/>
          </p:cNvSpPr>
          <p:nvPr>
            <p:ph type="ftr" sz="quarter" idx="11"/>
          </p:nvPr>
        </p:nvSpPr>
        <p:spPr bwMode="auto"/>
        <p:txBody>
          <a:bodyPr/>
          <a:lstStyle/>
          <a:p>
            <a:pPr>
              <a:defRPr/>
            </a:pPr>
            <a:endParaRPr lang="en-US"/>
          </a:p>
        </p:txBody>
      </p:sp>
      <p:sp>
        <p:nvSpPr>
          <p:cNvPr id="1246691074"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6078940" name="Title 1"/>
          <p:cNvSpPr>
            <a:spLocks noGrp="1"/>
          </p:cNvSpPr>
          <p:nvPr>
            <p:ph type="title"/>
          </p:nvPr>
        </p:nvSpPr>
        <p:spPr bwMode="auto"/>
        <p:txBody>
          <a:bodyPr/>
          <a:lstStyle/>
          <a:p>
            <a:pPr>
              <a:defRPr/>
            </a:pPr>
            <a:r>
              <a:rPr lang="en-US"/>
              <a:t>Click to edit Master title style</a:t>
            </a:r>
            <a:endParaRPr lang="en-US"/>
          </a:p>
        </p:txBody>
      </p:sp>
      <p:sp>
        <p:nvSpPr>
          <p:cNvPr id="381800324"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161067777"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66454334" name="Footer Placeholder 4"/>
          <p:cNvSpPr>
            <a:spLocks noGrp="1"/>
          </p:cNvSpPr>
          <p:nvPr>
            <p:ph type="ftr" sz="quarter" idx="11"/>
          </p:nvPr>
        </p:nvSpPr>
        <p:spPr bwMode="auto"/>
        <p:txBody>
          <a:bodyPr/>
          <a:lstStyle/>
          <a:p>
            <a:pPr>
              <a:defRPr/>
            </a:pPr>
            <a:endParaRPr lang="en-US"/>
          </a:p>
        </p:txBody>
      </p:sp>
      <p:sp>
        <p:nvSpPr>
          <p:cNvPr id="302071494"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48713211"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lang="en-US"/>
          </a:p>
        </p:txBody>
      </p:sp>
      <p:sp>
        <p:nvSpPr>
          <p:cNvPr id="213816829"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452415748"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634948607" name="Footer Placeholder 4"/>
          <p:cNvSpPr>
            <a:spLocks noGrp="1"/>
          </p:cNvSpPr>
          <p:nvPr>
            <p:ph type="ftr" sz="quarter" idx="11"/>
          </p:nvPr>
        </p:nvSpPr>
        <p:spPr bwMode="auto"/>
        <p:txBody>
          <a:bodyPr/>
          <a:lstStyle/>
          <a:p>
            <a:pPr>
              <a:defRPr/>
            </a:pPr>
            <a:endParaRPr lang="en-US"/>
          </a:p>
        </p:txBody>
      </p:sp>
      <p:sp>
        <p:nvSpPr>
          <p:cNvPr id="18285515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735619511" name="Title 1"/>
          <p:cNvSpPr>
            <a:spLocks noGrp="1"/>
          </p:cNvSpPr>
          <p:nvPr>
            <p:ph type="title"/>
          </p:nvPr>
        </p:nvSpPr>
        <p:spPr bwMode="auto"/>
        <p:txBody>
          <a:bodyPr/>
          <a:lstStyle/>
          <a:p>
            <a:pPr>
              <a:defRPr/>
            </a:pPr>
            <a:r>
              <a:rPr lang="en-US"/>
              <a:t>Click to edit Master title style</a:t>
            </a:r>
            <a:endParaRPr lang="en-US"/>
          </a:p>
        </p:txBody>
      </p:sp>
      <p:sp>
        <p:nvSpPr>
          <p:cNvPr id="605472448"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338023889"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590128235"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937500421" name="Footer Placeholder 5"/>
          <p:cNvSpPr>
            <a:spLocks noGrp="1"/>
          </p:cNvSpPr>
          <p:nvPr>
            <p:ph type="ftr" sz="quarter" idx="11"/>
          </p:nvPr>
        </p:nvSpPr>
        <p:spPr bwMode="auto"/>
        <p:txBody>
          <a:bodyPr/>
          <a:lstStyle/>
          <a:p>
            <a:pPr>
              <a:defRPr/>
            </a:pPr>
            <a:endParaRPr lang="en-US"/>
          </a:p>
        </p:txBody>
      </p:sp>
      <p:sp>
        <p:nvSpPr>
          <p:cNvPr id="198811421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758720821" name="Title 1"/>
          <p:cNvSpPr>
            <a:spLocks noGrp="1"/>
          </p:cNvSpPr>
          <p:nvPr>
            <p:ph type="title"/>
          </p:nvPr>
        </p:nvSpPr>
        <p:spPr bwMode="auto"/>
        <p:txBody>
          <a:bodyPr/>
          <a:lstStyle>
            <a:lvl1pPr>
              <a:defRPr/>
            </a:lvl1pPr>
          </a:lstStyle>
          <a:p>
            <a:pPr>
              <a:defRPr/>
            </a:pPr>
            <a:r>
              <a:rPr lang="en-US"/>
              <a:t>Click to edit Master title style</a:t>
            </a:r>
            <a:endParaRPr lang="en-US"/>
          </a:p>
        </p:txBody>
      </p:sp>
      <p:sp>
        <p:nvSpPr>
          <p:cNvPr id="1435623018"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881195091"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500280323"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777431327"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67401171" name="Date Placeholder 6"/>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505807742" name="Footer Placeholder 7"/>
          <p:cNvSpPr>
            <a:spLocks noGrp="1"/>
          </p:cNvSpPr>
          <p:nvPr>
            <p:ph type="ftr" sz="quarter" idx="11"/>
          </p:nvPr>
        </p:nvSpPr>
        <p:spPr bwMode="auto"/>
        <p:txBody>
          <a:bodyPr/>
          <a:lstStyle/>
          <a:p>
            <a:pPr>
              <a:defRPr/>
            </a:pPr>
            <a:endParaRPr lang="en-US"/>
          </a:p>
        </p:txBody>
      </p:sp>
      <p:sp>
        <p:nvSpPr>
          <p:cNvPr id="1386863961"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71983413" name="Title 1"/>
          <p:cNvSpPr>
            <a:spLocks noGrp="1"/>
          </p:cNvSpPr>
          <p:nvPr>
            <p:ph type="title"/>
          </p:nvPr>
        </p:nvSpPr>
        <p:spPr bwMode="auto"/>
        <p:txBody>
          <a:bodyPr/>
          <a:lstStyle/>
          <a:p>
            <a:pPr>
              <a:defRPr/>
            </a:pPr>
            <a:r>
              <a:rPr lang="en-US"/>
              <a:t>Click to edit Master title style</a:t>
            </a:r>
            <a:endParaRPr lang="en-US"/>
          </a:p>
        </p:txBody>
      </p:sp>
      <p:sp>
        <p:nvSpPr>
          <p:cNvPr id="94819843" name="Date Placeholder 2"/>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273251222" name="Footer Placeholder 3"/>
          <p:cNvSpPr>
            <a:spLocks noGrp="1"/>
          </p:cNvSpPr>
          <p:nvPr>
            <p:ph type="ftr" sz="quarter" idx="11"/>
          </p:nvPr>
        </p:nvSpPr>
        <p:spPr bwMode="auto"/>
        <p:txBody>
          <a:bodyPr/>
          <a:lstStyle/>
          <a:p>
            <a:pPr>
              <a:defRPr/>
            </a:pPr>
            <a:endParaRPr lang="en-US"/>
          </a:p>
        </p:txBody>
      </p:sp>
      <p:sp>
        <p:nvSpPr>
          <p:cNvPr id="2052639611"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447033964" name="Date Placeholder 1"/>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498955057" name="Footer Placeholder 2"/>
          <p:cNvSpPr>
            <a:spLocks noGrp="1"/>
          </p:cNvSpPr>
          <p:nvPr>
            <p:ph type="ftr" sz="quarter" idx="11"/>
          </p:nvPr>
        </p:nvSpPr>
        <p:spPr bwMode="auto"/>
        <p:txBody>
          <a:bodyPr/>
          <a:lstStyle/>
          <a:p>
            <a:pPr>
              <a:defRPr/>
            </a:pPr>
            <a:endParaRPr lang="en-US"/>
          </a:p>
        </p:txBody>
      </p:sp>
      <p:sp>
        <p:nvSpPr>
          <p:cNvPr id="1689338835"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72093409"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lang="en-US"/>
          </a:p>
        </p:txBody>
      </p:sp>
      <p:sp>
        <p:nvSpPr>
          <p:cNvPr id="353953306"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43111384"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01175376"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961034545" name="Footer Placeholder 5"/>
          <p:cNvSpPr>
            <a:spLocks noGrp="1"/>
          </p:cNvSpPr>
          <p:nvPr>
            <p:ph type="ftr" sz="quarter" idx="11"/>
          </p:nvPr>
        </p:nvSpPr>
        <p:spPr bwMode="auto"/>
        <p:txBody>
          <a:bodyPr/>
          <a:lstStyle/>
          <a:p>
            <a:pPr>
              <a:defRPr/>
            </a:pPr>
            <a:endParaRPr lang="en-US"/>
          </a:p>
        </p:txBody>
      </p:sp>
      <p:sp>
        <p:nvSpPr>
          <p:cNvPr id="1564144746"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828676278"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lang="en-US"/>
          </a:p>
        </p:txBody>
      </p:sp>
      <p:sp>
        <p:nvSpPr>
          <p:cNvPr id="736286318"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071821637"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866834687"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931064117" name="Footer Placeholder 5"/>
          <p:cNvSpPr>
            <a:spLocks noGrp="1"/>
          </p:cNvSpPr>
          <p:nvPr>
            <p:ph type="ftr" sz="quarter" idx="11"/>
          </p:nvPr>
        </p:nvSpPr>
        <p:spPr bwMode="auto"/>
        <p:txBody>
          <a:bodyPr/>
          <a:lstStyle/>
          <a:p>
            <a:pPr>
              <a:defRPr/>
            </a:pPr>
            <a:endParaRPr lang="en-US"/>
          </a:p>
        </p:txBody>
      </p:sp>
      <p:sp>
        <p:nvSpPr>
          <p:cNvPr id="742787571"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612028641" name="Title 1"/>
          <p:cNvSpPr>
            <a:spLocks noGrp="1"/>
          </p:cNvSpPr>
          <p:nvPr>
            <p:ph type="title"/>
          </p:nvPr>
        </p:nvSpPr>
        <p:spPr bwMode="auto"/>
        <p:txBody>
          <a:bodyPr/>
          <a:lstStyle/>
          <a:p>
            <a:pPr>
              <a:defRPr/>
            </a:pPr>
            <a:r>
              <a:rPr lang="en-US"/>
              <a:t>Click to edit Master title style</a:t>
            </a:r>
            <a:endParaRPr lang="en-US"/>
          </a:p>
        </p:txBody>
      </p:sp>
      <p:sp>
        <p:nvSpPr>
          <p:cNvPr id="1114909339"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334614042"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338572932" name="Footer Placeholder 4"/>
          <p:cNvSpPr>
            <a:spLocks noGrp="1"/>
          </p:cNvSpPr>
          <p:nvPr>
            <p:ph type="ftr" sz="quarter" idx="11"/>
          </p:nvPr>
        </p:nvSpPr>
        <p:spPr bwMode="auto"/>
        <p:txBody>
          <a:bodyPr/>
          <a:lstStyle/>
          <a:p>
            <a:pPr>
              <a:defRPr/>
            </a:pPr>
            <a:endParaRPr lang="en-US"/>
          </a:p>
        </p:txBody>
      </p:sp>
      <p:sp>
        <p:nvSpPr>
          <p:cNvPr id="204846715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804807424"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lang="en-US"/>
          </a:p>
        </p:txBody>
      </p:sp>
      <p:sp>
        <p:nvSpPr>
          <p:cNvPr id="1249880517"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82925058"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028671923" name="Footer Placeholder 4"/>
          <p:cNvSpPr>
            <a:spLocks noGrp="1"/>
          </p:cNvSpPr>
          <p:nvPr>
            <p:ph type="ftr" sz="quarter" idx="11"/>
          </p:nvPr>
        </p:nvSpPr>
        <p:spPr bwMode="auto"/>
        <p:txBody>
          <a:bodyPr/>
          <a:lstStyle/>
          <a:p>
            <a:pPr>
              <a:defRPr/>
            </a:pPr>
            <a:endParaRPr lang="en-US"/>
          </a:p>
        </p:txBody>
      </p:sp>
      <p:sp>
        <p:nvSpPr>
          <p:cNvPr id="178240196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706514896"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394642083"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453131487"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1/27/13</a:t>
            </a:fld>
            <a:endParaRPr lang="en-US"/>
          </a:p>
        </p:txBody>
      </p:sp>
      <p:sp>
        <p:nvSpPr>
          <p:cNvPr id="1676885739"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476536430"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180610305" name="Rectangle 1"/>
          <p:cNvSpPr/>
          <p:nvPr/>
        </p:nvSpPr>
        <p:spPr bwMode="auto">
          <a:xfrm>
            <a:off x="0" y="3566160"/>
            <a:ext cx="12188952" cy="329184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729467" name="Rectangle 2"/>
          <p:cNvSpPr/>
          <p:nvPr/>
        </p:nvSpPr>
        <p:spPr bwMode="auto">
          <a:xfrm>
            <a:off x="0" y="3547872"/>
            <a:ext cx="12188952" cy="45720"/>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05034206" name="Rectangle 3"/>
          <p:cNvSpPr/>
          <p:nvPr/>
        </p:nvSpPr>
        <p:spPr bwMode="auto">
          <a:xfrm>
            <a:off x="0" y="0"/>
            <a:ext cx="109728" cy="6858000"/>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0805734" name="TextBox 4"/>
          <p:cNvSpPr txBox="1"/>
          <p:nvPr/>
        </p:nvSpPr>
        <p:spPr bwMode="auto">
          <a:xfrm>
            <a:off x="365760" y="960120"/>
            <a:ext cx="11521440" cy="1828800"/>
          </a:xfrm>
          <a:prstGeom prst="rect">
            <a:avLst/>
          </a:prstGeom>
          <a:noFill/>
        </p:spPr>
        <p:txBody>
          <a:bodyPr wrap="square">
            <a:spAutoFit/>
          </a:bodyPr>
          <a:lstStyle/>
          <a:p>
            <a:pPr algn="l">
              <a:defRPr/>
            </a:pPr>
            <a:r>
              <a:rPr sz="2800" b="1">
                <a:solidFill>
                  <a:srgbClr val="00B4D8"/>
                </a:solidFill>
              </a:rPr>
              <a:t>Oceanographic: A Machine Learning-Driven Sonar Framework</a:t>
            </a:r>
            <a:br>
              <a:rPr sz="2800" b="1">
                <a:solidFill>
                  <a:srgbClr val="00B4D8"/>
                </a:solidFill>
              </a:rPr>
            </a:br>
            <a:r>
              <a:rPr sz="2800" b="1">
                <a:solidFill>
                  <a:srgbClr val="00B4D8"/>
                </a:solidFill>
              </a:rPr>
              <a:t>for Real-Time Coral Reef Habitat Prediction</a:t>
            </a:r>
            <a:br>
              <a:rPr sz="2800" b="1">
                <a:solidFill>
                  <a:srgbClr val="00B4D8"/>
                </a:solidFill>
              </a:rPr>
            </a:br>
            <a:r>
              <a:rPr sz="2800" b="1">
                <a:solidFill>
                  <a:srgbClr val="00B4D8"/>
                </a:solidFill>
              </a:rPr>
              <a:t>and Marine Ecosystem Monitoring</a:t>
            </a:r>
            <a:endParaRPr/>
          </a:p>
        </p:txBody>
      </p:sp>
      <p:sp>
        <p:nvSpPr>
          <p:cNvPr id="1463366357" name="TextBox 5"/>
          <p:cNvSpPr txBox="1"/>
          <p:nvPr/>
        </p:nvSpPr>
        <p:spPr bwMode="auto">
          <a:xfrm>
            <a:off x="365760" y="2971800"/>
            <a:ext cx="10058400" cy="502920"/>
          </a:xfrm>
          <a:prstGeom prst="rect">
            <a:avLst/>
          </a:prstGeom>
          <a:noFill/>
        </p:spPr>
        <p:txBody>
          <a:bodyPr wrap="square">
            <a:spAutoFit/>
          </a:bodyPr>
          <a:lstStyle/>
          <a:p>
            <a:pPr algn="l">
              <a:defRPr/>
            </a:pPr>
            <a:r>
              <a:rPr sz="1600" b="0" i="0">
                <a:solidFill>
                  <a:srgbClr val="90E0EF"/>
                </a:solidFill>
              </a:rPr>
              <a:t>MLOps Presentation 2 — Data Collection and Model Training</a:t>
            </a:r>
            <a:endParaRPr/>
          </a:p>
        </p:txBody>
      </p:sp>
      <p:sp>
        <p:nvSpPr>
          <p:cNvPr id="259941980" name="Rectangle 6"/>
          <p:cNvSpPr/>
          <p:nvPr/>
        </p:nvSpPr>
        <p:spPr bwMode="auto">
          <a:xfrm>
            <a:off x="365760" y="3712463"/>
            <a:ext cx="10058400" cy="22860"/>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78110307" name="TextBox 7"/>
          <p:cNvSpPr txBox="1"/>
          <p:nvPr/>
        </p:nvSpPr>
        <p:spPr bwMode="auto">
          <a:xfrm>
            <a:off x="365760" y="3858768"/>
            <a:ext cx="11430000" cy="384048"/>
          </a:xfrm>
          <a:prstGeom prst="rect">
            <a:avLst/>
          </a:prstGeom>
          <a:noFill/>
        </p:spPr>
        <p:txBody>
          <a:bodyPr wrap="square">
            <a:spAutoFit/>
          </a:bodyPr>
          <a:lstStyle/>
          <a:p>
            <a:pPr algn="l">
              <a:defRPr/>
            </a:pPr>
            <a:r>
              <a:rPr sz="1200" b="0" i="0">
                <a:solidFill>
                  <a:srgbClr val="8AB4C8"/>
                </a:solidFill>
              </a:rPr>
              <a:t>Decision-support prototype  |  Synthetic data  |  Indian reef systems</a:t>
            </a:r>
            <a:endParaRPr/>
          </a:p>
        </p:txBody>
      </p:sp>
      <p:sp>
        <p:nvSpPr>
          <p:cNvPr id="469290149" name="TextBox 8"/>
          <p:cNvSpPr txBox="1"/>
          <p:nvPr/>
        </p:nvSpPr>
        <p:spPr bwMode="auto">
          <a:xfrm>
            <a:off x="365760" y="4270248"/>
            <a:ext cx="11430000" cy="384048"/>
          </a:xfrm>
          <a:prstGeom prst="rect">
            <a:avLst/>
          </a:prstGeom>
          <a:noFill/>
        </p:spPr>
        <p:txBody>
          <a:bodyPr wrap="square">
            <a:spAutoFit/>
          </a:bodyPr>
          <a:lstStyle/>
          <a:p>
            <a:pPr algn="l">
              <a:defRPr/>
            </a:pPr>
            <a:r>
              <a:rPr sz="1200" b="0" i="0">
                <a:solidFill>
                  <a:srgbClr val="8AB4C8"/>
                </a:solidFill>
              </a:rPr>
              <a:t>Four regions: Lakshadweep  |  Gulf of Mannar  |  Gulf of Kutch  |  Andaman and Nicobar Islands</a:t>
            </a:r>
            <a:endParaRPr/>
          </a:p>
        </p:txBody>
      </p:sp>
      <p:sp>
        <p:nvSpPr>
          <p:cNvPr id="1607476652" name="TextBox 9"/>
          <p:cNvSpPr txBox="1"/>
          <p:nvPr/>
        </p:nvSpPr>
        <p:spPr bwMode="auto">
          <a:xfrm>
            <a:off x="365760" y="5806440"/>
            <a:ext cx="11430000" cy="384048"/>
          </a:xfrm>
          <a:prstGeom prst="rect">
            <a:avLst/>
          </a:prstGeom>
          <a:noFill/>
        </p:spPr>
        <p:txBody>
          <a:bodyPr wrap="square">
            <a:spAutoFit/>
          </a:bodyPr>
          <a:lstStyle/>
          <a:p>
            <a:pPr algn="l">
              <a:defRPr/>
            </a:pPr>
            <a:r>
              <a:rPr sz="950" b="0" i="1">
                <a:solidFill>
                  <a:srgbClr val="7AA4B8"/>
                </a:solidFill>
              </a:rPr>
              <a:t>All observations in this prototype are synthetic. Models do not represent real-world conservation accuracy.</a:t>
            </a:r>
            <a:endParaRPr/>
          </a:p>
        </p:txBody>
      </p:sp>
      <p:sp>
        <p:nvSpPr>
          <p:cNvPr id="1397393160" name="Rectangle 10"/>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9094994" name="TextBox 11"/>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951994477"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640464"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Data Collection Strategy</a:t>
            </a:r>
            <a:endParaRPr/>
          </a:p>
        </p:txBody>
      </p:sp>
      <p:sp>
        <p:nvSpPr>
          <p:cNvPr id="937665144"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Current prototype vs. proposed future deployment</a:t>
            </a:r>
            <a:endParaRPr/>
          </a:p>
        </p:txBody>
      </p:sp>
      <p:sp>
        <p:nvSpPr>
          <p:cNvPr id="546823910"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1318027"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5919180"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1181404073"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3</a:t>
            </a:r>
            <a:endParaRPr/>
          </a:p>
        </p:txBody>
      </p:sp>
      <p:sp>
        <p:nvSpPr>
          <p:cNvPr id="142697160" name="Rectangle 8"/>
          <p:cNvSpPr/>
          <p:nvPr/>
        </p:nvSpPr>
        <p:spPr bwMode="auto">
          <a:xfrm>
            <a:off x="274320" y="1188720"/>
            <a:ext cx="5440680" cy="5120640"/>
          </a:xfrm>
          <a:prstGeom prst="rect">
            <a:avLst/>
          </a:prstGeom>
          <a:solidFill>
            <a:srgbClr val="122A4A"/>
          </a:solidFill>
          <a:ln w="19050">
            <a:solidFill>
              <a:srgbClr val="F4A26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12559739" name="TextBox 9"/>
          <p:cNvSpPr txBox="1"/>
          <p:nvPr/>
        </p:nvSpPr>
        <p:spPr bwMode="auto">
          <a:xfrm>
            <a:off x="457200" y="1261872"/>
            <a:ext cx="5074920" cy="384048"/>
          </a:xfrm>
          <a:prstGeom prst="rect">
            <a:avLst/>
          </a:prstGeom>
          <a:noFill/>
        </p:spPr>
        <p:txBody>
          <a:bodyPr wrap="square">
            <a:spAutoFit/>
          </a:bodyPr>
          <a:lstStyle/>
          <a:p>
            <a:pPr algn="l">
              <a:defRPr/>
            </a:pPr>
            <a:r>
              <a:rPr sz="1300" b="1" i="0">
                <a:solidFill>
                  <a:srgbClr val="F4A261"/>
                </a:solidFill>
              </a:rPr>
              <a:t>Current: Synthetic Data Generation</a:t>
            </a:r>
            <a:endParaRPr/>
          </a:p>
        </p:txBody>
      </p:sp>
      <p:sp>
        <p:nvSpPr>
          <p:cNvPr id="1790176977" name="Rectangle 10"/>
          <p:cNvSpPr/>
          <p:nvPr/>
        </p:nvSpPr>
        <p:spPr bwMode="auto">
          <a:xfrm>
            <a:off x="457200" y="1673352"/>
            <a:ext cx="5074920" cy="256032"/>
          </a:xfrm>
          <a:prstGeom prst="rect">
            <a:avLst/>
          </a:prstGeom>
          <a:solidFill>
            <a:srgbClr val="3A1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01142785" name="TextBox 11"/>
          <p:cNvSpPr txBox="1"/>
          <p:nvPr/>
        </p:nvSpPr>
        <p:spPr bwMode="auto">
          <a:xfrm>
            <a:off x="475488" y="1682496"/>
            <a:ext cx="5029200" cy="237744"/>
          </a:xfrm>
          <a:prstGeom prst="rect">
            <a:avLst/>
          </a:prstGeom>
          <a:noFill/>
        </p:spPr>
        <p:txBody>
          <a:bodyPr wrap="square">
            <a:spAutoFit/>
          </a:bodyPr>
          <a:lstStyle/>
          <a:p>
            <a:pPr algn="ctr">
              <a:defRPr/>
            </a:pPr>
            <a:r>
              <a:rPr sz="950" b="1" i="0">
                <a:solidFill>
                  <a:srgbClr val="F4A261"/>
                </a:solidFill>
              </a:rPr>
              <a:t>SYNTHETIC DATA — not real sensor readings</a:t>
            </a:r>
            <a:endParaRPr/>
          </a:p>
        </p:txBody>
      </p:sp>
      <p:sp>
        <p:nvSpPr>
          <p:cNvPr id="947266180" name="TextBox 12"/>
          <p:cNvSpPr txBox="1"/>
          <p:nvPr/>
        </p:nvSpPr>
        <p:spPr bwMode="auto">
          <a:xfrm>
            <a:off x="438912" y="1993392"/>
            <a:ext cx="5120640" cy="246888"/>
          </a:xfrm>
          <a:prstGeom prst="rect">
            <a:avLst/>
          </a:prstGeom>
          <a:noFill/>
        </p:spPr>
        <p:txBody>
          <a:bodyPr wrap="square">
            <a:spAutoFit/>
          </a:bodyPr>
          <a:lstStyle/>
          <a:p>
            <a:pPr algn="l">
              <a:defRPr/>
            </a:pPr>
            <a:r>
              <a:rPr sz="1000" b="1" i="0">
                <a:solidFill>
                  <a:srgbClr val="00B4D8"/>
                </a:solidFill>
              </a:rPr>
              <a:t>Why synthetic data was required:</a:t>
            </a:r>
            <a:endParaRPr/>
          </a:p>
        </p:txBody>
      </p:sp>
      <p:sp>
        <p:nvSpPr>
          <p:cNvPr id="243902809" name="TextBox 13"/>
          <p:cNvSpPr txBox="1"/>
          <p:nvPr/>
        </p:nvSpPr>
        <p:spPr bwMode="auto">
          <a:xfrm>
            <a:off x="438912" y="2235708"/>
            <a:ext cx="5120640" cy="246888"/>
          </a:xfrm>
          <a:prstGeom prst="rect">
            <a:avLst/>
          </a:prstGeom>
          <a:noFill/>
        </p:spPr>
        <p:txBody>
          <a:bodyPr wrap="square">
            <a:spAutoFit/>
          </a:bodyPr>
          <a:lstStyle/>
          <a:p>
            <a:pPr algn="l">
              <a:defRPr/>
            </a:pPr>
            <a:endParaRPr/>
          </a:p>
        </p:txBody>
      </p:sp>
      <p:sp>
        <p:nvSpPr>
          <p:cNvPr id="957253495" name="TextBox 14"/>
          <p:cNvSpPr txBox="1"/>
          <p:nvPr/>
        </p:nvSpPr>
        <p:spPr bwMode="auto">
          <a:xfrm>
            <a:off x="438912" y="2478024"/>
            <a:ext cx="5120640" cy="246888"/>
          </a:xfrm>
          <a:prstGeom prst="rect">
            <a:avLst/>
          </a:prstGeom>
          <a:noFill/>
        </p:spPr>
        <p:txBody>
          <a:bodyPr wrap="square">
            <a:spAutoFit/>
          </a:bodyPr>
          <a:lstStyle/>
          <a:p>
            <a:pPr algn="l">
              <a:defRPr/>
            </a:pPr>
            <a:r>
              <a:rPr sz="1000" b="0" i="0">
                <a:solidFill>
                  <a:srgbClr val="E8F4F8"/>
                </a:solidFill>
              </a:rPr>
              <a:t>  Real sonar hardware and calibrated marine sensor</a:t>
            </a:r>
            <a:endParaRPr/>
          </a:p>
        </p:txBody>
      </p:sp>
      <p:sp>
        <p:nvSpPr>
          <p:cNvPr id="415106459" name="TextBox 15"/>
          <p:cNvSpPr txBox="1"/>
          <p:nvPr/>
        </p:nvSpPr>
        <p:spPr bwMode="auto">
          <a:xfrm>
            <a:off x="438912" y="2720340"/>
            <a:ext cx="5120640" cy="246888"/>
          </a:xfrm>
          <a:prstGeom prst="rect">
            <a:avLst/>
          </a:prstGeom>
          <a:noFill/>
        </p:spPr>
        <p:txBody>
          <a:bodyPr wrap="square">
            <a:spAutoFit/>
          </a:bodyPr>
          <a:lstStyle/>
          <a:p>
            <a:pPr algn="l">
              <a:defRPr/>
            </a:pPr>
            <a:r>
              <a:rPr sz="1000" b="0" i="0">
                <a:solidFill>
                  <a:srgbClr val="E8F4F8"/>
                </a:solidFill>
              </a:rPr>
              <a:t>  arrays have not yet been deployed for this project.</a:t>
            </a:r>
            <a:endParaRPr/>
          </a:p>
        </p:txBody>
      </p:sp>
      <p:sp>
        <p:nvSpPr>
          <p:cNvPr id="63084141" name="TextBox 16"/>
          <p:cNvSpPr txBox="1"/>
          <p:nvPr/>
        </p:nvSpPr>
        <p:spPr bwMode="auto">
          <a:xfrm>
            <a:off x="438912" y="2962656"/>
            <a:ext cx="5120640" cy="246888"/>
          </a:xfrm>
          <a:prstGeom prst="rect">
            <a:avLst/>
          </a:prstGeom>
          <a:noFill/>
        </p:spPr>
        <p:txBody>
          <a:bodyPr wrap="square">
            <a:spAutoFit/>
          </a:bodyPr>
          <a:lstStyle/>
          <a:p>
            <a:pPr algn="l">
              <a:defRPr/>
            </a:pPr>
            <a:endParaRPr/>
          </a:p>
        </p:txBody>
      </p:sp>
      <p:sp>
        <p:nvSpPr>
          <p:cNvPr id="292682532" name="TextBox 17"/>
          <p:cNvSpPr txBox="1"/>
          <p:nvPr/>
        </p:nvSpPr>
        <p:spPr bwMode="auto">
          <a:xfrm>
            <a:off x="438912" y="3204972"/>
            <a:ext cx="5120640" cy="246888"/>
          </a:xfrm>
          <a:prstGeom prst="rect">
            <a:avLst/>
          </a:prstGeom>
          <a:noFill/>
        </p:spPr>
        <p:txBody>
          <a:bodyPr wrap="square">
            <a:spAutoFit/>
          </a:bodyPr>
          <a:lstStyle/>
          <a:p>
            <a:pPr algn="l">
              <a:defRPr/>
            </a:pPr>
            <a:r>
              <a:rPr sz="1000" b="0" i="0">
                <a:solidFill>
                  <a:srgbClr val="E8F4F8"/>
                </a:solidFill>
              </a:rPr>
              <a:t>  Expert-labelled field surveys take months to</a:t>
            </a:r>
            <a:endParaRPr/>
          </a:p>
        </p:txBody>
      </p:sp>
      <p:sp>
        <p:nvSpPr>
          <p:cNvPr id="1454547159" name="TextBox 18"/>
          <p:cNvSpPr txBox="1"/>
          <p:nvPr/>
        </p:nvSpPr>
        <p:spPr bwMode="auto">
          <a:xfrm>
            <a:off x="438912" y="3447288"/>
            <a:ext cx="5120640" cy="246888"/>
          </a:xfrm>
          <a:prstGeom prst="rect">
            <a:avLst/>
          </a:prstGeom>
          <a:noFill/>
        </p:spPr>
        <p:txBody>
          <a:bodyPr wrap="square">
            <a:spAutoFit/>
          </a:bodyPr>
          <a:lstStyle/>
          <a:p>
            <a:pPr algn="l">
              <a:defRPr/>
            </a:pPr>
            <a:r>
              <a:rPr sz="1000" b="0" i="0">
                <a:solidFill>
                  <a:srgbClr val="E8F4F8"/>
                </a:solidFill>
              </a:rPr>
              <a:t>  collect across four remote Indian reef regions.</a:t>
            </a:r>
            <a:endParaRPr/>
          </a:p>
        </p:txBody>
      </p:sp>
      <p:sp>
        <p:nvSpPr>
          <p:cNvPr id="415887699" name="TextBox 19"/>
          <p:cNvSpPr txBox="1"/>
          <p:nvPr/>
        </p:nvSpPr>
        <p:spPr bwMode="auto">
          <a:xfrm>
            <a:off x="438912" y="3689604"/>
            <a:ext cx="5120640" cy="246888"/>
          </a:xfrm>
          <a:prstGeom prst="rect">
            <a:avLst/>
          </a:prstGeom>
          <a:noFill/>
        </p:spPr>
        <p:txBody>
          <a:bodyPr wrap="square">
            <a:spAutoFit/>
          </a:bodyPr>
          <a:lstStyle/>
          <a:p>
            <a:pPr algn="l">
              <a:defRPr/>
            </a:pPr>
            <a:endParaRPr/>
          </a:p>
        </p:txBody>
      </p:sp>
      <p:sp>
        <p:nvSpPr>
          <p:cNvPr id="1136925815" name="TextBox 20"/>
          <p:cNvSpPr txBox="1"/>
          <p:nvPr/>
        </p:nvSpPr>
        <p:spPr bwMode="auto">
          <a:xfrm>
            <a:off x="438912" y="3931920"/>
            <a:ext cx="5120640" cy="246888"/>
          </a:xfrm>
          <a:prstGeom prst="rect">
            <a:avLst/>
          </a:prstGeom>
          <a:noFill/>
        </p:spPr>
        <p:txBody>
          <a:bodyPr wrap="square">
            <a:spAutoFit/>
          </a:bodyPr>
          <a:lstStyle/>
          <a:p>
            <a:pPr algn="l">
              <a:defRPr/>
            </a:pPr>
            <a:r>
              <a:rPr sz="1000" b="0" i="0">
                <a:solidFill>
                  <a:srgbClr val="E8F4F8"/>
                </a:solidFill>
              </a:rPr>
              <a:t>  Synthetic data lets the full MLOps pipeline be</a:t>
            </a:r>
            <a:endParaRPr/>
          </a:p>
        </p:txBody>
      </p:sp>
      <p:sp>
        <p:nvSpPr>
          <p:cNvPr id="1296547430" name="TextBox 21"/>
          <p:cNvSpPr txBox="1"/>
          <p:nvPr/>
        </p:nvSpPr>
        <p:spPr bwMode="auto">
          <a:xfrm>
            <a:off x="438912" y="4174235"/>
            <a:ext cx="5120640" cy="246888"/>
          </a:xfrm>
          <a:prstGeom prst="rect">
            <a:avLst/>
          </a:prstGeom>
          <a:noFill/>
        </p:spPr>
        <p:txBody>
          <a:bodyPr wrap="square">
            <a:spAutoFit/>
          </a:bodyPr>
          <a:lstStyle/>
          <a:p>
            <a:pPr algn="l">
              <a:defRPr/>
            </a:pPr>
            <a:r>
              <a:rPr sz="1000" b="0" i="0">
                <a:solidFill>
                  <a:srgbClr val="E8F4F8"/>
                </a:solidFill>
              </a:rPr>
              <a:t>  built, tested, and validated before physical</a:t>
            </a:r>
            <a:endParaRPr/>
          </a:p>
        </p:txBody>
      </p:sp>
      <p:sp>
        <p:nvSpPr>
          <p:cNvPr id="2034152700" name="TextBox 22"/>
          <p:cNvSpPr txBox="1"/>
          <p:nvPr/>
        </p:nvSpPr>
        <p:spPr bwMode="auto">
          <a:xfrm>
            <a:off x="438912" y="4416552"/>
            <a:ext cx="5120640" cy="246888"/>
          </a:xfrm>
          <a:prstGeom prst="rect">
            <a:avLst/>
          </a:prstGeom>
          <a:noFill/>
        </p:spPr>
        <p:txBody>
          <a:bodyPr wrap="square">
            <a:spAutoFit/>
          </a:bodyPr>
          <a:lstStyle/>
          <a:p>
            <a:pPr algn="l">
              <a:defRPr/>
            </a:pPr>
            <a:r>
              <a:rPr sz="1000" b="0" i="0">
                <a:solidFill>
                  <a:srgbClr val="E8F4F8"/>
                </a:solidFill>
              </a:rPr>
              <a:t>  hardware is available.</a:t>
            </a:r>
            <a:endParaRPr/>
          </a:p>
        </p:txBody>
      </p:sp>
      <p:sp>
        <p:nvSpPr>
          <p:cNvPr id="2089779985" name="TextBox 23"/>
          <p:cNvSpPr txBox="1"/>
          <p:nvPr/>
        </p:nvSpPr>
        <p:spPr bwMode="auto">
          <a:xfrm>
            <a:off x="438912" y="4658868"/>
            <a:ext cx="5120640" cy="246888"/>
          </a:xfrm>
          <a:prstGeom prst="rect">
            <a:avLst/>
          </a:prstGeom>
          <a:noFill/>
        </p:spPr>
        <p:txBody>
          <a:bodyPr wrap="square">
            <a:spAutoFit/>
          </a:bodyPr>
          <a:lstStyle/>
          <a:p>
            <a:pPr algn="l">
              <a:defRPr/>
            </a:pPr>
            <a:endParaRPr/>
          </a:p>
        </p:txBody>
      </p:sp>
      <p:sp>
        <p:nvSpPr>
          <p:cNvPr id="1639315241" name="TextBox 24"/>
          <p:cNvSpPr txBox="1"/>
          <p:nvPr/>
        </p:nvSpPr>
        <p:spPr bwMode="auto">
          <a:xfrm>
            <a:off x="438912" y="4901183"/>
            <a:ext cx="5120640" cy="246888"/>
          </a:xfrm>
          <a:prstGeom prst="rect">
            <a:avLst/>
          </a:prstGeom>
          <a:noFill/>
        </p:spPr>
        <p:txBody>
          <a:bodyPr wrap="square">
            <a:spAutoFit/>
          </a:bodyPr>
          <a:lstStyle/>
          <a:p>
            <a:pPr algn="l">
              <a:defRPr/>
            </a:pPr>
            <a:r>
              <a:rPr sz="1000" b="1" i="0">
                <a:solidFill>
                  <a:srgbClr val="00B4D8"/>
                </a:solidFill>
              </a:rPr>
              <a:t>How it was generated:</a:t>
            </a:r>
            <a:endParaRPr/>
          </a:p>
        </p:txBody>
      </p:sp>
      <p:sp>
        <p:nvSpPr>
          <p:cNvPr id="1959380784" name="TextBox 25"/>
          <p:cNvSpPr txBox="1"/>
          <p:nvPr/>
        </p:nvSpPr>
        <p:spPr bwMode="auto">
          <a:xfrm>
            <a:off x="438912" y="5143499"/>
            <a:ext cx="5120640" cy="246888"/>
          </a:xfrm>
          <a:prstGeom prst="rect">
            <a:avLst/>
          </a:prstGeom>
          <a:noFill/>
        </p:spPr>
        <p:txBody>
          <a:bodyPr wrap="square">
            <a:spAutoFit/>
          </a:bodyPr>
          <a:lstStyle/>
          <a:p>
            <a:pPr algn="l">
              <a:defRPr/>
            </a:pPr>
            <a:r>
              <a:rPr sz="1000" b="0" i="0">
                <a:solidFill>
                  <a:srgbClr val="E8F4F8"/>
                </a:solidFill>
              </a:rPr>
              <a:t>  15,000 observations generated by src/data/generate_data.py</a:t>
            </a:r>
            <a:endParaRPr/>
          </a:p>
        </p:txBody>
      </p:sp>
      <p:sp>
        <p:nvSpPr>
          <p:cNvPr id="1515147907" name="TextBox 26"/>
          <p:cNvSpPr txBox="1"/>
          <p:nvPr/>
        </p:nvSpPr>
        <p:spPr bwMode="auto">
          <a:xfrm>
            <a:off x="438912" y="5385815"/>
            <a:ext cx="5120640" cy="246888"/>
          </a:xfrm>
          <a:prstGeom prst="rect">
            <a:avLst/>
          </a:prstGeom>
          <a:noFill/>
        </p:spPr>
        <p:txBody>
          <a:bodyPr wrap="square">
            <a:spAutoFit/>
          </a:bodyPr>
          <a:lstStyle/>
          <a:p>
            <a:pPr algn="l">
              <a:defRPr/>
            </a:pPr>
            <a:r>
              <a:rPr sz="1000" b="0" i="0">
                <a:solidFill>
                  <a:srgbClr val="E8F4F8"/>
                </a:solidFill>
              </a:rPr>
              <a:t>  Statistical rules from published Indian reef literature</a:t>
            </a:r>
            <a:endParaRPr/>
          </a:p>
        </p:txBody>
      </p:sp>
      <p:sp>
        <p:nvSpPr>
          <p:cNvPr id="1346870861" name="TextBox 27"/>
          <p:cNvSpPr txBox="1"/>
          <p:nvPr/>
        </p:nvSpPr>
        <p:spPr bwMode="auto">
          <a:xfrm>
            <a:off x="438912" y="5628131"/>
            <a:ext cx="5120640" cy="246888"/>
          </a:xfrm>
          <a:prstGeom prst="rect">
            <a:avLst/>
          </a:prstGeom>
          <a:noFill/>
        </p:spPr>
        <p:txBody>
          <a:bodyPr wrap="square">
            <a:spAutoFit/>
          </a:bodyPr>
          <a:lstStyle/>
          <a:p>
            <a:pPr algn="l">
              <a:defRPr/>
            </a:pPr>
            <a:r>
              <a:rPr sz="1000" b="0" i="0">
                <a:solidFill>
                  <a:srgbClr val="E8F4F8"/>
                </a:solidFill>
              </a:rPr>
              <a:t>  (Hughes et al. 2017; Venkataraman et al. 2011)</a:t>
            </a:r>
            <a:endParaRPr/>
          </a:p>
        </p:txBody>
      </p:sp>
      <p:sp>
        <p:nvSpPr>
          <p:cNvPr id="1214460218" name="TextBox 28"/>
          <p:cNvSpPr txBox="1"/>
          <p:nvPr/>
        </p:nvSpPr>
        <p:spPr bwMode="auto">
          <a:xfrm>
            <a:off x="438912" y="5870447"/>
            <a:ext cx="5120640" cy="246888"/>
          </a:xfrm>
          <a:prstGeom prst="rect">
            <a:avLst/>
          </a:prstGeom>
          <a:noFill/>
        </p:spPr>
        <p:txBody>
          <a:bodyPr wrap="square">
            <a:spAutoFit/>
          </a:bodyPr>
          <a:lstStyle/>
          <a:p>
            <a:pPr algn="l">
              <a:defRPr/>
            </a:pPr>
            <a:r>
              <a:rPr sz="1000" b="0" i="0">
                <a:solidFill>
                  <a:srgbClr val="E8F4F8"/>
                </a:solidFill>
              </a:rPr>
              <a:t>  Gaussian noise (scale=0.15) prevents perfect separability</a:t>
            </a:r>
            <a:endParaRPr/>
          </a:p>
        </p:txBody>
      </p:sp>
      <p:sp>
        <p:nvSpPr>
          <p:cNvPr id="86548404" name="TextBox 29"/>
          <p:cNvSpPr txBox="1"/>
          <p:nvPr/>
        </p:nvSpPr>
        <p:spPr bwMode="auto">
          <a:xfrm>
            <a:off x="438912" y="6112763"/>
            <a:ext cx="5120640" cy="246888"/>
          </a:xfrm>
          <a:prstGeom prst="rect">
            <a:avLst/>
          </a:prstGeom>
          <a:noFill/>
        </p:spPr>
        <p:txBody>
          <a:bodyPr wrap="square">
            <a:spAutoFit/>
          </a:bodyPr>
          <a:lstStyle/>
          <a:p>
            <a:pPr algn="l">
              <a:defRPr/>
            </a:pPr>
            <a:r>
              <a:rPr sz="1000" b="0" i="0">
                <a:solidFill>
                  <a:srgbClr val="E8F4F8"/>
                </a:solidFill>
              </a:rPr>
              <a:t>  Fixed random seed 42 — fully reproducible</a:t>
            </a:r>
            <a:endParaRPr/>
          </a:p>
        </p:txBody>
      </p:sp>
      <p:sp>
        <p:nvSpPr>
          <p:cNvPr id="2044891206" name="Rectangle 30"/>
          <p:cNvSpPr/>
          <p:nvPr/>
        </p:nvSpPr>
        <p:spPr bwMode="auto">
          <a:xfrm>
            <a:off x="5989320" y="1188720"/>
            <a:ext cx="5897880" cy="5120640"/>
          </a:xfrm>
          <a:prstGeom prst="rect">
            <a:avLst/>
          </a:prstGeom>
          <a:solidFill>
            <a:srgbClr val="122A4A"/>
          </a:solidFill>
          <a:ln w="1270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804777" name="TextBox 31"/>
          <p:cNvSpPr txBox="1"/>
          <p:nvPr/>
        </p:nvSpPr>
        <p:spPr bwMode="auto">
          <a:xfrm>
            <a:off x="6172200" y="1261872"/>
            <a:ext cx="5577840" cy="384048"/>
          </a:xfrm>
          <a:prstGeom prst="rect">
            <a:avLst/>
          </a:prstGeom>
          <a:noFill/>
        </p:spPr>
        <p:txBody>
          <a:bodyPr wrap="square">
            <a:spAutoFit/>
          </a:bodyPr>
          <a:lstStyle/>
          <a:p>
            <a:pPr algn="l">
              <a:defRPr/>
            </a:pPr>
            <a:r>
              <a:rPr sz="1300" b="1" i="0">
                <a:solidFill>
                  <a:srgbClr val="1B8A8F"/>
                </a:solidFill>
              </a:rPr>
              <a:t>Proposed Future: Real Field Collection</a:t>
            </a:r>
            <a:endParaRPr/>
          </a:p>
        </p:txBody>
      </p:sp>
      <p:sp>
        <p:nvSpPr>
          <p:cNvPr id="1435758232" name="TextBox 32"/>
          <p:cNvSpPr txBox="1"/>
          <p:nvPr/>
        </p:nvSpPr>
        <p:spPr bwMode="auto">
          <a:xfrm>
            <a:off x="6153912" y="1691640"/>
            <a:ext cx="5577840" cy="274320"/>
          </a:xfrm>
          <a:prstGeom prst="rect">
            <a:avLst/>
          </a:prstGeom>
          <a:noFill/>
        </p:spPr>
        <p:txBody>
          <a:bodyPr wrap="square">
            <a:spAutoFit/>
          </a:bodyPr>
          <a:lstStyle/>
          <a:p>
            <a:pPr algn="l">
              <a:defRPr/>
            </a:pPr>
            <a:r>
              <a:rPr sz="1100" b="1" i="0">
                <a:solidFill>
                  <a:srgbClr val="00B4D8"/>
                </a:solidFill>
              </a:rPr>
              <a:t>Acoustic Surveys</a:t>
            </a:r>
            <a:endParaRPr/>
          </a:p>
        </p:txBody>
      </p:sp>
      <p:sp>
        <p:nvSpPr>
          <p:cNvPr id="539697065" name="TextBox 33"/>
          <p:cNvSpPr txBox="1"/>
          <p:nvPr/>
        </p:nvSpPr>
        <p:spPr bwMode="auto">
          <a:xfrm>
            <a:off x="6309360" y="1984248"/>
            <a:ext cx="5394960" cy="237744"/>
          </a:xfrm>
          <a:prstGeom prst="rect">
            <a:avLst/>
          </a:prstGeom>
          <a:noFill/>
        </p:spPr>
        <p:txBody>
          <a:bodyPr wrap="square">
            <a:spAutoFit/>
          </a:bodyPr>
          <a:lstStyle/>
          <a:p>
            <a:pPr algn="l">
              <a:defRPr/>
            </a:pPr>
            <a:r>
              <a:rPr sz="1000" b="0" i="0">
                <a:solidFill>
                  <a:srgbClr val="E8F4F8"/>
                </a:solidFill>
              </a:rPr>
              <a:t>Multi-beam sonar deployed from survey vessels</a:t>
            </a:r>
            <a:endParaRPr/>
          </a:p>
        </p:txBody>
      </p:sp>
      <p:sp>
        <p:nvSpPr>
          <p:cNvPr id="228001842" name="TextBox 34"/>
          <p:cNvSpPr txBox="1"/>
          <p:nvPr/>
        </p:nvSpPr>
        <p:spPr bwMode="auto">
          <a:xfrm>
            <a:off x="6309360" y="2217420"/>
            <a:ext cx="5394960" cy="237744"/>
          </a:xfrm>
          <a:prstGeom prst="rect">
            <a:avLst/>
          </a:prstGeom>
          <a:noFill/>
        </p:spPr>
        <p:txBody>
          <a:bodyPr wrap="square">
            <a:spAutoFit/>
          </a:bodyPr>
          <a:lstStyle/>
          <a:p>
            <a:pPr algn="l">
              <a:defRPr/>
            </a:pPr>
            <a:r>
              <a:rPr sz="1000" b="0" i="0">
                <a:solidFill>
                  <a:srgbClr val="E8F4F8"/>
                </a:solidFill>
              </a:rPr>
              <a:t>Measures bathymetric rugosity and backscatter</a:t>
            </a:r>
            <a:endParaRPr/>
          </a:p>
        </p:txBody>
      </p:sp>
      <p:sp>
        <p:nvSpPr>
          <p:cNvPr id="2036845868" name="TextBox 35"/>
          <p:cNvSpPr txBox="1"/>
          <p:nvPr/>
        </p:nvSpPr>
        <p:spPr bwMode="auto">
          <a:xfrm>
            <a:off x="6309360" y="2450591"/>
            <a:ext cx="5394960" cy="237744"/>
          </a:xfrm>
          <a:prstGeom prst="rect">
            <a:avLst/>
          </a:prstGeom>
          <a:noFill/>
        </p:spPr>
        <p:txBody>
          <a:bodyPr wrap="square">
            <a:spAutoFit/>
          </a:bodyPr>
          <a:lstStyle/>
          <a:p>
            <a:pPr algn="l">
              <a:defRPr/>
            </a:pPr>
            <a:r>
              <a:rPr sz="1000" b="0" i="0">
                <a:solidFill>
                  <a:srgbClr val="E8F4F8"/>
                </a:solidFill>
              </a:rPr>
              <a:t>Autonomous Underwater Vehicles (AUVs) for</a:t>
            </a:r>
            <a:endParaRPr/>
          </a:p>
        </p:txBody>
      </p:sp>
      <p:sp>
        <p:nvSpPr>
          <p:cNvPr id="1587525047" name="TextBox 36"/>
          <p:cNvSpPr txBox="1"/>
          <p:nvPr/>
        </p:nvSpPr>
        <p:spPr bwMode="auto">
          <a:xfrm>
            <a:off x="6309360" y="2683763"/>
            <a:ext cx="5394960" cy="237744"/>
          </a:xfrm>
          <a:prstGeom prst="rect">
            <a:avLst/>
          </a:prstGeom>
          <a:noFill/>
        </p:spPr>
        <p:txBody>
          <a:bodyPr wrap="square">
            <a:spAutoFit/>
          </a:bodyPr>
          <a:lstStyle/>
          <a:p>
            <a:pPr algn="l">
              <a:defRPr/>
            </a:pPr>
            <a:r>
              <a:rPr sz="1000" b="0" i="0">
                <a:solidFill>
                  <a:srgbClr val="E8F4F8"/>
                </a:solidFill>
              </a:rPr>
              <a:t>deep transects and consistent coverage</a:t>
            </a:r>
            <a:endParaRPr/>
          </a:p>
        </p:txBody>
      </p:sp>
      <p:sp>
        <p:nvSpPr>
          <p:cNvPr id="647503689" name="TextBox 37"/>
          <p:cNvSpPr txBox="1"/>
          <p:nvPr/>
        </p:nvSpPr>
        <p:spPr bwMode="auto">
          <a:xfrm>
            <a:off x="6153912" y="3026663"/>
            <a:ext cx="5577840" cy="274320"/>
          </a:xfrm>
          <a:prstGeom prst="rect">
            <a:avLst/>
          </a:prstGeom>
          <a:noFill/>
        </p:spPr>
        <p:txBody>
          <a:bodyPr wrap="square">
            <a:spAutoFit/>
          </a:bodyPr>
          <a:lstStyle/>
          <a:p>
            <a:pPr algn="l">
              <a:defRPr/>
            </a:pPr>
            <a:r>
              <a:rPr sz="1100" b="1" i="0">
                <a:solidFill>
                  <a:srgbClr val="1B8A8F"/>
                </a:solidFill>
              </a:rPr>
              <a:t>Environmental Sensors</a:t>
            </a:r>
            <a:endParaRPr/>
          </a:p>
        </p:txBody>
      </p:sp>
      <p:sp>
        <p:nvSpPr>
          <p:cNvPr id="1621635910" name="TextBox 38"/>
          <p:cNvSpPr txBox="1"/>
          <p:nvPr/>
        </p:nvSpPr>
        <p:spPr bwMode="auto">
          <a:xfrm>
            <a:off x="6309360" y="3319271"/>
            <a:ext cx="5394960" cy="237744"/>
          </a:xfrm>
          <a:prstGeom prst="rect">
            <a:avLst/>
          </a:prstGeom>
          <a:noFill/>
        </p:spPr>
        <p:txBody>
          <a:bodyPr wrap="square">
            <a:spAutoFit/>
          </a:bodyPr>
          <a:lstStyle/>
          <a:p>
            <a:pPr algn="l">
              <a:defRPr/>
            </a:pPr>
            <a:r>
              <a:rPr sz="1000" b="0" i="0">
                <a:solidFill>
                  <a:srgbClr val="E8F4F8"/>
                </a:solidFill>
              </a:rPr>
              <a:t>Fixed buoy arrays for temperature, pH,</a:t>
            </a:r>
            <a:endParaRPr/>
          </a:p>
        </p:txBody>
      </p:sp>
      <p:sp>
        <p:nvSpPr>
          <p:cNvPr id="7452197" name="TextBox 39"/>
          <p:cNvSpPr txBox="1"/>
          <p:nvPr/>
        </p:nvSpPr>
        <p:spPr bwMode="auto">
          <a:xfrm>
            <a:off x="6309360" y="3552443"/>
            <a:ext cx="5394960" cy="237744"/>
          </a:xfrm>
          <a:prstGeom prst="rect">
            <a:avLst/>
          </a:prstGeom>
          <a:noFill/>
        </p:spPr>
        <p:txBody>
          <a:bodyPr wrap="square">
            <a:spAutoFit/>
          </a:bodyPr>
          <a:lstStyle/>
          <a:p>
            <a:pPr algn="l">
              <a:defRPr/>
            </a:pPr>
            <a:r>
              <a:rPr sz="1000" b="0" i="0">
                <a:solidFill>
                  <a:srgbClr val="E8F4F8"/>
                </a:solidFill>
              </a:rPr>
              <a:t>dissolved oxygen, turbidity, salinity</a:t>
            </a:r>
            <a:endParaRPr/>
          </a:p>
        </p:txBody>
      </p:sp>
      <p:sp>
        <p:nvSpPr>
          <p:cNvPr id="1156801164" name="TextBox 40"/>
          <p:cNvSpPr txBox="1"/>
          <p:nvPr/>
        </p:nvSpPr>
        <p:spPr bwMode="auto">
          <a:xfrm>
            <a:off x="6309360" y="3785615"/>
            <a:ext cx="5394960" cy="237744"/>
          </a:xfrm>
          <a:prstGeom prst="rect">
            <a:avLst/>
          </a:prstGeom>
          <a:noFill/>
        </p:spPr>
        <p:txBody>
          <a:bodyPr wrap="square">
            <a:spAutoFit/>
          </a:bodyPr>
          <a:lstStyle/>
          <a:p>
            <a:pPr algn="l">
              <a:defRPr/>
            </a:pPr>
            <a:r>
              <a:rPr sz="1000" b="0" i="0">
                <a:solidFill>
                  <a:srgbClr val="E8F4F8"/>
                </a:solidFill>
              </a:rPr>
              <a:t>Remotely Operated Vehicles (ROVs) for</a:t>
            </a:r>
            <a:endParaRPr/>
          </a:p>
        </p:txBody>
      </p:sp>
      <p:sp>
        <p:nvSpPr>
          <p:cNvPr id="968330862" name="TextBox 41"/>
          <p:cNvSpPr txBox="1"/>
          <p:nvPr/>
        </p:nvSpPr>
        <p:spPr bwMode="auto">
          <a:xfrm>
            <a:off x="6309360" y="4018787"/>
            <a:ext cx="5394960" cy="237744"/>
          </a:xfrm>
          <a:prstGeom prst="rect">
            <a:avLst/>
          </a:prstGeom>
          <a:noFill/>
        </p:spPr>
        <p:txBody>
          <a:bodyPr wrap="square">
            <a:spAutoFit/>
          </a:bodyPr>
          <a:lstStyle/>
          <a:p>
            <a:pPr algn="l">
              <a:defRPr/>
            </a:pPr>
            <a:r>
              <a:rPr sz="1000" b="0" i="0">
                <a:solidFill>
                  <a:srgbClr val="E8F4F8"/>
                </a:solidFill>
              </a:rPr>
              <a:t>depth-stratified profiles</a:t>
            </a:r>
            <a:endParaRPr/>
          </a:p>
        </p:txBody>
      </p:sp>
      <p:sp>
        <p:nvSpPr>
          <p:cNvPr id="814182443" name="TextBox 42"/>
          <p:cNvSpPr txBox="1"/>
          <p:nvPr/>
        </p:nvSpPr>
        <p:spPr bwMode="auto">
          <a:xfrm>
            <a:off x="6153912" y="4361688"/>
            <a:ext cx="5577840" cy="274320"/>
          </a:xfrm>
          <a:prstGeom prst="rect">
            <a:avLst/>
          </a:prstGeom>
          <a:noFill/>
        </p:spPr>
        <p:txBody>
          <a:bodyPr wrap="square">
            <a:spAutoFit/>
          </a:bodyPr>
          <a:lstStyle/>
          <a:p>
            <a:pPr algn="l">
              <a:defRPr/>
            </a:pPr>
            <a:r>
              <a:rPr sz="1100" b="1" i="0">
                <a:solidFill>
                  <a:srgbClr val="2EC4B6"/>
                </a:solidFill>
              </a:rPr>
              <a:t>Biological Surveys</a:t>
            </a:r>
            <a:endParaRPr/>
          </a:p>
        </p:txBody>
      </p:sp>
      <p:sp>
        <p:nvSpPr>
          <p:cNvPr id="1011242577" name="TextBox 43"/>
          <p:cNvSpPr txBox="1"/>
          <p:nvPr/>
        </p:nvSpPr>
        <p:spPr bwMode="auto">
          <a:xfrm>
            <a:off x="6309360" y="4654296"/>
            <a:ext cx="5394960" cy="237744"/>
          </a:xfrm>
          <a:prstGeom prst="rect">
            <a:avLst/>
          </a:prstGeom>
          <a:noFill/>
        </p:spPr>
        <p:txBody>
          <a:bodyPr wrap="square">
            <a:spAutoFit/>
          </a:bodyPr>
          <a:lstStyle/>
          <a:p>
            <a:pPr algn="l">
              <a:defRPr/>
            </a:pPr>
            <a:r>
              <a:rPr sz="1000" b="0" i="0">
                <a:solidFill>
                  <a:srgbClr val="E8F4F8"/>
                </a:solidFill>
              </a:rPr>
              <a:t>Expert diver transects for coral cover,</a:t>
            </a:r>
            <a:endParaRPr/>
          </a:p>
        </p:txBody>
      </p:sp>
      <p:sp>
        <p:nvSpPr>
          <p:cNvPr id="1436513174" name="TextBox 44"/>
          <p:cNvSpPr txBox="1"/>
          <p:nvPr/>
        </p:nvSpPr>
        <p:spPr bwMode="auto">
          <a:xfrm>
            <a:off x="6309360" y="4887468"/>
            <a:ext cx="5394960" cy="237744"/>
          </a:xfrm>
          <a:prstGeom prst="rect">
            <a:avLst/>
          </a:prstGeom>
          <a:noFill/>
        </p:spPr>
        <p:txBody>
          <a:bodyPr wrap="square">
            <a:spAutoFit/>
          </a:bodyPr>
          <a:lstStyle/>
          <a:p>
            <a:pPr algn="l">
              <a:defRPr/>
            </a:pPr>
            <a:r>
              <a:rPr sz="1000" b="0" i="0">
                <a:solidFill>
                  <a:srgbClr val="E8F4F8"/>
                </a:solidFill>
              </a:rPr>
              <a:t>bleaching extent, and disease prevalence</a:t>
            </a:r>
            <a:endParaRPr/>
          </a:p>
        </p:txBody>
      </p:sp>
      <p:sp>
        <p:nvSpPr>
          <p:cNvPr id="484389670" name="TextBox 45"/>
          <p:cNvSpPr txBox="1"/>
          <p:nvPr/>
        </p:nvSpPr>
        <p:spPr bwMode="auto">
          <a:xfrm>
            <a:off x="6309360" y="5120640"/>
            <a:ext cx="5394960" cy="237744"/>
          </a:xfrm>
          <a:prstGeom prst="rect">
            <a:avLst/>
          </a:prstGeom>
          <a:noFill/>
        </p:spPr>
        <p:txBody>
          <a:bodyPr wrap="square">
            <a:spAutoFit/>
          </a:bodyPr>
          <a:lstStyle/>
          <a:p>
            <a:pPr algn="l">
              <a:defRPr/>
            </a:pPr>
            <a:r>
              <a:rPr sz="1000" b="0" i="0">
                <a:solidFill>
                  <a:srgbClr val="E8F4F8"/>
                </a:solidFill>
              </a:rPr>
              <a:t>Photographic and video records for</a:t>
            </a:r>
            <a:endParaRPr/>
          </a:p>
        </p:txBody>
      </p:sp>
      <p:sp>
        <p:nvSpPr>
          <p:cNvPr id="1818968454" name="TextBox 46"/>
          <p:cNvSpPr txBox="1"/>
          <p:nvPr/>
        </p:nvSpPr>
        <p:spPr bwMode="auto">
          <a:xfrm>
            <a:off x="6309360" y="5353812"/>
            <a:ext cx="5394960" cy="237744"/>
          </a:xfrm>
          <a:prstGeom prst="rect">
            <a:avLst/>
          </a:prstGeom>
          <a:noFill/>
        </p:spPr>
        <p:txBody>
          <a:bodyPr wrap="square">
            <a:spAutoFit/>
          </a:bodyPr>
          <a:lstStyle/>
          <a:p>
            <a:pPr algn="l">
              <a:defRPr/>
            </a:pPr>
            <a:r>
              <a:rPr sz="1000" b="0" i="0">
                <a:solidFill>
                  <a:srgbClr val="E8F4F8"/>
                </a:solidFill>
              </a:rPr>
              <a:t>systematic label assignment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122294824"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705944"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Data Sources and Feature Groups</a:t>
            </a:r>
            <a:endParaRPr/>
          </a:p>
        </p:txBody>
      </p:sp>
      <p:sp>
        <p:nvSpPr>
          <p:cNvPr id="1721862857"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21 columns across five categories — synthetic prototype</a:t>
            </a:r>
            <a:endParaRPr/>
          </a:p>
        </p:txBody>
      </p:sp>
      <p:sp>
        <p:nvSpPr>
          <p:cNvPr id="1106543193"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011797"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5086515"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898553195"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4</a:t>
            </a:r>
            <a:endParaRPr/>
          </a:p>
        </p:txBody>
      </p:sp>
      <p:sp>
        <p:nvSpPr>
          <p:cNvPr id="473200173" name="Rectangle 8"/>
          <p:cNvSpPr/>
          <p:nvPr/>
        </p:nvSpPr>
        <p:spPr bwMode="auto">
          <a:xfrm>
            <a:off x="256032" y="1143000"/>
            <a:ext cx="2240280" cy="5138928"/>
          </a:xfrm>
          <a:prstGeom prst="rect">
            <a:avLst/>
          </a:prstGeom>
          <a:solidFill>
            <a:srgbClr val="122A4A"/>
          </a:solidFill>
          <a:ln w="15240">
            <a:solidFill>
              <a:srgbClr val="8AB4C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6818352" name="Rectangle 9"/>
          <p:cNvSpPr/>
          <p:nvPr/>
        </p:nvSpPr>
        <p:spPr bwMode="auto">
          <a:xfrm>
            <a:off x="256032" y="1143000"/>
            <a:ext cx="2240280" cy="384048"/>
          </a:xfrm>
          <a:prstGeom prst="rect">
            <a:avLst/>
          </a:prstGeom>
          <a:solidFill>
            <a:srgbClr val="8AB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4447748" name="TextBox 10"/>
          <p:cNvSpPr txBox="1"/>
          <p:nvPr/>
        </p:nvSpPr>
        <p:spPr bwMode="auto">
          <a:xfrm>
            <a:off x="310896" y="1161288"/>
            <a:ext cx="2167128" cy="347472"/>
          </a:xfrm>
          <a:prstGeom prst="rect">
            <a:avLst/>
          </a:prstGeom>
          <a:noFill/>
        </p:spPr>
        <p:txBody>
          <a:bodyPr wrap="square">
            <a:spAutoFit/>
          </a:bodyPr>
          <a:lstStyle/>
          <a:p>
            <a:pPr algn="ctr">
              <a:defRPr/>
            </a:pPr>
            <a:r>
              <a:rPr sz="950" b="1" i="0">
                <a:solidFill>
                  <a:srgbClr val="081224"/>
                </a:solidFill>
              </a:rPr>
              <a:t>Geographic &amp; Observation Metadata</a:t>
            </a:r>
            <a:endParaRPr/>
          </a:p>
        </p:txBody>
      </p:sp>
      <p:sp>
        <p:nvSpPr>
          <p:cNvPr id="1188243924" name="TextBox 11"/>
          <p:cNvSpPr txBox="1"/>
          <p:nvPr/>
        </p:nvSpPr>
        <p:spPr bwMode="auto">
          <a:xfrm>
            <a:off x="347472" y="1618488"/>
            <a:ext cx="2093976" cy="292608"/>
          </a:xfrm>
          <a:prstGeom prst="rect">
            <a:avLst/>
          </a:prstGeom>
          <a:noFill/>
        </p:spPr>
        <p:txBody>
          <a:bodyPr wrap="square">
            <a:spAutoFit/>
          </a:bodyPr>
          <a:lstStyle/>
          <a:p>
            <a:pPr algn="l">
              <a:defRPr/>
            </a:pPr>
            <a:r>
              <a:rPr sz="950" b="0" i="0">
                <a:solidFill>
                  <a:srgbClr val="E8F4F8"/>
                </a:solidFill>
              </a:rPr>
              <a:t>timestamp</a:t>
            </a:r>
            <a:endParaRPr/>
          </a:p>
        </p:txBody>
      </p:sp>
      <p:sp>
        <p:nvSpPr>
          <p:cNvPr id="1742942199" name="TextBox 12"/>
          <p:cNvSpPr txBox="1"/>
          <p:nvPr/>
        </p:nvSpPr>
        <p:spPr bwMode="auto">
          <a:xfrm>
            <a:off x="347472" y="1920240"/>
            <a:ext cx="2093976" cy="292608"/>
          </a:xfrm>
          <a:prstGeom prst="rect">
            <a:avLst/>
          </a:prstGeom>
          <a:noFill/>
        </p:spPr>
        <p:txBody>
          <a:bodyPr wrap="square">
            <a:spAutoFit/>
          </a:bodyPr>
          <a:lstStyle/>
          <a:p>
            <a:pPr algn="l">
              <a:defRPr/>
            </a:pPr>
            <a:r>
              <a:rPr sz="950" b="0" i="0">
                <a:solidFill>
                  <a:srgbClr val="E8F4F8"/>
                </a:solidFill>
              </a:rPr>
              <a:t>latitude</a:t>
            </a:r>
            <a:endParaRPr/>
          </a:p>
        </p:txBody>
      </p:sp>
      <p:sp>
        <p:nvSpPr>
          <p:cNvPr id="829663975" name="TextBox 13"/>
          <p:cNvSpPr txBox="1"/>
          <p:nvPr/>
        </p:nvSpPr>
        <p:spPr bwMode="auto">
          <a:xfrm>
            <a:off x="347472" y="2221992"/>
            <a:ext cx="2093976" cy="292608"/>
          </a:xfrm>
          <a:prstGeom prst="rect">
            <a:avLst/>
          </a:prstGeom>
          <a:noFill/>
        </p:spPr>
        <p:txBody>
          <a:bodyPr wrap="square">
            <a:spAutoFit/>
          </a:bodyPr>
          <a:lstStyle/>
          <a:p>
            <a:pPr algn="l">
              <a:defRPr/>
            </a:pPr>
            <a:r>
              <a:rPr sz="950" b="0" i="0">
                <a:solidFill>
                  <a:srgbClr val="E8F4F8"/>
                </a:solidFill>
              </a:rPr>
              <a:t>longitude</a:t>
            </a:r>
            <a:endParaRPr/>
          </a:p>
        </p:txBody>
      </p:sp>
      <p:sp>
        <p:nvSpPr>
          <p:cNvPr id="2048204296" name="TextBox 14"/>
          <p:cNvSpPr txBox="1"/>
          <p:nvPr/>
        </p:nvSpPr>
        <p:spPr bwMode="auto">
          <a:xfrm>
            <a:off x="347472" y="2523744"/>
            <a:ext cx="2093976" cy="292608"/>
          </a:xfrm>
          <a:prstGeom prst="rect">
            <a:avLst/>
          </a:prstGeom>
          <a:noFill/>
        </p:spPr>
        <p:txBody>
          <a:bodyPr wrap="square">
            <a:spAutoFit/>
          </a:bodyPr>
          <a:lstStyle/>
          <a:p>
            <a:pPr algn="l">
              <a:defRPr/>
            </a:pPr>
            <a:r>
              <a:rPr sz="950" b="0" i="0">
                <a:solidFill>
                  <a:srgbClr val="E8F4F8"/>
                </a:solidFill>
              </a:rPr>
              <a:t>region</a:t>
            </a:r>
            <a:endParaRPr/>
          </a:p>
        </p:txBody>
      </p:sp>
      <p:sp>
        <p:nvSpPr>
          <p:cNvPr id="937871397" name="Rectangle 15"/>
          <p:cNvSpPr/>
          <p:nvPr/>
        </p:nvSpPr>
        <p:spPr bwMode="auto">
          <a:xfrm>
            <a:off x="310896" y="5806440"/>
            <a:ext cx="2130552" cy="402336"/>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2450544" name="TextBox 16"/>
          <p:cNvSpPr txBox="1"/>
          <p:nvPr/>
        </p:nvSpPr>
        <p:spPr bwMode="auto">
          <a:xfrm>
            <a:off x="329184" y="5824728"/>
            <a:ext cx="2112264" cy="384048"/>
          </a:xfrm>
          <a:prstGeom prst="rect">
            <a:avLst/>
          </a:prstGeom>
          <a:noFill/>
        </p:spPr>
        <p:txBody>
          <a:bodyPr wrap="square">
            <a:spAutoFit/>
          </a:bodyPr>
          <a:lstStyle/>
          <a:p>
            <a:pPr algn="l">
              <a:defRPr/>
            </a:pPr>
            <a:r>
              <a:rPr sz="800" b="0" i="1">
                <a:solidFill>
                  <a:srgbClr val="8AB4C8"/>
                </a:solidFill>
              </a:rPr>
              <a:t>4 reef regions in Indian waters</a:t>
            </a:r>
            <a:endParaRPr/>
          </a:p>
        </p:txBody>
      </p:sp>
      <p:sp>
        <p:nvSpPr>
          <p:cNvPr id="669910892" name="Rectangle 17"/>
          <p:cNvSpPr/>
          <p:nvPr/>
        </p:nvSpPr>
        <p:spPr bwMode="auto">
          <a:xfrm>
            <a:off x="2633472" y="1143000"/>
            <a:ext cx="2377440" cy="5138928"/>
          </a:xfrm>
          <a:prstGeom prst="rect">
            <a:avLst/>
          </a:prstGeom>
          <a:solidFill>
            <a:srgbClr val="122A4A"/>
          </a:solidFill>
          <a:ln w="1524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6491517" name="Rectangle 18"/>
          <p:cNvSpPr/>
          <p:nvPr/>
        </p:nvSpPr>
        <p:spPr bwMode="auto">
          <a:xfrm>
            <a:off x="2633472" y="1143000"/>
            <a:ext cx="2377440" cy="38404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5705915" name="TextBox 19"/>
          <p:cNvSpPr txBox="1"/>
          <p:nvPr/>
        </p:nvSpPr>
        <p:spPr bwMode="auto">
          <a:xfrm>
            <a:off x="2688336" y="1161288"/>
            <a:ext cx="2304288" cy="347472"/>
          </a:xfrm>
          <a:prstGeom prst="rect">
            <a:avLst/>
          </a:prstGeom>
          <a:noFill/>
        </p:spPr>
        <p:txBody>
          <a:bodyPr wrap="square">
            <a:spAutoFit/>
          </a:bodyPr>
          <a:lstStyle/>
          <a:p>
            <a:pPr algn="ctr">
              <a:defRPr/>
            </a:pPr>
            <a:r>
              <a:rPr sz="950" b="1" i="0">
                <a:solidFill>
                  <a:srgbClr val="081224"/>
                </a:solidFill>
              </a:rPr>
              <a:t>Sonar-Derived Structural Features</a:t>
            </a:r>
            <a:endParaRPr/>
          </a:p>
        </p:txBody>
      </p:sp>
      <p:sp>
        <p:nvSpPr>
          <p:cNvPr id="236389970" name="TextBox 20"/>
          <p:cNvSpPr txBox="1"/>
          <p:nvPr/>
        </p:nvSpPr>
        <p:spPr bwMode="auto">
          <a:xfrm>
            <a:off x="2724911" y="1618488"/>
            <a:ext cx="2231136" cy="292608"/>
          </a:xfrm>
          <a:prstGeom prst="rect">
            <a:avLst/>
          </a:prstGeom>
          <a:noFill/>
        </p:spPr>
        <p:txBody>
          <a:bodyPr wrap="square">
            <a:spAutoFit/>
          </a:bodyPr>
          <a:lstStyle/>
          <a:p>
            <a:pPr algn="l">
              <a:defRPr/>
            </a:pPr>
            <a:r>
              <a:rPr sz="950" b="0" i="0">
                <a:solidFill>
                  <a:srgbClr val="E8F4F8"/>
                </a:solidFill>
              </a:rPr>
              <a:t>sonar_backscatter (dB)</a:t>
            </a:r>
            <a:endParaRPr/>
          </a:p>
        </p:txBody>
      </p:sp>
      <p:sp>
        <p:nvSpPr>
          <p:cNvPr id="136697127" name="TextBox 21"/>
          <p:cNvSpPr txBox="1"/>
          <p:nvPr/>
        </p:nvSpPr>
        <p:spPr bwMode="auto">
          <a:xfrm>
            <a:off x="2724911" y="1920240"/>
            <a:ext cx="2231136" cy="292608"/>
          </a:xfrm>
          <a:prstGeom prst="rect">
            <a:avLst/>
          </a:prstGeom>
          <a:noFill/>
        </p:spPr>
        <p:txBody>
          <a:bodyPr wrap="square">
            <a:spAutoFit/>
          </a:bodyPr>
          <a:lstStyle/>
          <a:p>
            <a:pPr algn="l">
              <a:defRPr/>
            </a:pPr>
            <a:r>
              <a:rPr sz="950" b="0" i="0">
                <a:solidFill>
                  <a:srgbClr val="E8F4F8"/>
                </a:solidFill>
              </a:rPr>
              <a:t>rugosity_index</a:t>
            </a:r>
            <a:endParaRPr/>
          </a:p>
        </p:txBody>
      </p:sp>
      <p:sp>
        <p:nvSpPr>
          <p:cNvPr id="1484139291" name="TextBox 22"/>
          <p:cNvSpPr txBox="1"/>
          <p:nvPr/>
        </p:nvSpPr>
        <p:spPr bwMode="auto">
          <a:xfrm>
            <a:off x="2724911" y="2221992"/>
            <a:ext cx="2231136" cy="292608"/>
          </a:xfrm>
          <a:prstGeom prst="rect">
            <a:avLst/>
          </a:prstGeom>
          <a:noFill/>
        </p:spPr>
        <p:txBody>
          <a:bodyPr wrap="square">
            <a:spAutoFit/>
          </a:bodyPr>
          <a:lstStyle/>
          <a:p>
            <a:pPr algn="l">
              <a:defRPr/>
            </a:pPr>
            <a:r>
              <a:rPr sz="950" b="0" i="0">
                <a:solidFill>
                  <a:srgbClr val="E8F4F8"/>
                </a:solidFill>
              </a:rPr>
              <a:t>hard_substrate_percentage (%)</a:t>
            </a:r>
            <a:endParaRPr/>
          </a:p>
        </p:txBody>
      </p:sp>
      <p:sp>
        <p:nvSpPr>
          <p:cNvPr id="1035880405" name="TextBox 23"/>
          <p:cNvSpPr txBox="1"/>
          <p:nvPr/>
        </p:nvSpPr>
        <p:spPr bwMode="auto">
          <a:xfrm>
            <a:off x="2724911" y="2523744"/>
            <a:ext cx="2231136" cy="292608"/>
          </a:xfrm>
          <a:prstGeom prst="rect">
            <a:avLst/>
          </a:prstGeom>
          <a:noFill/>
        </p:spPr>
        <p:txBody>
          <a:bodyPr wrap="square">
            <a:spAutoFit/>
          </a:bodyPr>
          <a:lstStyle/>
          <a:p>
            <a:pPr algn="l">
              <a:defRPr/>
            </a:pPr>
            <a:r>
              <a:rPr sz="950" b="0" i="0">
                <a:solidFill>
                  <a:srgbClr val="E8F4F8"/>
                </a:solidFill>
              </a:rPr>
              <a:t>acoustic_complexity_index</a:t>
            </a:r>
            <a:endParaRPr/>
          </a:p>
        </p:txBody>
      </p:sp>
      <p:sp>
        <p:nvSpPr>
          <p:cNvPr id="793093598" name="Rectangle 24"/>
          <p:cNvSpPr/>
          <p:nvPr/>
        </p:nvSpPr>
        <p:spPr bwMode="auto">
          <a:xfrm>
            <a:off x="2688336" y="5806440"/>
            <a:ext cx="2267712" cy="402336"/>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0833962" name="TextBox 25"/>
          <p:cNvSpPr txBox="1"/>
          <p:nvPr/>
        </p:nvSpPr>
        <p:spPr bwMode="auto">
          <a:xfrm>
            <a:off x="2706624" y="5824728"/>
            <a:ext cx="2249424" cy="384048"/>
          </a:xfrm>
          <a:prstGeom prst="rect">
            <a:avLst/>
          </a:prstGeom>
          <a:noFill/>
        </p:spPr>
        <p:txBody>
          <a:bodyPr wrap="square">
            <a:spAutoFit/>
          </a:bodyPr>
          <a:lstStyle/>
          <a:p>
            <a:pPr algn="l">
              <a:defRPr/>
            </a:pPr>
            <a:r>
              <a:rPr sz="800" b="0" i="1">
                <a:solidFill>
                  <a:srgbClr val="00B4D8"/>
                </a:solidFill>
              </a:rPr>
              <a:t>Sonar measures structure — NOT bleaching or coral cover</a:t>
            </a:r>
            <a:endParaRPr/>
          </a:p>
        </p:txBody>
      </p:sp>
      <p:sp>
        <p:nvSpPr>
          <p:cNvPr id="2096744967" name="Rectangle 26"/>
          <p:cNvSpPr/>
          <p:nvPr/>
        </p:nvSpPr>
        <p:spPr bwMode="auto">
          <a:xfrm>
            <a:off x="5138928" y="1143000"/>
            <a:ext cx="2468880" cy="5138928"/>
          </a:xfrm>
          <a:prstGeom prst="rect">
            <a:avLst/>
          </a:prstGeom>
          <a:solidFill>
            <a:srgbClr val="122A4A"/>
          </a:solidFill>
          <a:ln w="1524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3449841" name="Rectangle 27"/>
          <p:cNvSpPr/>
          <p:nvPr/>
        </p:nvSpPr>
        <p:spPr bwMode="auto">
          <a:xfrm>
            <a:off x="5138928" y="1143000"/>
            <a:ext cx="2468880" cy="384048"/>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0663492" name="TextBox 28"/>
          <p:cNvSpPr txBox="1"/>
          <p:nvPr/>
        </p:nvSpPr>
        <p:spPr bwMode="auto">
          <a:xfrm>
            <a:off x="5193792" y="1161288"/>
            <a:ext cx="2395728" cy="347472"/>
          </a:xfrm>
          <a:prstGeom prst="rect">
            <a:avLst/>
          </a:prstGeom>
          <a:noFill/>
        </p:spPr>
        <p:txBody>
          <a:bodyPr wrap="square">
            <a:spAutoFit/>
          </a:bodyPr>
          <a:lstStyle/>
          <a:p>
            <a:pPr algn="ctr">
              <a:defRPr/>
            </a:pPr>
            <a:r>
              <a:rPr sz="950" b="1" i="0">
                <a:solidFill>
                  <a:srgbClr val="081224"/>
                </a:solidFill>
              </a:rPr>
              <a:t>Environmental Sensor Features</a:t>
            </a:r>
            <a:endParaRPr/>
          </a:p>
        </p:txBody>
      </p:sp>
      <p:sp>
        <p:nvSpPr>
          <p:cNvPr id="347405215" name="TextBox 29"/>
          <p:cNvSpPr txBox="1"/>
          <p:nvPr/>
        </p:nvSpPr>
        <p:spPr bwMode="auto">
          <a:xfrm>
            <a:off x="5230368" y="1618488"/>
            <a:ext cx="2322576" cy="292608"/>
          </a:xfrm>
          <a:prstGeom prst="rect">
            <a:avLst/>
          </a:prstGeom>
          <a:noFill/>
        </p:spPr>
        <p:txBody>
          <a:bodyPr wrap="square">
            <a:spAutoFit/>
          </a:bodyPr>
          <a:lstStyle/>
          <a:p>
            <a:pPr algn="l">
              <a:defRPr/>
            </a:pPr>
            <a:r>
              <a:rPr sz="950" b="0" i="0">
                <a:solidFill>
                  <a:srgbClr val="E8F4F8"/>
                </a:solidFill>
              </a:rPr>
              <a:t>water_temperature_c</a:t>
            </a:r>
            <a:endParaRPr/>
          </a:p>
        </p:txBody>
      </p:sp>
      <p:sp>
        <p:nvSpPr>
          <p:cNvPr id="1865969825" name="TextBox 30"/>
          <p:cNvSpPr txBox="1"/>
          <p:nvPr/>
        </p:nvSpPr>
        <p:spPr bwMode="auto">
          <a:xfrm>
            <a:off x="5230368" y="1920240"/>
            <a:ext cx="2322576" cy="292608"/>
          </a:xfrm>
          <a:prstGeom prst="rect">
            <a:avLst/>
          </a:prstGeom>
          <a:noFill/>
        </p:spPr>
        <p:txBody>
          <a:bodyPr wrap="square">
            <a:spAutoFit/>
          </a:bodyPr>
          <a:lstStyle/>
          <a:p>
            <a:pPr algn="l">
              <a:defRPr/>
            </a:pPr>
            <a:r>
              <a:rPr sz="950" b="0" i="0">
                <a:solidFill>
                  <a:srgbClr val="E8F4F8"/>
                </a:solidFill>
              </a:rPr>
              <a:t>ph</a:t>
            </a:r>
            <a:endParaRPr/>
          </a:p>
        </p:txBody>
      </p:sp>
      <p:sp>
        <p:nvSpPr>
          <p:cNvPr id="1581352510" name="TextBox 31"/>
          <p:cNvSpPr txBox="1"/>
          <p:nvPr/>
        </p:nvSpPr>
        <p:spPr bwMode="auto">
          <a:xfrm>
            <a:off x="5230368" y="2221992"/>
            <a:ext cx="2322576" cy="292608"/>
          </a:xfrm>
          <a:prstGeom prst="rect">
            <a:avLst/>
          </a:prstGeom>
          <a:noFill/>
        </p:spPr>
        <p:txBody>
          <a:bodyPr wrap="square">
            <a:spAutoFit/>
          </a:bodyPr>
          <a:lstStyle/>
          <a:p>
            <a:pPr algn="l">
              <a:defRPr/>
            </a:pPr>
            <a:r>
              <a:rPr sz="950" b="0" i="0">
                <a:solidFill>
                  <a:srgbClr val="E8F4F8"/>
                </a:solidFill>
              </a:rPr>
              <a:t>salinity_ppt</a:t>
            </a:r>
            <a:endParaRPr/>
          </a:p>
        </p:txBody>
      </p:sp>
      <p:sp>
        <p:nvSpPr>
          <p:cNvPr id="611082356" name="TextBox 32"/>
          <p:cNvSpPr txBox="1"/>
          <p:nvPr/>
        </p:nvSpPr>
        <p:spPr bwMode="auto">
          <a:xfrm>
            <a:off x="5230368" y="2523744"/>
            <a:ext cx="2322576" cy="292608"/>
          </a:xfrm>
          <a:prstGeom prst="rect">
            <a:avLst/>
          </a:prstGeom>
          <a:noFill/>
        </p:spPr>
        <p:txBody>
          <a:bodyPr wrap="square">
            <a:spAutoFit/>
          </a:bodyPr>
          <a:lstStyle/>
          <a:p>
            <a:pPr algn="l">
              <a:defRPr/>
            </a:pPr>
            <a:r>
              <a:rPr sz="950" b="0" i="0">
                <a:solidFill>
                  <a:srgbClr val="E8F4F8"/>
                </a:solidFill>
              </a:rPr>
              <a:t>dissolved_oxygen_mg_l</a:t>
            </a:r>
            <a:endParaRPr/>
          </a:p>
        </p:txBody>
      </p:sp>
      <p:sp>
        <p:nvSpPr>
          <p:cNvPr id="263602713" name="TextBox 33"/>
          <p:cNvSpPr txBox="1"/>
          <p:nvPr/>
        </p:nvSpPr>
        <p:spPr bwMode="auto">
          <a:xfrm>
            <a:off x="5230368" y="2825496"/>
            <a:ext cx="2322576" cy="292608"/>
          </a:xfrm>
          <a:prstGeom prst="rect">
            <a:avLst/>
          </a:prstGeom>
          <a:noFill/>
        </p:spPr>
        <p:txBody>
          <a:bodyPr wrap="square">
            <a:spAutoFit/>
          </a:bodyPr>
          <a:lstStyle/>
          <a:p>
            <a:pPr algn="l">
              <a:defRPr/>
            </a:pPr>
            <a:r>
              <a:rPr sz="950" b="0" i="0">
                <a:solidFill>
                  <a:srgbClr val="E8F4F8"/>
                </a:solidFill>
              </a:rPr>
              <a:t>turbidity_ntu</a:t>
            </a:r>
            <a:endParaRPr/>
          </a:p>
        </p:txBody>
      </p:sp>
      <p:sp>
        <p:nvSpPr>
          <p:cNvPr id="946753565" name="TextBox 34"/>
          <p:cNvSpPr txBox="1"/>
          <p:nvPr/>
        </p:nvSpPr>
        <p:spPr bwMode="auto">
          <a:xfrm>
            <a:off x="5230368" y="3127248"/>
            <a:ext cx="2322576" cy="292608"/>
          </a:xfrm>
          <a:prstGeom prst="rect">
            <a:avLst/>
          </a:prstGeom>
          <a:noFill/>
        </p:spPr>
        <p:txBody>
          <a:bodyPr wrap="square">
            <a:spAutoFit/>
          </a:bodyPr>
          <a:lstStyle/>
          <a:p>
            <a:pPr algn="l">
              <a:defRPr/>
            </a:pPr>
            <a:r>
              <a:rPr sz="950" b="0" i="0">
                <a:solidFill>
                  <a:srgbClr val="E8F4F8"/>
                </a:solidFill>
              </a:rPr>
              <a:t>light_intensity (PAR)</a:t>
            </a:r>
            <a:endParaRPr/>
          </a:p>
        </p:txBody>
      </p:sp>
      <p:sp>
        <p:nvSpPr>
          <p:cNvPr id="857589854" name="TextBox 35"/>
          <p:cNvSpPr txBox="1"/>
          <p:nvPr/>
        </p:nvSpPr>
        <p:spPr bwMode="auto">
          <a:xfrm>
            <a:off x="5230368" y="3429000"/>
            <a:ext cx="2322576" cy="292608"/>
          </a:xfrm>
          <a:prstGeom prst="rect">
            <a:avLst/>
          </a:prstGeom>
          <a:noFill/>
        </p:spPr>
        <p:txBody>
          <a:bodyPr wrap="square">
            <a:spAutoFit/>
          </a:bodyPr>
          <a:lstStyle/>
          <a:p>
            <a:pPr algn="l">
              <a:defRPr/>
            </a:pPr>
            <a:r>
              <a:rPr sz="950" b="0" i="0">
                <a:solidFill>
                  <a:srgbClr val="E8F4F8"/>
                </a:solidFill>
              </a:rPr>
              <a:t>current_speed_m_s</a:t>
            </a:r>
            <a:endParaRPr/>
          </a:p>
        </p:txBody>
      </p:sp>
      <p:sp>
        <p:nvSpPr>
          <p:cNvPr id="307686949" name="TextBox 36"/>
          <p:cNvSpPr txBox="1"/>
          <p:nvPr/>
        </p:nvSpPr>
        <p:spPr bwMode="auto">
          <a:xfrm>
            <a:off x="5230368" y="3730752"/>
            <a:ext cx="2322576" cy="292608"/>
          </a:xfrm>
          <a:prstGeom prst="rect">
            <a:avLst/>
          </a:prstGeom>
          <a:noFill/>
        </p:spPr>
        <p:txBody>
          <a:bodyPr wrap="square">
            <a:spAutoFit/>
          </a:bodyPr>
          <a:lstStyle/>
          <a:p>
            <a:pPr algn="l">
              <a:defRPr/>
            </a:pPr>
            <a:r>
              <a:rPr sz="950" b="0" i="0">
                <a:solidFill>
                  <a:srgbClr val="E8F4F8"/>
                </a:solidFill>
              </a:rPr>
              <a:t>depth_m</a:t>
            </a:r>
            <a:endParaRPr/>
          </a:p>
        </p:txBody>
      </p:sp>
      <p:sp>
        <p:nvSpPr>
          <p:cNvPr id="591626487" name="Rectangle 37"/>
          <p:cNvSpPr/>
          <p:nvPr/>
        </p:nvSpPr>
        <p:spPr bwMode="auto">
          <a:xfrm>
            <a:off x="5193792" y="5806440"/>
            <a:ext cx="2359152" cy="402336"/>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7714790" name="TextBox 38"/>
          <p:cNvSpPr txBox="1"/>
          <p:nvPr/>
        </p:nvSpPr>
        <p:spPr bwMode="auto">
          <a:xfrm>
            <a:off x="5212080" y="5824728"/>
            <a:ext cx="2340864" cy="384048"/>
          </a:xfrm>
          <a:prstGeom prst="rect">
            <a:avLst/>
          </a:prstGeom>
          <a:noFill/>
        </p:spPr>
        <p:txBody>
          <a:bodyPr wrap="square">
            <a:spAutoFit/>
          </a:bodyPr>
          <a:lstStyle/>
          <a:p>
            <a:pPr algn="l">
              <a:defRPr/>
            </a:pPr>
            <a:r>
              <a:rPr sz="800" b="0" i="1">
                <a:solidFill>
                  <a:srgbClr val="1B8A8F"/>
                </a:solidFill>
              </a:rPr>
              <a:t>Physical oceanographic conditions</a:t>
            </a:r>
            <a:endParaRPr/>
          </a:p>
        </p:txBody>
      </p:sp>
      <p:sp>
        <p:nvSpPr>
          <p:cNvPr id="982434778" name="Rectangle 39"/>
          <p:cNvSpPr/>
          <p:nvPr/>
        </p:nvSpPr>
        <p:spPr bwMode="auto">
          <a:xfrm>
            <a:off x="7726679" y="1143000"/>
            <a:ext cx="2423160" cy="5138928"/>
          </a:xfrm>
          <a:prstGeom prst="rect">
            <a:avLst/>
          </a:prstGeom>
          <a:solidFill>
            <a:srgbClr val="122A4A"/>
          </a:solidFill>
          <a:ln w="15240">
            <a:solidFill>
              <a:srgbClr val="2EC4B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63532023" name="Rectangle 40"/>
          <p:cNvSpPr/>
          <p:nvPr/>
        </p:nvSpPr>
        <p:spPr bwMode="auto">
          <a:xfrm>
            <a:off x="7726679" y="1143000"/>
            <a:ext cx="2423160" cy="38404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9279878" name="TextBox 41"/>
          <p:cNvSpPr txBox="1"/>
          <p:nvPr/>
        </p:nvSpPr>
        <p:spPr bwMode="auto">
          <a:xfrm>
            <a:off x="7781544" y="1161288"/>
            <a:ext cx="2350008" cy="347472"/>
          </a:xfrm>
          <a:prstGeom prst="rect">
            <a:avLst/>
          </a:prstGeom>
          <a:noFill/>
        </p:spPr>
        <p:txBody>
          <a:bodyPr wrap="square">
            <a:spAutoFit/>
          </a:bodyPr>
          <a:lstStyle/>
          <a:p>
            <a:pPr algn="ctr">
              <a:defRPr/>
            </a:pPr>
            <a:r>
              <a:rPr sz="950" b="1" i="0">
                <a:solidFill>
                  <a:srgbClr val="081224"/>
                </a:solidFill>
              </a:rPr>
              <a:t>Reef-Condition Observations</a:t>
            </a:r>
            <a:endParaRPr/>
          </a:p>
        </p:txBody>
      </p:sp>
      <p:sp>
        <p:nvSpPr>
          <p:cNvPr id="1390427052" name="TextBox 42"/>
          <p:cNvSpPr txBox="1"/>
          <p:nvPr/>
        </p:nvSpPr>
        <p:spPr bwMode="auto">
          <a:xfrm>
            <a:off x="7818119" y="1618488"/>
            <a:ext cx="2276856" cy="292608"/>
          </a:xfrm>
          <a:prstGeom prst="rect">
            <a:avLst/>
          </a:prstGeom>
          <a:noFill/>
        </p:spPr>
        <p:txBody>
          <a:bodyPr wrap="square">
            <a:spAutoFit/>
          </a:bodyPr>
          <a:lstStyle/>
          <a:p>
            <a:pPr algn="l">
              <a:defRPr/>
            </a:pPr>
            <a:r>
              <a:rPr sz="950" b="0" i="0">
                <a:solidFill>
                  <a:srgbClr val="E8F4F8"/>
                </a:solidFill>
              </a:rPr>
              <a:t>coral_cover_percentage (%)</a:t>
            </a:r>
            <a:endParaRPr/>
          </a:p>
        </p:txBody>
      </p:sp>
      <p:sp>
        <p:nvSpPr>
          <p:cNvPr id="1128103476" name="TextBox 43"/>
          <p:cNvSpPr txBox="1"/>
          <p:nvPr/>
        </p:nvSpPr>
        <p:spPr bwMode="auto">
          <a:xfrm>
            <a:off x="7818119" y="1920240"/>
            <a:ext cx="2276856" cy="292608"/>
          </a:xfrm>
          <a:prstGeom prst="rect">
            <a:avLst/>
          </a:prstGeom>
          <a:noFill/>
        </p:spPr>
        <p:txBody>
          <a:bodyPr wrap="square">
            <a:spAutoFit/>
          </a:bodyPr>
          <a:lstStyle/>
          <a:p>
            <a:pPr algn="l">
              <a:defRPr/>
            </a:pPr>
            <a:r>
              <a:rPr sz="950" b="0" i="0">
                <a:solidFill>
                  <a:srgbClr val="E8F4F8"/>
                </a:solidFill>
              </a:rPr>
              <a:t>bleaching_percentage (%)</a:t>
            </a:r>
            <a:endParaRPr/>
          </a:p>
        </p:txBody>
      </p:sp>
      <p:sp>
        <p:nvSpPr>
          <p:cNvPr id="499900872" name="TextBox 44"/>
          <p:cNvSpPr txBox="1"/>
          <p:nvPr/>
        </p:nvSpPr>
        <p:spPr bwMode="auto">
          <a:xfrm>
            <a:off x="7818119" y="2221992"/>
            <a:ext cx="2276856" cy="292608"/>
          </a:xfrm>
          <a:prstGeom prst="rect">
            <a:avLst/>
          </a:prstGeom>
          <a:noFill/>
        </p:spPr>
        <p:txBody>
          <a:bodyPr wrap="square">
            <a:spAutoFit/>
          </a:bodyPr>
          <a:lstStyle/>
          <a:p>
            <a:pPr algn="l">
              <a:defRPr/>
            </a:pPr>
            <a:r>
              <a:rPr sz="950" b="0" i="0">
                <a:solidFill>
                  <a:srgbClr val="E8F4F8"/>
                </a:solidFill>
              </a:rPr>
              <a:t>disease_percentage (%)</a:t>
            </a:r>
            <a:endParaRPr/>
          </a:p>
        </p:txBody>
      </p:sp>
      <p:sp>
        <p:nvSpPr>
          <p:cNvPr id="207449312" name="Rectangle 45"/>
          <p:cNvSpPr/>
          <p:nvPr/>
        </p:nvSpPr>
        <p:spPr bwMode="auto">
          <a:xfrm>
            <a:off x="7781544" y="5806440"/>
            <a:ext cx="2313432" cy="402336"/>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48673487" name="TextBox 46"/>
          <p:cNvSpPr txBox="1"/>
          <p:nvPr/>
        </p:nvSpPr>
        <p:spPr bwMode="auto">
          <a:xfrm>
            <a:off x="7799831" y="5824728"/>
            <a:ext cx="2295144" cy="384048"/>
          </a:xfrm>
          <a:prstGeom prst="rect">
            <a:avLst/>
          </a:prstGeom>
          <a:noFill/>
        </p:spPr>
        <p:txBody>
          <a:bodyPr wrap="square">
            <a:spAutoFit/>
          </a:bodyPr>
          <a:lstStyle/>
          <a:p>
            <a:pPr algn="l">
              <a:defRPr/>
            </a:pPr>
            <a:r>
              <a:rPr sz="800" b="0" i="1">
                <a:solidFill>
                  <a:srgbClr val="2EC4B6"/>
                </a:solidFill>
              </a:rPr>
              <a:t>Biological survey observations</a:t>
            </a:r>
            <a:endParaRPr/>
          </a:p>
        </p:txBody>
      </p:sp>
      <p:sp>
        <p:nvSpPr>
          <p:cNvPr id="1015043743" name="Rectangle 47"/>
          <p:cNvSpPr/>
          <p:nvPr/>
        </p:nvSpPr>
        <p:spPr bwMode="auto">
          <a:xfrm>
            <a:off x="10259568" y="1143000"/>
            <a:ext cx="1719072" cy="5138928"/>
          </a:xfrm>
          <a:prstGeom prst="rect">
            <a:avLst/>
          </a:prstGeom>
          <a:solidFill>
            <a:srgbClr val="122A4A"/>
          </a:solidFill>
          <a:ln w="1524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7651781" name="Rectangle 48"/>
          <p:cNvSpPr/>
          <p:nvPr/>
        </p:nvSpPr>
        <p:spPr bwMode="auto">
          <a:xfrm>
            <a:off x="10259568" y="1143000"/>
            <a:ext cx="1719072" cy="384048"/>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7020616" name="TextBox 49"/>
          <p:cNvSpPr txBox="1"/>
          <p:nvPr/>
        </p:nvSpPr>
        <p:spPr bwMode="auto">
          <a:xfrm>
            <a:off x="10314432" y="1161288"/>
            <a:ext cx="1645919" cy="347472"/>
          </a:xfrm>
          <a:prstGeom prst="rect">
            <a:avLst/>
          </a:prstGeom>
          <a:noFill/>
        </p:spPr>
        <p:txBody>
          <a:bodyPr wrap="square">
            <a:spAutoFit/>
          </a:bodyPr>
          <a:lstStyle/>
          <a:p>
            <a:pPr algn="ctr">
              <a:defRPr/>
            </a:pPr>
            <a:r>
              <a:rPr sz="950" b="1" i="0">
                <a:solidFill>
                  <a:srgbClr val="081224"/>
                </a:solidFill>
              </a:rPr>
              <a:t>Target Labels</a:t>
            </a:r>
            <a:endParaRPr/>
          </a:p>
        </p:txBody>
      </p:sp>
      <p:sp>
        <p:nvSpPr>
          <p:cNvPr id="378863613" name="TextBox 50"/>
          <p:cNvSpPr txBox="1"/>
          <p:nvPr/>
        </p:nvSpPr>
        <p:spPr bwMode="auto">
          <a:xfrm>
            <a:off x="10351008" y="1618488"/>
            <a:ext cx="1572768" cy="292608"/>
          </a:xfrm>
          <a:prstGeom prst="rect">
            <a:avLst/>
          </a:prstGeom>
          <a:noFill/>
        </p:spPr>
        <p:txBody>
          <a:bodyPr wrap="square">
            <a:spAutoFit/>
          </a:bodyPr>
          <a:lstStyle/>
          <a:p>
            <a:pPr algn="l">
              <a:defRPr/>
            </a:pPr>
            <a:r>
              <a:rPr sz="950" b="0" i="0">
                <a:solidFill>
                  <a:srgbClr val="E8F4F8"/>
                </a:solidFill>
              </a:rPr>
              <a:t>reef_health (4 classes)</a:t>
            </a:r>
            <a:endParaRPr/>
          </a:p>
        </p:txBody>
      </p:sp>
      <p:sp>
        <p:nvSpPr>
          <p:cNvPr id="1243331896" name="TextBox 51"/>
          <p:cNvSpPr txBox="1"/>
          <p:nvPr/>
        </p:nvSpPr>
        <p:spPr bwMode="auto">
          <a:xfrm>
            <a:off x="10351008" y="1920240"/>
            <a:ext cx="1572768" cy="292608"/>
          </a:xfrm>
          <a:prstGeom prst="rect">
            <a:avLst/>
          </a:prstGeom>
          <a:noFill/>
        </p:spPr>
        <p:txBody>
          <a:bodyPr wrap="square">
            <a:spAutoFit/>
          </a:bodyPr>
          <a:lstStyle/>
          <a:p>
            <a:pPr algn="l">
              <a:defRPr/>
            </a:pPr>
            <a:r>
              <a:rPr sz="950" b="0" i="0">
                <a:solidFill>
                  <a:srgbClr val="E8F4F8"/>
                </a:solidFill>
              </a:rPr>
              <a:t>restoration_suitability (3 classes)</a:t>
            </a:r>
            <a:endParaRPr/>
          </a:p>
        </p:txBody>
      </p:sp>
      <p:sp>
        <p:nvSpPr>
          <p:cNvPr id="2106108696" name="Rectangle 52"/>
          <p:cNvSpPr/>
          <p:nvPr/>
        </p:nvSpPr>
        <p:spPr bwMode="auto">
          <a:xfrm>
            <a:off x="10314432" y="5806440"/>
            <a:ext cx="1609343" cy="402336"/>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8636611" name="TextBox 53"/>
          <p:cNvSpPr txBox="1"/>
          <p:nvPr/>
        </p:nvSpPr>
        <p:spPr bwMode="auto">
          <a:xfrm>
            <a:off x="10332720" y="5824728"/>
            <a:ext cx="1591055" cy="384048"/>
          </a:xfrm>
          <a:prstGeom prst="rect">
            <a:avLst/>
          </a:prstGeom>
          <a:noFill/>
        </p:spPr>
        <p:txBody>
          <a:bodyPr wrap="square">
            <a:spAutoFit/>
          </a:bodyPr>
          <a:lstStyle/>
          <a:p>
            <a:pPr algn="l">
              <a:defRPr/>
            </a:pPr>
            <a:r>
              <a:rPr sz="800" b="0" i="1">
                <a:solidFill>
                  <a:srgbClr val="FF6B35"/>
                </a:solidFill>
              </a:rPr>
              <a:t>Supervised learning targets</a:t>
            </a:r>
            <a:endParaRPr/>
          </a:p>
        </p:txBody>
      </p:sp>
      <p:sp>
        <p:nvSpPr>
          <p:cNvPr id="588397460" name="Rectangle 54"/>
          <p:cNvSpPr/>
          <p:nvPr/>
        </p:nvSpPr>
        <p:spPr bwMode="auto">
          <a:xfrm>
            <a:off x="256032" y="6355080"/>
            <a:ext cx="11722608" cy="320040"/>
          </a:xfrm>
          <a:prstGeom prst="rect">
            <a:avLst/>
          </a:prstGeom>
          <a:solidFill>
            <a:srgbClr val="2A0A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1638855" name="TextBox 55"/>
          <p:cNvSpPr txBox="1"/>
          <p:nvPr/>
        </p:nvSpPr>
        <p:spPr bwMode="auto">
          <a:xfrm>
            <a:off x="320040" y="6364224"/>
            <a:ext cx="11612880" cy="292608"/>
          </a:xfrm>
          <a:prstGeom prst="rect">
            <a:avLst/>
          </a:prstGeom>
          <a:noFill/>
        </p:spPr>
        <p:txBody>
          <a:bodyPr wrap="square">
            <a:spAutoFit/>
          </a:bodyPr>
          <a:lstStyle/>
          <a:p>
            <a:pPr algn="l">
              <a:defRPr/>
            </a:pPr>
            <a:r>
              <a:rPr sz="950" b="0" i="1">
                <a:solidFill>
                  <a:srgbClr val="FF6B35"/>
                </a:solidFill>
              </a:rPr>
              <a:t>Scientific limit: Sonar measures habitat structure (depth, backscatter, rugosity). It does NOT directly measure coral bleaching, coral cover, or water chemistry.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066372979"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8975232"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Dataset Description</a:t>
            </a:r>
            <a:endParaRPr/>
          </a:p>
        </p:txBody>
      </p:sp>
      <p:sp>
        <p:nvSpPr>
          <p:cNvPr id="1816023668"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15,000 synthetic observations — confirmed from data/raw/observations.csv</a:t>
            </a:r>
            <a:endParaRPr/>
          </a:p>
        </p:txBody>
      </p:sp>
      <p:sp>
        <p:nvSpPr>
          <p:cNvPr id="2065334023"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68021591"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049387"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646353489"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5</a:t>
            </a:r>
            <a:endParaRPr/>
          </a:p>
        </p:txBody>
      </p:sp>
      <p:sp>
        <p:nvSpPr>
          <p:cNvPr id="665042857" name="Rectangle 8"/>
          <p:cNvSpPr/>
          <p:nvPr/>
        </p:nvSpPr>
        <p:spPr bwMode="auto">
          <a:xfrm>
            <a:off x="274320" y="1170432"/>
            <a:ext cx="3840480" cy="5166360"/>
          </a:xfrm>
          <a:prstGeom prst="rect">
            <a:avLst/>
          </a:prstGeom>
          <a:solidFill>
            <a:srgbClr val="122A4A"/>
          </a:solidFill>
          <a:ln w="1016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69206061" name="TextBox 9"/>
          <p:cNvSpPr txBox="1"/>
          <p:nvPr/>
        </p:nvSpPr>
        <p:spPr bwMode="auto">
          <a:xfrm>
            <a:off x="457200" y="1243584"/>
            <a:ext cx="3474720" cy="347472"/>
          </a:xfrm>
          <a:prstGeom prst="rect">
            <a:avLst/>
          </a:prstGeom>
          <a:noFill/>
        </p:spPr>
        <p:txBody>
          <a:bodyPr wrap="square">
            <a:spAutoFit/>
          </a:bodyPr>
          <a:lstStyle/>
          <a:p>
            <a:pPr algn="l">
              <a:defRPr/>
            </a:pPr>
            <a:r>
              <a:rPr sz="1300" b="1" i="0">
                <a:solidFill>
                  <a:srgbClr val="00B4D8"/>
                </a:solidFill>
              </a:rPr>
              <a:t>Dataset Statistics</a:t>
            </a:r>
            <a:endParaRPr/>
          </a:p>
        </p:txBody>
      </p:sp>
      <p:sp>
        <p:nvSpPr>
          <p:cNvPr id="1494937205" name="TextBox 10"/>
          <p:cNvSpPr txBox="1"/>
          <p:nvPr/>
        </p:nvSpPr>
        <p:spPr bwMode="auto">
          <a:xfrm>
            <a:off x="411480" y="1673352"/>
            <a:ext cx="1828800" cy="246888"/>
          </a:xfrm>
          <a:prstGeom prst="rect">
            <a:avLst/>
          </a:prstGeom>
          <a:noFill/>
        </p:spPr>
        <p:txBody>
          <a:bodyPr wrap="square">
            <a:spAutoFit/>
          </a:bodyPr>
          <a:lstStyle/>
          <a:p>
            <a:pPr algn="l">
              <a:defRPr/>
            </a:pPr>
            <a:r>
              <a:rPr sz="950" b="0" i="0">
                <a:solidFill>
                  <a:srgbClr val="8AB4C8"/>
                </a:solidFill>
              </a:rPr>
              <a:t>Total observations</a:t>
            </a:r>
            <a:endParaRPr/>
          </a:p>
        </p:txBody>
      </p:sp>
      <p:sp>
        <p:nvSpPr>
          <p:cNvPr id="697858388" name="TextBox 11"/>
          <p:cNvSpPr txBox="1"/>
          <p:nvPr/>
        </p:nvSpPr>
        <p:spPr bwMode="auto">
          <a:xfrm>
            <a:off x="2286000" y="1673352"/>
            <a:ext cx="1737360" cy="246888"/>
          </a:xfrm>
          <a:prstGeom prst="rect">
            <a:avLst/>
          </a:prstGeom>
          <a:noFill/>
        </p:spPr>
        <p:txBody>
          <a:bodyPr wrap="square">
            <a:spAutoFit/>
          </a:bodyPr>
          <a:lstStyle/>
          <a:p>
            <a:pPr algn="l">
              <a:defRPr/>
            </a:pPr>
            <a:r>
              <a:rPr sz="950" b="1" i="0">
                <a:solidFill>
                  <a:srgbClr val="E8F4F8"/>
                </a:solidFill>
              </a:rPr>
              <a:t>15,000</a:t>
            </a:r>
            <a:endParaRPr/>
          </a:p>
        </p:txBody>
      </p:sp>
      <p:sp>
        <p:nvSpPr>
          <p:cNvPr id="1579912030" name="TextBox 12"/>
          <p:cNvSpPr txBox="1"/>
          <p:nvPr/>
        </p:nvSpPr>
        <p:spPr bwMode="auto">
          <a:xfrm>
            <a:off x="411480" y="1938528"/>
            <a:ext cx="1828800" cy="246888"/>
          </a:xfrm>
          <a:prstGeom prst="rect">
            <a:avLst/>
          </a:prstGeom>
          <a:noFill/>
        </p:spPr>
        <p:txBody>
          <a:bodyPr wrap="square">
            <a:spAutoFit/>
          </a:bodyPr>
          <a:lstStyle/>
          <a:p>
            <a:pPr algn="l">
              <a:defRPr/>
            </a:pPr>
            <a:r>
              <a:rPr sz="950" b="0" i="0">
                <a:solidFill>
                  <a:srgbClr val="8AB4C8"/>
                </a:solidFill>
              </a:rPr>
              <a:t>CSV columns</a:t>
            </a:r>
            <a:endParaRPr/>
          </a:p>
        </p:txBody>
      </p:sp>
      <p:sp>
        <p:nvSpPr>
          <p:cNvPr id="1707048430" name="TextBox 13"/>
          <p:cNvSpPr txBox="1"/>
          <p:nvPr/>
        </p:nvSpPr>
        <p:spPr bwMode="auto">
          <a:xfrm>
            <a:off x="2286000" y="1938528"/>
            <a:ext cx="1737360" cy="246888"/>
          </a:xfrm>
          <a:prstGeom prst="rect">
            <a:avLst/>
          </a:prstGeom>
          <a:noFill/>
        </p:spPr>
        <p:txBody>
          <a:bodyPr wrap="square">
            <a:spAutoFit/>
          </a:bodyPr>
          <a:lstStyle/>
          <a:p>
            <a:pPr algn="l">
              <a:defRPr/>
            </a:pPr>
            <a:r>
              <a:rPr sz="950" b="1" i="0">
                <a:solidFill>
                  <a:srgbClr val="E8F4F8"/>
                </a:solidFill>
              </a:rPr>
              <a:t>21</a:t>
            </a:r>
            <a:endParaRPr/>
          </a:p>
        </p:txBody>
      </p:sp>
      <p:sp>
        <p:nvSpPr>
          <p:cNvPr id="1979250194" name="TextBox 14"/>
          <p:cNvSpPr txBox="1"/>
          <p:nvPr/>
        </p:nvSpPr>
        <p:spPr bwMode="auto">
          <a:xfrm>
            <a:off x="411480" y="2203704"/>
            <a:ext cx="1828800" cy="246888"/>
          </a:xfrm>
          <a:prstGeom prst="rect">
            <a:avLst/>
          </a:prstGeom>
          <a:noFill/>
        </p:spPr>
        <p:txBody>
          <a:bodyPr wrap="square">
            <a:spAutoFit/>
          </a:bodyPr>
          <a:lstStyle/>
          <a:p>
            <a:pPr algn="l">
              <a:defRPr/>
            </a:pPr>
            <a:r>
              <a:rPr sz="950" b="0" i="0">
                <a:solidFill>
                  <a:srgbClr val="8AB4C8"/>
                </a:solidFill>
              </a:rPr>
              <a:t>Training rows (80%)</a:t>
            </a:r>
            <a:endParaRPr/>
          </a:p>
        </p:txBody>
      </p:sp>
      <p:sp>
        <p:nvSpPr>
          <p:cNvPr id="558984594" name="TextBox 15"/>
          <p:cNvSpPr txBox="1"/>
          <p:nvPr/>
        </p:nvSpPr>
        <p:spPr bwMode="auto">
          <a:xfrm>
            <a:off x="2286000" y="2203704"/>
            <a:ext cx="1737360" cy="246888"/>
          </a:xfrm>
          <a:prstGeom prst="rect">
            <a:avLst/>
          </a:prstGeom>
          <a:noFill/>
        </p:spPr>
        <p:txBody>
          <a:bodyPr wrap="square">
            <a:spAutoFit/>
          </a:bodyPr>
          <a:lstStyle/>
          <a:p>
            <a:pPr algn="l">
              <a:defRPr/>
            </a:pPr>
            <a:r>
              <a:rPr sz="950" b="1" i="0">
                <a:solidFill>
                  <a:srgbClr val="E8F4F8"/>
                </a:solidFill>
              </a:rPr>
              <a:t>12,000</a:t>
            </a:r>
            <a:endParaRPr/>
          </a:p>
        </p:txBody>
      </p:sp>
      <p:sp>
        <p:nvSpPr>
          <p:cNvPr id="2078502361" name="TextBox 16"/>
          <p:cNvSpPr txBox="1"/>
          <p:nvPr/>
        </p:nvSpPr>
        <p:spPr bwMode="auto">
          <a:xfrm>
            <a:off x="411480" y="2468880"/>
            <a:ext cx="1828800" cy="246888"/>
          </a:xfrm>
          <a:prstGeom prst="rect">
            <a:avLst/>
          </a:prstGeom>
          <a:noFill/>
        </p:spPr>
        <p:txBody>
          <a:bodyPr wrap="square">
            <a:spAutoFit/>
          </a:bodyPr>
          <a:lstStyle/>
          <a:p>
            <a:pPr algn="l">
              <a:defRPr/>
            </a:pPr>
            <a:r>
              <a:rPr sz="950" b="0" i="0">
                <a:solidFill>
                  <a:srgbClr val="8AB4C8"/>
                </a:solidFill>
              </a:rPr>
              <a:t>Test rows (20%)</a:t>
            </a:r>
            <a:endParaRPr/>
          </a:p>
        </p:txBody>
      </p:sp>
      <p:sp>
        <p:nvSpPr>
          <p:cNvPr id="1739688152" name="TextBox 17"/>
          <p:cNvSpPr txBox="1"/>
          <p:nvPr/>
        </p:nvSpPr>
        <p:spPr bwMode="auto">
          <a:xfrm>
            <a:off x="2286000" y="2468880"/>
            <a:ext cx="1737360" cy="246888"/>
          </a:xfrm>
          <a:prstGeom prst="rect">
            <a:avLst/>
          </a:prstGeom>
          <a:noFill/>
        </p:spPr>
        <p:txBody>
          <a:bodyPr wrap="square">
            <a:spAutoFit/>
          </a:bodyPr>
          <a:lstStyle/>
          <a:p>
            <a:pPr algn="l">
              <a:defRPr/>
            </a:pPr>
            <a:r>
              <a:rPr sz="950" b="1" i="0">
                <a:solidFill>
                  <a:srgbClr val="E8F4F8"/>
                </a:solidFill>
              </a:rPr>
              <a:t>3,000</a:t>
            </a:r>
            <a:endParaRPr/>
          </a:p>
        </p:txBody>
      </p:sp>
      <p:sp>
        <p:nvSpPr>
          <p:cNvPr id="1135958207" name="TextBox 18"/>
          <p:cNvSpPr txBox="1"/>
          <p:nvPr/>
        </p:nvSpPr>
        <p:spPr bwMode="auto">
          <a:xfrm>
            <a:off x="411480" y="2734056"/>
            <a:ext cx="1828800" cy="246888"/>
          </a:xfrm>
          <a:prstGeom prst="rect">
            <a:avLst/>
          </a:prstGeom>
          <a:noFill/>
        </p:spPr>
        <p:txBody>
          <a:bodyPr wrap="square">
            <a:spAutoFit/>
          </a:bodyPr>
          <a:lstStyle/>
          <a:p>
            <a:pPr algn="l">
              <a:defRPr/>
            </a:pPr>
            <a:r>
              <a:rPr sz="950" b="0" i="0">
                <a:solidFill>
                  <a:srgbClr val="8AB4C8"/>
                </a:solidFill>
              </a:rPr>
              <a:t>Missing values</a:t>
            </a:r>
            <a:endParaRPr/>
          </a:p>
        </p:txBody>
      </p:sp>
      <p:sp>
        <p:nvSpPr>
          <p:cNvPr id="1770292771" name="TextBox 19"/>
          <p:cNvSpPr txBox="1"/>
          <p:nvPr/>
        </p:nvSpPr>
        <p:spPr bwMode="auto">
          <a:xfrm>
            <a:off x="2286000" y="2734056"/>
            <a:ext cx="1737360" cy="246888"/>
          </a:xfrm>
          <a:prstGeom prst="rect">
            <a:avLst/>
          </a:prstGeom>
          <a:noFill/>
        </p:spPr>
        <p:txBody>
          <a:bodyPr wrap="square">
            <a:spAutoFit/>
          </a:bodyPr>
          <a:lstStyle/>
          <a:p>
            <a:pPr algn="l">
              <a:defRPr/>
            </a:pPr>
            <a:r>
              <a:rPr sz="950" b="1" i="0">
                <a:solidFill>
                  <a:srgbClr val="E8F4F8"/>
                </a:solidFill>
              </a:rPr>
              <a:t>0  (all required)</a:t>
            </a:r>
            <a:endParaRPr/>
          </a:p>
        </p:txBody>
      </p:sp>
      <p:sp>
        <p:nvSpPr>
          <p:cNvPr id="164348520" name="TextBox 20"/>
          <p:cNvSpPr txBox="1"/>
          <p:nvPr/>
        </p:nvSpPr>
        <p:spPr bwMode="auto">
          <a:xfrm>
            <a:off x="411480" y="2999232"/>
            <a:ext cx="1828800" cy="246888"/>
          </a:xfrm>
          <a:prstGeom prst="rect">
            <a:avLst/>
          </a:prstGeom>
          <a:noFill/>
        </p:spPr>
        <p:txBody>
          <a:bodyPr wrap="square">
            <a:spAutoFit/>
          </a:bodyPr>
          <a:lstStyle/>
          <a:p>
            <a:pPr algn="l">
              <a:defRPr/>
            </a:pPr>
            <a:r>
              <a:rPr sz="950" b="0" i="0">
                <a:solidFill>
                  <a:srgbClr val="8AB4C8"/>
                </a:solidFill>
              </a:rPr>
              <a:t>Duplicate rows</a:t>
            </a:r>
            <a:endParaRPr/>
          </a:p>
        </p:txBody>
      </p:sp>
      <p:sp>
        <p:nvSpPr>
          <p:cNvPr id="210949937" name="TextBox 21"/>
          <p:cNvSpPr txBox="1"/>
          <p:nvPr/>
        </p:nvSpPr>
        <p:spPr bwMode="auto">
          <a:xfrm>
            <a:off x="2286000" y="2999232"/>
            <a:ext cx="1737360" cy="246888"/>
          </a:xfrm>
          <a:prstGeom prst="rect">
            <a:avLst/>
          </a:prstGeom>
          <a:noFill/>
        </p:spPr>
        <p:txBody>
          <a:bodyPr wrap="square">
            <a:spAutoFit/>
          </a:bodyPr>
          <a:lstStyle/>
          <a:p>
            <a:pPr algn="l">
              <a:defRPr/>
            </a:pPr>
            <a:r>
              <a:rPr sz="950" b="1" i="0">
                <a:solidFill>
                  <a:srgbClr val="E8F4F8"/>
                </a:solidFill>
              </a:rPr>
              <a:t>None in generated data</a:t>
            </a:r>
            <a:endParaRPr/>
          </a:p>
        </p:txBody>
      </p:sp>
      <p:sp>
        <p:nvSpPr>
          <p:cNvPr id="1193964735" name="TextBox 22"/>
          <p:cNvSpPr txBox="1"/>
          <p:nvPr/>
        </p:nvSpPr>
        <p:spPr bwMode="auto">
          <a:xfrm>
            <a:off x="411480" y="3264408"/>
            <a:ext cx="1828800" cy="246888"/>
          </a:xfrm>
          <a:prstGeom prst="rect">
            <a:avLst/>
          </a:prstGeom>
          <a:noFill/>
        </p:spPr>
        <p:txBody>
          <a:bodyPr wrap="square">
            <a:spAutoFit/>
          </a:bodyPr>
          <a:lstStyle/>
          <a:p>
            <a:pPr algn="l">
              <a:defRPr/>
            </a:pPr>
            <a:r>
              <a:rPr sz="950" b="0" i="0">
                <a:solidFill>
                  <a:srgbClr val="8AB4C8"/>
                </a:solidFill>
              </a:rPr>
              <a:t>Temporal range</a:t>
            </a:r>
            <a:endParaRPr/>
          </a:p>
        </p:txBody>
      </p:sp>
      <p:sp>
        <p:nvSpPr>
          <p:cNvPr id="1130451117" name="TextBox 23"/>
          <p:cNvSpPr txBox="1"/>
          <p:nvPr/>
        </p:nvSpPr>
        <p:spPr bwMode="auto">
          <a:xfrm>
            <a:off x="2286000" y="3264408"/>
            <a:ext cx="1737360" cy="246888"/>
          </a:xfrm>
          <a:prstGeom prst="rect">
            <a:avLst/>
          </a:prstGeom>
          <a:noFill/>
        </p:spPr>
        <p:txBody>
          <a:bodyPr wrap="square">
            <a:spAutoFit/>
          </a:bodyPr>
          <a:lstStyle/>
          <a:p>
            <a:pPr algn="l">
              <a:defRPr/>
            </a:pPr>
            <a:r>
              <a:rPr sz="950" b="1" i="0">
                <a:solidFill>
                  <a:srgbClr val="E8F4F8"/>
                </a:solidFill>
              </a:rPr>
              <a:t>2018-01-01 to 2024-12-31</a:t>
            </a:r>
            <a:endParaRPr/>
          </a:p>
        </p:txBody>
      </p:sp>
      <p:sp>
        <p:nvSpPr>
          <p:cNvPr id="1742033279" name="TextBox 24"/>
          <p:cNvSpPr txBox="1"/>
          <p:nvPr/>
        </p:nvSpPr>
        <p:spPr bwMode="auto">
          <a:xfrm>
            <a:off x="411480" y="3529584"/>
            <a:ext cx="1828800" cy="246888"/>
          </a:xfrm>
          <a:prstGeom prst="rect">
            <a:avLst/>
          </a:prstGeom>
          <a:noFill/>
        </p:spPr>
        <p:txBody>
          <a:bodyPr wrap="square">
            <a:spAutoFit/>
          </a:bodyPr>
          <a:lstStyle/>
          <a:p>
            <a:pPr algn="l">
              <a:defRPr/>
            </a:pPr>
            <a:r>
              <a:rPr sz="950" b="0" i="0">
                <a:solidFill>
                  <a:srgbClr val="8AB4C8"/>
                </a:solidFill>
              </a:rPr>
              <a:t>Random seed</a:t>
            </a:r>
            <a:endParaRPr/>
          </a:p>
        </p:txBody>
      </p:sp>
      <p:sp>
        <p:nvSpPr>
          <p:cNvPr id="2012073060" name="TextBox 25"/>
          <p:cNvSpPr txBox="1"/>
          <p:nvPr/>
        </p:nvSpPr>
        <p:spPr bwMode="auto">
          <a:xfrm>
            <a:off x="2286000" y="3529584"/>
            <a:ext cx="1737360" cy="246888"/>
          </a:xfrm>
          <a:prstGeom prst="rect">
            <a:avLst/>
          </a:prstGeom>
          <a:noFill/>
        </p:spPr>
        <p:txBody>
          <a:bodyPr wrap="square">
            <a:spAutoFit/>
          </a:bodyPr>
          <a:lstStyle/>
          <a:p>
            <a:pPr algn="l">
              <a:defRPr/>
            </a:pPr>
            <a:r>
              <a:rPr sz="950" b="1" i="0">
                <a:solidFill>
                  <a:srgbClr val="E8F4F8"/>
                </a:solidFill>
              </a:rPr>
              <a:t>42  (reproducible)</a:t>
            </a:r>
            <a:endParaRPr/>
          </a:p>
        </p:txBody>
      </p:sp>
      <p:sp>
        <p:nvSpPr>
          <p:cNvPr id="1295315528" name="TextBox 26"/>
          <p:cNvSpPr txBox="1"/>
          <p:nvPr/>
        </p:nvSpPr>
        <p:spPr bwMode="auto">
          <a:xfrm>
            <a:off x="411480" y="3794760"/>
            <a:ext cx="1828800" cy="246888"/>
          </a:xfrm>
          <a:prstGeom prst="rect">
            <a:avLst/>
          </a:prstGeom>
          <a:noFill/>
        </p:spPr>
        <p:txBody>
          <a:bodyPr wrap="square">
            <a:spAutoFit/>
          </a:bodyPr>
          <a:lstStyle/>
          <a:p>
            <a:pPr algn="l">
              <a:defRPr/>
            </a:pPr>
            <a:r>
              <a:rPr sz="950" b="0" i="0">
                <a:solidFill>
                  <a:srgbClr val="8AB4C8"/>
                </a:solidFill>
              </a:rPr>
              <a:t>Noise scale</a:t>
            </a:r>
            <a:endParaRPr/>
          </a:p>
        </p:txBody>
      </p:sp>
      <p:sp>
        <p:nvSpPr>
          <p:cNvPr id="1522351397" name="TextBox 27"/>
          <p:cNvSpPr txBox="1"/>
          <p:nvPr/>
        </p:nvSpPr>
        <p:spPr bwMode="auto">
          <a:xfrm>
            <a:off x="2286000" y="3794760"/>
            <a:ext cx="1737360" cy="246888"/>
          </a:xfrm>
          <a:prstGeom prst="rect">
            <a:avLst/>
          </a:prstGeom>
          <a:noFill/>
        </p:spPr>
        <p:txBody>
          <a:bodyPr wrap="square">
            <a:spAutoFit/>
          </a:bodyPr>
          <a:lstStyle/>
          <a:p>
            <a:pPr algn="l">
              <a:defRPr/>
            </a:pPr>
            <a:r>
              <a:rPr sz="950" b="1" i="0">
                <a:solidFill>
                  <a:srgbClr val="E8F4F8"/>
                </a:solidFill>
              </a:rPr>
              <a:t>0.15  (prevents perfect accuracy)</a:t>
            </a:r>
            <a:endParaRPr/>
          </a:p>
        </p:txBody>
      </p:sp>
      <p:sp>
        <p:nvSpPr>
          <p:cNvPr id="1157825084" name="TextBox 28"/>
          <p:cNvSpPr txBox="1"/>
          <p:nvPr/>
        </p:nvSpPr>
        <p:spPr bwMode="auto">
          <a:xfrm>
            <a:off x="411480" y="4059936"/>
            <a:ext cx="1828800" cy="246888"/>
          </a:xfrm>
          <a:prstGeom prst="rect">
            <a:avLst/>
          </a:prstGeom>
          <a:noFill/>
        </p:spPr>
        <p:txBody>
          <a:bodyPr wrap="square">
            <a:spAutoFit/>
          </a:bodyPr>
          <a:lstStyle/>
          <a:p>
            <a:pPr algn="l">
              <a:defRPr/>
            </a:pPr>
            <a:r>
              <a:rPr sz="950" b="0" i="0">
                <a:solidFill>
                  <a:srgbClr val="8AB4C8"/>
                </a:solidFill>
              </a:rPr>
              <a:t>CV folds</a:t>
            </a:r>
            <a:endParaRPr/>
          </a:p>
        </p:txBody>
      </p:sp>
      <p:sp>
        <p:nvSpPr>
          <p:cNvPr id="1879149797" name="TextBox 29"/>
          <p:cNvSpPr txBox="1"/>
          <p:nvPr/>
        </p:nvSpPr>
        <p:spPr bwMode="auto">
          <a:xfrm>
            <a:off x="2286000" y="4059936"/>
            <a:ext cx="1737360" cy="246888"/>
          </a:xfrm>
          <a:prstGeom prst="rect">
            <a:avLst/>
          </a:prstGeom>
          <a:noFill/>
        </p:spPr>
        <p:txBody>
          <a:bodyPr wrap="square">
            <a:spAutoFit/>
          </a:bodyPr>
          <a:lstStyle/>
          <a:p>
            <a:pPr algn="l">
              <a:defRPr/>
            </a:pPr>
            <a:r>
              <a:rPr sz="950" b="1" i="0">
                <a:solidFill>
                  <a:srgbClr val="E8F4F8"/>
                </a:solidFill>
              </a:rPr>
              <a:t>5  (stratified)</a:t>
            </a:r>
            <a:endParaRPr/>
          </a:p>
        </p:txBody>
      </p:sp>
      <p:sp>
        <p:nvSpPr>
          <p:cNvPr id="1268770866" name="TextBox 30"/>
          <p:cNvSpPr txBox="1"/>
          <p:nvPr/>
        </p:nvSpPr>
        <p:spPr bwMode="auto">
          <a:xfrm>
            <a:off x="411480" y="4325112"/>
            <a:ext cx="1828800" cy="246888"/>
          </a:xfrm>
          <a:prstGeom prst="rect">
            <a:avLst/>
          </a:prstGeom>
          <a:noFill/>
        </p:spPr>
        <p:txBody>
          <a:bodyPr wrap="square">
            <a:spAutoFit/>
          </a:bodyPr>
          <a:lstStyle/>
          <a:p>
            <a:pPr algn="l">
              <a:defRPr/>
            </a:pPr>
            <a:r>
              <a:rPr sz="950" b="0" i="0">
                <a:solidFill>
                  <a:srgbClr val="8AB4C8"/>
                </a:solidFill>
              </a:rPr>
              <a:t>Reef regions</a:t>
            </a:r>
            <a:endParaRPr/>
          </a:p>
        </p:txBody>
      </p:sp>
      <p:sp>
        <p:nvSpPr>
          <p:cNvPr id="438051814" name="TextBox 31"/>
          <p:cNvSpPr txBox="1"/>
          <p:nvPr/>
        </p:nvSpPr>
        <p:spPr bwMode="auto">
          <a:xfrm>
            <a:off x="2286000" y="4325112"/>
            <a:ext cx="1737360" cy="246888"/>
          </a:xfrm>
          <a:prstGeom prst="rect">
            <a:avLst/>
          </a:prstGeom>
          <a:noFill/>
        </p:spPr>
        <p:txBody>
          <a:bodyPr wrap="square">
            <a:spAutoFit/>
          </a:bodyPr>
          <a:lstStyle/>
          <a:p>
            <a:pPr algn="l">
              <a:defRPr/>
            </a:pPr>
            <a:r>
              <a:rPr sz="950" b="1" i="0">
                <a:solidFill>
                  <a:srgbClr val="E8F4F8"/>
                </a:solidFill>
              </a:rPr>
              <a:t>4  (Indian waters)</a:t>
            </a:r>
            <a:endParaRPr/>
          </a:p>
        </p:txBody>
      </p:sp>
      <p:sp>
        <p:nvSpPr>
          <p:cNvPr id="1277386479" name="TextBox 32"/>
          <p:cNvSpPr txBox="1"/>
          <p:nvPr/>
        </p:nvSpPr>
        <p:spPr bwMode="auto">
          <a:xfrm>
            <a:off x="411480" y="4590288"/>
            <a:ext cx="1828800" cy="246888"/>
          </a:xfrm>
          <a:prstGeom prst="rect">
            <a:avLst/>
          </a:prstGeom>
          <a:noFill/>
        </p:spPr>
        <p:txBody>
          <a:bodyPr wrap="square">
            <a:spAutoFit/>
          </a:bodyPr>
          <a:lstStyle/>
          <a:p>
            <a:pPr algn="l">
              <a:defRPr/>
            </a:pPr>
            <a:r>
              <a:rPr sz="950" b="0" i="0">
                <a:solidFill>
                  <a:srgbClr val="8AB4C8"/>
                </a:solidFill>
              </a:rPr>
              <a:t>Health classes</a:t>
            </a:r>
            <a:endParaRPr/>
          </a:p>
        </p:txBody>
      </p:sp>
      <p:sp>
        <p:nvSpPr>
          <p:cNvPr id="720835959" name="TextBox 33"/>
          <p:cNvSpPr txBox="1"/>
          <p:nvPr/>
        </p:nvSpPr>
        <p:spPr bwMode="auto">
          <a:xfrm>
            <a:off x="2286000" y="4590288"/>
            <a:ext cx="1737360" cy="246888"/>
          </a:xfrm>
          <a:prstGeom prst="rect">
            <a:avLst/>
          </a:prstGeom>
          <a:noFill/>
        </p:spPr>
        <p:txBody>
          <a:bodyPr wrap="square">
            <a:spAutoFit/>
          </a:bodyPr>
          <a:lstStyle/>
          <a:p>
            <a:pPr algn="l">
              <a:defRPr/>
            </a:pPr>
            <a:r>
              <a:rPr sz="950" b="1" i="0">
                <a:solidFill>
                  <a:srgbClr val="E8F4F8"/>
                </a:solidFill>
              </a:rPr>
              <a:t>4</a:t>
            </a:r>
            <a:endParaRPr/>
          </a:p>
        </p:txBody>
      </p:sp>
      <p:sp>
        <p:nvSpPr>
          <p:cNvPr id="644618535" name="TextBox 34"/>
          <p:cNvSpPr txBox="1"/>
          <p:nvPr/>
        </p:nvSpPr>
        <p:spPr bwMode="auto">
          <a:xfrm>
            <a:off x="411480" y="4855464"/>
            <a:ext cx="1828800" cy="246888"/>
          </a:xfrm>
          <a:prstGeom prst="rect">
            <a:avLst/>
          </a:prstGeom>
          <a:noFill/>
        </p:spPr>
        <p:txBody>
          <a:bodyPr wrap="square">
            <a:spAutoFit/>
          </a:bodyPr>
          <a:lstStyle/>
          <a:p>
            <a:pPr algn="l">
              <a:defRPr/>
            </a:pPr>
            <a:r>
              <a:rPr sz="950" b="0" i="0">
                <a:solidFill>
                  <a:srgbClr val="8AB4C8"/>
                </a:solidFill>
              </a:rPr>
              <a:t>Restoration classes</a:t>
            </a:r>
            <a:endParaRPr/>
          </a:p>
        </p:txBody>
      </p:sp>
      <p:sp>
        <p:nvSpPr>
          <p:cNvPr id="193699991" name="TextBox 35"/>
          <p:cNvSpPr txBox="1"/>
          <p:nvPr/>
        </p:nvSpPr>
        <p:spPr bwMode="auto">
          <a:xfrm>
            <a:off x="2286000" y="4855464"/>
            <a:ext cx="1737360" cy="246888"/>
          </a:xfrm>
          <a:prstGeom prst="rect">
            <a:avLst/>
          </a:prstGeom>
          <a:noFill/>
        </p:spPr>
        <p:txBody>
          <a:bodyPr wrap="square">
            <a:spAutoFit/>
          </a:bodyPr>
          <a:lstStyle/>
          <a:p>
            <a:pPr algn="l">
              <a:defRPr/>
            </a:pPr>
            <a:r>
              <a:rPr sz="950" b="1" i="0">
                <a:solidFill>
                  <a:srgbClr val="E8F4F8"/>
                </a:solidFill>
              </a:rPr>
              <a:t>3</a:t>
            </a:r>
            <a:endParaRPr/>
          </a:p>
        </p:txBody>
      </p:sp>
      <p:sp>
        <p:nvSpPr>
          <p:cNvPr id="678196188" name="TextBox 36"/>
          <p:cNvSpPr txBox="1"/>
          <p:nvPr/>
        </p:nvSpPr>
        <p:spPr bwMode="auto">
          <a:xfrm>
            <a:off x="411480" y="5120640"/>
            <a:ext cx="1828800" cy="246888"/>
          </a:xfrm>
          <a:prstGeom prst="rect">
            <a:avLst/>
          </a:prstGeom>
          <a:noFill/>
        </p:spPr>
        <p:txBody>
          <a:bodyPr wrap="square">
            <a:spAutoFit/>
          </a:bodyPr>
          <a:lstStyle/>
          <a:p>
            <a:pPr algn="l">
              <a:defRPr/>
            </a:pPr>
            <a:r>
              <a:rPr sz="950" b="0" i="0">
                <a:solidFill>
                  <a:srgbClr val="8AB4C8"/>
                </a:solidFill>
              </a:rPr>
              <a:t>Numeric features</a:t>
            </a:r>
            <a:endParaRPr/>
          </a:p>
        </p:txBody>
      </p:sp>
      <p:sp>
        <p:nvSpPr>
          <p:cNvPr id="1562792476" name="TextBox 37"/>
          <p:cNvSpPr txBox="1"/>
          <p:nvPr/>
        </p:nvSpPr>
        <p:spPr bwMode="auto">
          <a:xfrm>
            <a:off x="2286000" y="5120640"/>
            <a:ext cx="1737360" cy="246888"/>
          </a:xfrm>
          <a:prstGeom prst="rect">
            <a:avLst/>
          </a:prstGeom>
          <a:noFill/>
        </p:spPr>
        <p:txBody>
          <a:bodyPr wrap="square">
            <a:spAutoFit/>
          </a:bodyPr>
          <a:lstStyle/>
          <a:p>
            <a:pPr algn="l">
              <a:defRPr/>
            </a:pPr>
            <a:r>
              <a:rPr sz="950" b="1" i="0">
                <a:solidFill>
                  <a:srgbClr val="E8F4F8"/>
                </a:solidFill>
              </a:rPr>
              <a:t>15</a:t>
            </a:r>
            <a:endParaRPr/>
          </a:p>
        </p:txBody>
      </p:sp>
      <p:sp>
        <p:nvSpPr>
          <p:cNvPr id="881683222" name="TextBox 38"/>
          <p:cNvSpPr txBox="1"/>
          <p:nvPr/>
        </p:nvSpPr>
        <p:spPr bwMode="auto">
          <a:xfrm>
            <a:off x="411480" y="5385816"/>
            <a:ext cx="1828800" cy="246888"/>
          </a:xfrm>
          <a:prstGeom prst="rect">
            <a:avLst/>
          </a:prstGeom>
          <a:noFill/>
        </p:spPr>
        <p:txBody>
          <a:bodyPr wrap="square">
            <a:spAutoFit/>
          </a:bodyPr>
          <a:lstStyle/>
          <a:p>
            <a:pPr algn="l">
              <a:defRPr/>
            </a:pPr>
            <a:r>
              <a:rPr sz="950" b="0" i="0">
                <a:solidFill>
                  <a:srgbClr val="8AB4C8"/>
                </a:solidFill>
              </a:rPr>
              <a:t>Categorical features</a:t>
            </a:r>
            <a:endParaRPr/>
          </a:p>
        </p:txBody>
      </p:sp>
      <p:sp>
        <p:nvSpPr>
          <p:cNvPr id="1013048795" name="TextBox 39"/>
          <p:cNvSpPr txBox="1"/>
          <p:nvPr/>
        </p:nvSpPr>
        <p:spPr bwMode="auto">
          <a:xfrm>
            <a:off x="2286000" y="5385816"/>
            <a:ext cx="1737360" cy="246888"/>
          </a:xfrm>
          <a:prstGeom prst="rect">
            <a:avLst/>
          </a:prstGeom>
          <a:noFill/>
        </p:spPr>
        <p:txBody>
          <a:bodyPr wrap="square">
            <a:spAutoFit/>
          </a:bodyPr>
          <a:lstStyle/>
          <a:p>
            <a:pPr algn="l">
              <a:defRPr/>
            </a:pPr>
            <a:r>
              <a:rPr sz="950" b="1" i="0">
                <a:solidFill>
                  <a:srgbClr val="E8F4F8"/>
                </a:solidFill>
              </a:rPr>
              <a:t>1  (region)</a:t>
            </a:r>
            <a:endParaRPr/>
          </a:p>
        </p:txBody>
      </p:sp>
      <p:sp>
        <p:nvSpPr>
          <p:cNvPr id="2134689420" name="TextBox 40"/>
          <p:cNvSpPr txBox="1"/>
          <p:nvPr/>
        </p:nvSpPr>
        <p:spPr bwMode="auto">
          <a:xfrm>
            <a:off x="411480" y="5650992"/>
            <a:ext cx="1828800" cy="246888"/>
          </a:xfrm>
          <a:prstGeom prst="rect">
            <a:avLst/>
          </a:prstGeom>
          <a:noFill/>
        </p:spPr>
        <p:txBody>
          <a:bodyPr wrap="square">
            <a:spAutoFit/>
          </a:bodyPr>
          <a:lstStyle/>
          <a:p>
            <a:pPr algn="l">
              <a:defRPr/>
            </a:pPr>
            <a:r>
              <a:rPr sz="950" b="0" i="0">
                <a:solidFill>
                  <a:srgbClr val="8AB4C8"/>
                </a:solidFill>
              </a:rPr>
              <a:t>Derived features</a:t>
            </a:r>
            <a:endParaRPr/>
          </a:p>
        </p:txBody>
      </p:sp>
      <p:sp>
        <p:nvSpPr>
          <p:cNvPr id="427832355" name="TextBox 41"/>
          <p:cNvSpPr txBox="1"/>
          <p:nvPr/>
        </p:nvSpPr>
        <p:spPr bwMode="auto">
          <a:xfrm>
            <a:off x="2286000" y="5650992"/>
            <a:ext cx="1737360" cy="246888"/>
          </a:xfrm>
          <a:prstGeom prst="rect">
            <a:avLst/>
          </a:prstGeom>
          <a:noFill/>
        </p:spPr>
        <p:txBody>
          <a:bodyPr wrap="square">
            <a:spAutoFit/>
          </a:bodyPr>
          <a:lstStyle/>
          <a:p>
            <a:pPr algn="l">
              <a:defRPr/>
            </a:pPr>
            <a:r>
              <a:rPr sz="950" b="1" i="0">
                <a:solidFill>
                  <a:srgbClr val="E8F4F8"/>
                </a:solidFill>
              </a:rPr>
              <a:t>6  (engineered)</a:t>
            </a:r>
            <a:endParaRPr/>
          </a:p>
        </p:txBody>
      </p:sp>
      <p:sp>
        <p:nvSpPr>
          <p:cNvPr id="658799521" name="Rectangle 42"/>
          <p:cNvSpPr/>
          <p:nvPr/>
        </p:nvSpPr>
        <p:spPr bwMode="auto">
          <a:xfrm>
            <a:off x="4297680" y="1170432"/>
            <a:ext cx="3657600" cy="2468880"/>
          </a:xfrm>
          <a:prstGeom prst="rect">
            <a:avLst/>
          </a:prstGeom>
          <a:solidFill>
            <a:srgbClr val="122A4A"/>
          </a:solidFill>
          <a:ln w="1016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5985760" name="TextBox 43"/>
          <p:cNvSpPr txBox="1"/>
          <p:nvPr/>
        </p:nvSpPr>
        <p:spPr bwMode="auto">
          <a:xfrm>
            <a:off x="4480560" y="1243584"/>
            <a:ext cx="3383280" cy="347472"/>
          </a:xfrm>
          <a:prstGeom prst="rect">
            <a:avLst/>
          </a:prstGeom>
          <a:noFill/>
        </p:spPr>
        <p:txBody>
          <a:bodyPr wrap="square">
            <a:spAutoFit/>
          </a:bodyPr>
          <a:lstStyle/>
          <a:p>
            <a:pPr algn="l">
              <a:defRPr/>
            </a:pPr>
            <a:r>
              <a:rPr sz="1200" b="1" i="0">
                <a:solidFill>
                  <a:srgbClr val="00B4D8"/>
                </a:solidFill>
              </a:rPr>
              <a:t>Reef Health Classes (4)</a:t>
            </a:r>
            <a:endParaRPr/>
          </a:p>
        </p:txBody>
      </p:sp>
      <p:sp>
        <p:nvSpPr>
          <p:cNvPr id="757393400" name="Rectangle 44"/>
          <p:cNvSpPr/>
          <p:nvPr/>
        </p:nvSpPr>
        <p:spPr bwMode="auto">
          <a:xfrm>
            <a:off x="4434840" y="1709928"/>
            <a:ext cx="128016" cy="164592"/>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6441512" name="TextBox 45"/>
          <p:cNvSpPr txBox="1"/>
          <p:nvPr/>
        </p:nvSpPr>
        <p:spPr bwMode="auto">
          <a:xfrm>
            <a:off x="4617720" y="1673352"/>
            <a:ext cx="3200400" cy="256032"/>
          </a:xfrm>
          <a:prstGeom prst="rect">
            <a:avLst/>
          </a:prstGeom>
          <a:noFill/>
        </p:spPr>
        <p:txBody>
          <a:bodyPr wrap="square">
            <a:spAutoFit/>
          </a:bodyPr>
          <a:lstStyle/>
          <a:p>
            <a:pPr algn="l">
              <a:defRPr/>
            </a:pPr>
            <a:r>
              <a:rPr sz="1100" b="0" i="0">
                <a:solidFill>
                  <a:srgbClr val="E8F4F8"/>
                </a:solidFill>
              </a:rPr>
              <a:t>healthy</a:t>
            </a:r>
            <a:endParaRPr/>
          </a:p>
        </p:txBody>
      </p:sp>
      <p:sp>
        <p:nvSpPr>
          <p:cNvPr id="1876482263" name="Rectangle 46"/>
          <p:cNvSpPr/>
          <p:nvPr/>
        </p:nvSpPr>
        <p:spPr bwMode="auto">
          <a:xfrm>
            <a:off x="4434840" y="2057400"/>
            <a:ext cx="128016" cy="164592"/>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07961131" name="TextBox 47"/>
          <p:cNvSpPr txBox="1"/>
          <p:nvPr/>
        </p:nvSpPr>
        <p:spPr bwMode="auto">
          <a:xfrm>
            <a:off x="4617720" y="2020824"/>
            <a:ext cx="3200400" cy="256032"/>
          </a:xfrm>
          <a:prstGeom prst="rect">
            <a:avLst/>
          </a:prstGeom>
          <a:noFill/>
        </p:spPr>
        <p:txBody>
          <a:bodyPr wrap="square">
            <a:spAutoFit/>
          </a:bodyPr>
          <a:lstStyle/>
          <a:p>
            <a:pPr algn="l">
              <a:defRPr/>
            </a:pPr>
            <a:r>
              <a:rPr sz="1100" b="0" i="0">
                <a:solidFill>
                  <a:srgbClr val="E8F4F8"/>
                </a:solidFill>
              </a:rPr>
              <a:t>stressed</a:t>
            </a:r>
            <a:endParaRPr/>
          </a:p>
        </p:txBody>
      </p:sp>
      <p:sp>
        <p:nvSpPr>
          <p:cNvPr id="1347159709" name="Rectangle 48"/>
          <p:cNvSpPr/>
          <p:nvPr/>
        </p:nvSpPr>
        <p:spPr bwMode="auto">
          <a:xfrm>
            <a:off x="4434840" y="2404872"/>
            <a:ext cx="128016" cy="164592"/>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8982741" name="TextBox 49"/>
          <p:cNvSpPr txBox="1"/>
          <p:nvPr/>
        </p:nvSpPr>
        <p:spPr bwMode="auto">
          <a:xfrm>
            <a:off x="4617720" y="2368296"/>
            <a:ext cx="3200400" cy="256032"/>
          </a:xfrm>
          <a:prstGeom prst="rect">
            <a:avLst/>
          </a:prstGeom>
          <a:noFill/>
        </p:spPr>
        <p:txBody>
          <a:bodyPr wrap="square">
            <a:spAutoFit/>
          </a:bodyPr>
          <a:lstStyle/>
          <a:p>
            <a:pPr algn="l">
              <a:defRPr/>
            </a:pPr>
            <a:r>
              <a:rPr sz="1100" b="0" i="0">
                <a:solidFill>
                  <a:srgbClr val="E8F4F8"/>
                </a:solidFill>
              </a:rPr>
              <a:t>bleached</a:t>
            </a:r>
            <a:endParaRPr/>
          </a:p>
        </p:txBody>
      </p:sp>
      <p:sp>
        <p:nvSpPr>
          <p:cNvPr id="971627183" name="Rectangle 50"/>
          <p:cNvSpPr/>
          <p:nvPr/>
        </p:nvSpPr>
        <p:spPr bwMode="auto">
          <a:xfrm>
            <a:off x="4434840" y="2752343"/>
            <a:ext cx="128016" cy="164592"/>
          </a:xfrm>
          <a:prstGeom prst="rect">
            <a:avLst/>
          </a:prstGeom>
          <a:solidFill>
            <a:srgbClr val="CC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3663142" name="TextBox 51"/>
          <p:cNvSpPr txBox="1"/>
          <p:nvPr/>
        </p:nvSpPr>
        <p:spPr bwMode="auto">
          <a:xfrm>
            <a:off x="4617720" y="2715768"/>
            <a:ext cx="3200400" cy="256032"/>
          </a:xfrm>
          <a:prstGeom prst="rect">
            <a:avLst/>
          </a:prstGeom>
          <a:noFill/>
        </p:spPr>
        <p:txBody>
          <a:bodyPr wrap="square">
            <a:spAutoFit/>
          </a:bodyPr>
          <a:lstStyle/>
          <a:p>
            <a:pPr algn="l">
              <a:defRPr/>
            </a:pPr>
            <a:r>
              <a:rPr sz="1100" b="0" i="0">
                <a:solidFill>
                  <a:srgbClr val="E8F4F8"/>
                </a:solidFill>
              </a:rPr>
              <a:t>severely_degraded</a:t>
            </a:r>
            <a:endParaRPr/>
          </a:p>
        </p:txBody>
      </p:sp>
      <p:sp>
        <p:nvSpPr>
          <p:cNvPr id="688181819" name="Rectangle 52"/>
          <p:cNvSpPr/>
          <p:nvPr/>
        </p:nvSpPr>
        <p:spPr bwMode="auto">
          <a:xfrm>
            <a:off x="4297680" y="3767328"/>
            <a:ext cx="3657600" cy="2194560"/>
          </a:xfrm>
          <a:prstGeom prst="rect">
            <a:avLst/>
          </a:prstGeom>
          <a:solidFill>
            <a:srgbClr val="122A4A"/>
          </a:solidFill>
          <a:ln w="1016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953387" name="TextBox 53"/>
          <p:cNvSpPr txBox="1"/>
          <p:nvPr/>
        </p:nvSpPr>
        <p:spPr bwMode="auto">
          <a:xfrm>
            <a:off x="4480560" y="3840480"/>
            <a:ext cx="3383280" cy="347472"/>
          </a:xfrm>
          <a:prstGeom prst="rect">
            <a:avLst/>
          </a:prstGeom>
          <a:noFill/>
        </p:spPr>
        <p:txBody>
          <a:bodyPr wrap="square">
            <a:spAutoFit/>
          </a:bodyPr>
          <a:lstStyle/>
          <a:p>
            <a:pPr algn="l">
              <a:defRPr/>
            </a:pPr>
            <a:r>
              <a:rPr sz="1200" b="1" i="0">
                <a:solidFill>
                  <a:srgbClr val="1B8A8F"/>
                </a:solidFill>
              </a:rPr>
              <a:t>Restoration Suitability Classes (3)</a:t>
            </a:r>
            <a:endParaRPr/>
          </a:p>
        </p:txBody>
      </p:sp>
      <p:sp>
        <p:nvSpPr>
          <p:cNvPr id="905351655" name="Rectangle 54"/>
          <p:cNvSpPr/>
          <p:nvPr/>
        </p:nvSpPr>
        <p:spPr bwMode="auto">
          <a:xfrm>
            <a:off x="4434840" y="4288536"/>
            <a:ext cx="128016" cy="164592"/>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1986913" name="TextBox 55"/>
          <p:cNvSpPr txBox="1"/>
          <p:nvPr/>
        </p:nvSpPr>
        <p:spPr bwMode="auto">
          <a:xfrm>
            <a:off x="4617720" y="4251960"/>
            <a:ext cx="3200400" cy="256032"/>
          </a:xfrm>
          <a:prstGeom prst="rect">
            <a:avLst/>
          </a:prstGeom>
          <a:noFill/>
        </p:spPr>
        <p:txBody>
          <a:bodyPr wrap="square">
            <a:spAutoFit/>
          </a:bodyPr>
          <a:lstStyle/>
          <a:p>
            <a:pPr algn="l">
              <a:defRPr/>
            </a:pPr>
            <a:r>
              <a:rPr sz="1100" b="0" i="0">
                <a:solidFill>
                  <a:srgbClr val="E8F4F8"/>
                </a:solidFill>
              </a:rPr>
              <a:t>suitable</a:t>
            </a:r>
            <a:endParaRPr/>
          </a:p>
        </p:txBody>
      </p:sp>
      <p:sp>
        <p:nvSpPr>
          <p:cNvPr id="1680771816" name="Rectangle 56"/>
          <p:cNvSpPr/>
          <p:nvPr/>
        </p:nvSpPr>
        <p:spPr bwMode="auto">
          <a:xfrm>
            <a:off x="4434840" y="4636008"/>
            <a:ext cx="128016" cy="164592"/>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43451514" name="TextBox 57"/>
          <p:cNvSpPr txBox="1"/>
          <p:nvPr/>
        </p:nvSpPr>
        <p:spPr bwMode="auto">
          <a:xfrm>
            <a:off x="4617720" y="4599432"/>
            <a:ext cx="3200400" cy="256032"/>
          </a:xfrm>
          <a:prstGeom prst="rect">
            <a:avLst/>
          </a:prstGeom>
          <a:noFill/>
        </p:spPr>
        <p:txBody>
          <a:bodyPr wrap="square">
            <a:spAutoFit/>
          </a:bodyPr>
          <a:lstStyle/>
          <a:p>
            <a:pPr algn="l">
              <a:defRPr/>
            </a:pPr>
            <a:r>
              <a:rPr sz="1100" b="0" i="0">
                <a:solidFill>
                  <a:srgbClr val="E8F4F8"/>
                </a:solidFill>
              </a:rPr>
              <a:t>moderately_suitable</a:t>
            </a:r>
            <a:endParaRPr/>
          </a:p>
        </p:txBody>
      </p:sp>
      <p:sp>
        <p:nvSpPr>
          <p:cNvPr id="1777253048" name="Rectangle 58"/>
          <p:cNvSpPr/>
          <p:nvPr/>
        </p:nvSpPr>
        <p:spPr bwMode="auto">
          <a:xfrm>
            <a:off x="4434840" y="4983480"/>
            <a:ext cx="128016" cy="164592"/>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047936" name="TextBox 59"/>
          <p:cNvSpPr txBox="1"/>
          <p:nvPr/>
        </p:nvSpPr>
        <p:spPr bwMode="auto">
          <a:xfrm>
            <a:off x="4617720" y="4946904"/>
            <a:ext cx="3200400" cy="256032"/>
          </a:xfrm>
          <a:prstGeom prst="rect">
            <a:avLst/>
          </a:prstGeom>
          <a:noFill/>
        </p:spPr>
        <p:txBody>
          <a:bodyPr wrap="square">
            <a:spAutoFit/>
          </a:bodyPr>
          <a:lstStyle/>
          <a:p>
            <a:pPr algn="l">
              <a:defRPr/>
            </a:pPr>
            <a:r>
              <a:rPr sz="1100" b="0" i="0">
                <a:solidFill>
                  <a:srgbClr val="E8F4F8"/>
                </a:solidFill>
              </a:rPr>
              <a:t>unsuitable</a:t>
            </a:r>
            <a:endParaRPr/>
          </a:p>
        </p:txBody>
      </p:sp>
      <p:pic>
        <p:nvPicPr>
          <p:cNvPr id="1780724719" name="Picture 60" descr="image.png"/>
          <p:cNvPicPr>
            <a:picLocks noChangeAspect="1"/>
          </p:cNvPicPr>
          <p:nvPr/>
        </p:nvPicPr>
        <p:blipFill rotWithShape="1">
          <a:blip r:embed="rId3"/>
          <a:stretch/>
        </p:blipFill>
        <p:spPr bwMode="auto">
          <a:xfrm>
            <a:off x="8092440" y="1170432"/>
            <a:ext cx="3840480" cy="516636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158179450"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0851017"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Preprocessing and Feature Transformation</a:t>
            </a:r>
            <a:endParaRPr/>
          </a:p>
        </p:txBody>
      </p:sp>
      <p:sp>
        <p:nvSpPr>
          <p:cNvPr id="518261325"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Training-only preprocessor fitting — preventing test-data leakage</a:t>
            </a:r>
            <a:endParaRPr/>
          </a:p>
        </p:txBody>
      </p:sp>
      <p:sp>
        <p:nvSpPr>
          <p:cNvPr id="2133152784"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75335879"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2378556"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1860386107"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7</a:t>
            </a:r>
            <a:endParaRPr/>
          </a:p>
        </p:txBody>
      </p:sp>
      <p:pic>
        <p:nvPicPr>
          <p:cNvPr id="321701248" name="Picture 8" descr="image.png"/>
          <p:cNvPicPr>
            <a:picLocks noChangeAspect="1"/>
          </p:cNvPicPr>
          <p:nvPr/>
        </p:nvPicPr>
        <p:blipFill rotWithShape="1">
          <a:blip r:embed="rId3"/>
          <a:stretch/>
        </p:blipFill>
        <p:spPr bwMode="auto">
          <a:xfrm>
            <a:off x="228600" y="1115568"/>
            <a:ext cx="11750040" cy="3474720"/>
          </a:xfrm>
          <a:prstGeom prst="rect">
            <a:avLst/>
          </a:prstGeom>
        </p:spPr>
      </p:pic>
      <p:sp>
        <p:nvSpPr>
          <p:cNvPr id="550646417" name="Rectangle 9"/>
          <p:cNvSpPr/>
          <p:nvPr/>
        </p:nvSpPr>
        <p:spPr bwMode="auto">
          <a:xfrm>
            <a:off x="256032" y="4709160"/>
            <a:ext cx="5577840" cy="1536192"/>
          </a:xfrm>
          <a:prstGeom prst="rect">
            <a:avLst/>
          </a:prstGeom>
          <a:solidFill>
            <a:srgbClr val="122A4A"/>
          </a:solidFill>
          <a:ln w="1016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2204697" name="TextBox 10"/>
          <p:cNvSpPr txBox="1"/>
          <p:nvPr/>
        </p:nvSpPr>
        <p:spPr bwMode="auto">
          <a:xfrm>
            <a:off x="393192" y="4773168"/>
            <a:ext cx="5303520" cy="292608"/>
          </a:xfrm>
          <a:prstGeom prst="rect">
            <a:avLst/>
          </a:prstGeom>
          <a:noFill/>
        </p:spPr>
        <p:txBody>
          <a:bodyPr wrap="square">
            <a:spAutoFit/>
          </a:bodyPr>
          <a:lstStyle/>
          <a:p>
            <a:pPr algn="l">
              <a:defRPr/>
            </a:pPr>
            <a:r>
              <a:rPr sz="1100" b="1" i="0">
                <a:solidFill>
                  <a:srgbClr val="00B4D8"/>
                </a:solidFill>
              </a:rPr>
              <a:t>Numerical Pipeline (15 features)</a:t>
            </a:r>
            <a:endParaRPr/>
          </a:p>
        </p:txBody>
      </p:sp>
      <p:sp>
        <p:nvSpPr>
          <p:cNvPr id="1867255000" name="TextBox 11"/>
          <p:cNvSpPr txBox="1"/>
          <p:nvPr/>
        </p:nvSpPr>
        <p:spPr bwMode="auto">
          <a:xfrm>
            <a:off x="393192" y="5102352"/>
            <a:ext cx="5303520" cy="237744"/>
          </a:xfrm>
          <a:prstGeom prst="rect">
            <a:avLst/>
          </a:prstGeom>
          <a:noFill/>
        </p:spPr>
        <p:txBody>
          <a:bodyPr wrap="square">
            <a:spAutoFit/>
          </a:bodyPr>
          <a:lstStyle/>
          <a:p>
            <a:pPr algn="l">
              <a:defRPr/>
            </a:pPr>
            <a:r>
              <a:rPr sz="950" b="0" i="0">
                <a:solidFill>
                  <a:srgbClr val="E8F4F8"/>
                </a:solidFill>
              </a:rPr>
              <a:t>1. SimpleImputer — median strategy (robust to skew)</a:t>
            </a:r>
            <a:endParaRPr/>
          </a:p>
        </p:txBody>
      </p:sp>
      <p:sp>
        <p:nvSpPr>
          <p:cNvPr id="795683802" name="TextBox 12"/>
          <p:cNvSpPr txBox="1"/>
          <p:nvPr/>
        </p:nvSpPr>
        <p:spPr bwMode="auto">
          <a:xfrm>
            <a:off x="393192" y="5335524"/>
            <a:ext cx="5303520" cy="237744"/>
          </a:xfrm>
          <a:prstGeom prst="rect">
            <a:avLst/>
          </a:prstGeom>
          <a:noFill/>
        </p:spPr>
        <p:txBody>
          <a:bodyPr wrap="square">
            <a:spAutoFit/>
          </a:bodyPr>
          <a:lstStyle/>
          <a:p>
            <a:pPr algn="l">
              <a:defRPr/>
            </a:pPr>
            <a:r>
              <a:rPr sz="950" b="0" i="0">
                <a:solidFill>
                  <a:srgbClr val="E8F4F8"/>
                </a:solidFill>
              </a:rPr>
              <a:t>2. StandardScaler — zero mean, unit variance</a:t>
            </a:r>
            <a:endParaRPr/>
          </a:p>
        </p:txBody>
      </p:sp>
      <p:sp>
        <p:nvSpPr>
          <p:cNvPr id="1185279005" name="TextBox 13"/>
          <p:cNvSpPr txBox="1"/>
          <p:nvPr/>
        </p:nvSpPr>
        <p:spPr bwMode="auto">
          <a:xfrm>
            <a:off x="393192" y="5568696"/>
            <a:ext cx="5303520" cy="237744"/>
          </a:xfrm>
          <a:prstGeom prst="rect">
            <a:avLst/>
          </a:prstGeom>
          <a:noFill/>
        </p:spPr>
        <p:txBody>
          <a:bodyPr wrap="square">
            <a:spAutoFit/>
          </a:bodyPr>
          <a:lstStyle/>
          <a:p>
            <a:pPr algn="l">
              <a:defRPr/>
            </a:pPr>
            <a:r>
              <a:rPr sz="950" b="0" i="0">
                <a:solidFill>
                  <a:srgbClr val="E8F4F8"/>
                </a:solidFill>
              </a:rPr>
              <a:t>Handles: depth, temperature, pH, salinity, DO,</a:t>
            </a:r>
            <a:endParaRPr/>
          </a:p>
        </p:txBody>
      </p:sp>
      <p:sp>
        <p:nvSpPr>
          <p:cNvPr id="1951846534" name="TextBox 14"/>
          <p:cNvSpPr txBox="1"/>
          <p:nvPr/>
        </p:nvSpPr>
        <p:spPr bwMode="auto">
          <a:xfrm>
            <a:off x="393192" y="5801868"/>
            <a:ext cx="5303520" cy="237744"/>
          </a:xfrm>
          <a:prstGeom prst="rect">
            <a:avLst/>
          </a:prstGeom>
          <a:noFill/>
        </p:spPr>
        <p:txBody>
          <a:bodyPr wrap="square">
            <a:spAutoFit/>
          </a:bodyPr>
          <a:lstStyle/>
          <a:p>
            <a:pPr algn="l">
              <a:defRPr/>
            </a:pPr>
            <a:r>
              <a:rPr sz="950" b="0" i="0">
                <a:solidFill>
                  <a:srgbClr val="E8F4F8"/>
                </a:solidFill>
              </a:rPr>
              <a:t>turbidity, light, current, sonar, rugosity,</a:t>
            </a:r>
            <a:endParaRPr/>
          </a:p>
        </p:txBody>
      </p:sp>
      <p:sp>
        <p:nvSpPr>
          <p:cNvPr id="114086819" name="TextBox 15"/>
          <p:cNvSpPr txBox="1"/>
          <p:nvPr/>
        </p:nvSpPr>
        <p:spPr bwMode="auto">
          <a:xfrm>
            <a:off x="393192" y="6035039"/>
            <a:ext cx="5303520" cy="237744"/>
          </a:xfrm>
          <a:prstGeom prst="rect">
            <a:avLst/>
          </a:prstGeom>
          <a:noFill/>
        </p:spPr>
        <p:txBody>
          <a:bodyPr wrap="square">
            <a:spAutoFit/>
          </a:bodyPr>
          <a:lstStyle/>
          <a:p>
            <a:pPr algn="l">
              <a:defRPr/>
            </a:pPr>
            <a:r>
              <a:rPr sz="950" b="0" i="0">
                <a:solidFill>
                  <a:srgbClr val="E8F4F8"/>
                </a:solidFill>
              </a:rPr>
              <a:t>hard_substrate, ACI, coral cover, bleaching, disease</a:t>
            </a:r>
            <a:endParaRPr/>
          </a:p>
        </p:txBody>
      </p:sp>
      <p:sp>
        <p:nvSpPr>
          <p:cNvPr id="3141153" name="Rectangle 16"/>
          <p:cNvSpPr/>
          <p:nvPr/>
        </p:nvSpPr>
        <p:spPr bwMode="auto">
          <a:xfrm>
            <a:off x="6080760" y="4709160"/>
            <a:ext cx="5577840" cy="1536192"/>
          </a:xfrm>
          <a:prstGeom prst="rect">
            <a:avLst/>
          </a:prstGeom>
          <a:solidFill>
            <a:srgbClr val="122A4A"/>
          </a:solidFill>
          <a:ln w="1016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2689239" name="TextBox 17"/>
          <p:cNvSpPr txBox="1"/>
          <p:nvPr/>
        </p:nvSpPr>
        <p:spPr bwMode="auto">
          <a:xfrm>
            <a:off x="6217920" y="4773168"/>
            <a:ext cx="5303520" cy="292608"/>
          </a:xfrm>
          <a:prstGeom prst="rect">
            <a:avLst/>
          </a:prstGeom>
          <a:noFill/>
        </p:spPr>
        <p:txBody>
          <a:bodyPr wrap="square">
            <a:spAutoFit/>
          </a:bodyPr>
          <a:lstStyle/>
          <a:p>
            <a:pPr algn="l">
              <a:defRPr/>
            </a:pPr>
            <a:r>
              <a:rPr sz="1100" b="1" i="0">
                <a:solidFill>
                  <a:srgbClr val="1B8A8F"/>
                </a:solidFill>
              </a:rPr>
              <a:t>Categorical Pipeline (1 feature: region)</a:t>
            </a:r>
            <a:endParaRPr/>
          </a:p>
        </p:txBody>
      </p:sp>
      <p:sp>
        <p:nvSpPr>
          <p:cNvPr id="1983877990" name="TextBox 18"/>
          <p:cNvSpPr txBox="1"/>
          <p:nvPr/>
        </p:nvSpPr>
        <p:spPr bwMode="auto">
          <a:xfrm>
            <a:off x="6217920" y="5102352"/>
            <a:ext cx="5303520" cy="237744"/>
          </a:xfrm>
          <a:prstGeom prst="rect">
            <a:avLst/>
          </a:prstGeom>
          <a:noFill/>
        </p:spPr>
        <p:txBody>
          <a:bodyPr wrap="square">
            <a:spAutoFit/>
          </a:bodyPr>
          <a:lstStyle/>
          <a:p>
            <a:pPr algn="l">
              <a:defRPr/>
            </a:pPr>
            <a:r>
              <a:rPr sz="950" b="0" i="0">
                <a:solidFill>
                  <a:srgbClr val="E8F4F8"/>
                </a:solidFill>
              </a:rPr>
              <a:t>1. SimpleImputer — most_frequent strategy</a:t>
            </a:r>
            <a:endParaRPr/>
          </a:p>
        </p:txBody>
      </p:sp>
      <p:sp>
        <p:nvSpPr>
          <p:cNvPr id="297146667" name="TextBox 19"/>
          <p:cNvSpPr txBox="1"/>
          <p:nvPr/>
        </p:nvSpPr>
        <p:spPr bwMode="auto">
          <a:xfrm>
            <a:off x="6217920" y="5335524"/>
            <a:ext cx="5303520" cy="237744"/>
          </a:xfrm>
          <a:prstGeom prst="rect">
            <a:avLst/>
          </a:prstGeom>
          <a:noFill/>
        </p:spPr>
        <p:txBody>
          <a:bodyPr wrap="square">
            <a:spAutoFit/>
          </a:bodyPr>
          <a:lstStyle/>
          <a:p>
            <a:pPr algn="l">
              <a:defRPr/>
            </a:pPr>
            <a:r>
              <a:rPr sz="950" b="0" i="0">
                <a:solidFill>
                  <a:srgbClr val="E8F4F8"/>
                </a:solidFill>
              </a:rPr>
              <a:t>2. OneHotEncoder — 4 region values</a:t>
            </a:r>
            <a:endParaRPr/>
          </a:p>
        </p:txBody>
      </p:sp>
      <p:sp>
        <p:nvSpPr>
          <p:cNvPr id="1056506578" name="TextBox 20"/>
          <p:cNvSpPr txBox="1"/>
          <p:nvPr/>
        </p:nvSpPr>
        <p:spPr bwMode="auto">
          <a:xfrm>
            <a:off x="6217920" y="5568696"/>
            <a:ext cx="5303520" cy="237744"/>
          </a:xfrm>
          <a:prstGeom prst="rect">
            <a:avLst/>
          </a:prstGeom>
          <a:noFill/>
        </p:spPr>
        <p:txBody>
          <a:bodyPr wrap="square">
            <a:spAutoFit/>
          </a:bodyPr>
          <a:lstStyle/>
          <a:p>
            <a:pPr algn="l">
              <a:defRPr/>
            </a:pPr>
            <a:r>
              <a:rPr sz="950" b="0" i="0">
                <a:solidFill>
                  <a:srgbClr val="E8F4F8"/>
                </a:solidFill>
              </a:rPr>
              <a:t>   Lakshadweep, Gulf of Mannar,</a:t>
            </a:r>
            <a:endParaRPr/>
          </a:p>
        </p:txBody>
      </p:sp>
      <p:sp>
        <p:nvSpPr>
          <p:cNvPr id="340963892" name="TextBox 21"/>
          <p:cNvSpPr txBox="1"/>
          <p:nvPr/>
        </p:nvSpPr>
        <p:spPr bwMode="auto">
          <a:xfrm>
            <a:off x="6217920" y="5801868"/>
            <a:ext cx="5303520" cy="237744"/>
          </a:xfrm>
          <a:prstGeom prst="rect">
            <a:avLst/>
          </a:prstGeom>
          <a:noFill/>
        </p:spPr>
        <p:txBody>
          <a:bodyPr wrap="square">
            <a:spAutoFit/>
          </a:bodyPr>
          <a:lstStyle/>
          <a:p>
            <a:pPr algn="l">
              <a:defRPr/>
            </a:pPr>
            <a:r>
              <a:rPr sz="950" b="0" i="0">
                <a:solidFill>
                  <a:srgbClr val="E8F4F8"/>
                </a:solidFill>
              </a:rPr>
              <a:t>   Gulf of Kutch, Andaman &amp; Nicobar Islands</a:t>
            </a:r>
            <a:endParaRPr/>
          </a:p>
        </p:txBody>
      </p:sp>
      <p:sp>
        <p:nvSpPr>
          <p:cNvPr id="1611175310" name="TextBox 22"/>
          <p:cNvSpPr txBox="1"/>
          <p:nvPr/>
        </p:nvSpPr>
        <p:spPr bwMode="auto">
          <a:xfrm>
            <a:off x="6217920" y="6035039"/>
            <a:ext cx="5303520" cy="237744"/>
          </a:xfrm>
          <a:prstGeom prst="rect">
            <a:avLst/>
          </a:prstGeom>
          <a:noFill/>
        </p:spPr>
        <p:txBody>
          <a:bodyPr wrap="square">
            <a:spAutoFit/>
          </a:bodyPr>
          <a:lstStyle/>
          <a:p>
            <a:pPr algn="l">
              <a:defRPr/>
            </a:pPr>
            <a:r>
              <a:rPr sz="950" b="0" i="0">
                <a:solidFill>
                  <a:srgbClr val="E8F4F8"/>
                </a:solidFill>
              </a:rPr>
              <a:t>handle_unknown='ignore' for inference safety</a:t>
            </a:r>
            <a:endParaRPr/>
          </a:p>
        </p:txBody>
      </p:sp>
      <p:sp>
        <p:nvSpPr>
          <p:cNvPr id="638400326" name="Rectangle 23"/>
          <p:cNvSpPr/>
          <p:nvPr/>
        </p:nvSpPr>
        <p:spPr bwMode="auto">
          <a:xfrm>
            <a:off x="256032" y="6318504"/>
            <a:ext cx="11658600" cy="320040"/>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5352601" name="TextBox 24"/>
          <p:cNvSpPr txBox="1"/>
          <p:nvPr/>
        </p:nvSpPr>
        <p:spPr bwMode="auto">
          <a:xfrm>
            <a:off x="347472" y="6336792"/>
            <a:ext cx="11475720" cy="274320"/>
          </a:xfrm>
          <a:prstGeom prst="rect">
            <a:avLst/>
          </a:prstGeom>
          <a:noFill/>
        </p:spPr>
        <p:txBody>
          <a:bodyPr wrap="square">
            <a:spAutoFit/>
          </a:bodyPr>
          <a:lstStyle/>
          <a:p>
            <a:pPr algn="l">
              <a:defRPr/>
            </a:pPr>
            <a:r>
              <a:rPr sz="1000" b="1" i="0">
                <a:solidFill>
                  <a:srgbClr val="FF6B35"/>
                </a:solidFill>
              </a:rPr>
              <a:t>Preprocessor fitted on training split ONLY — test data statistics never influence scaling parameters.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418390893"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6593637"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Model Training Design</a:t>
            </a:r>
            <a:endParaRPr/>
          </a:p>
        </p:txBody>
      </p:sp>
      <p:sp>
        <p:nvSpPr>
          <p:cNvPr id="1100231562"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Three algorithms, two tasks, five-fold cross-validation — tracked in MLflow</a:t>
            </a:r>
            <a:endParaRPr/>
          </a:p>
        </p:txBody>
      </p:sp>
      <p:sp>
        <p:nvSpPr>
          <p:cNvPr id="2074925251"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4585520"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99142496"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1880855936"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8</a:t>
            </a:r>
            <a:endParaRPr/>
          </a:p>
        </p:txBody>
      </p:sp>
      <p:sp>
        <p:nvSpPr>
          <p:cNvPr id="1180824118" name="Rectangle 8"/>
          <p:cNvSpPr/>
          <p:nvPr/>
        </p:nvSpPr>
        <p:spPr bwMode="auto">
          <a:xfrm>
            <a:off x="274320" y="1170432"/>
            <a:ext cx="3657600" cy="3657600"/>
          </a:xfrm>
          <a:prstGeom prst="rect">
            <a:avLst/>
          </a:prstGeom>
          <a:solidFill>
            <a:srgbClr val="122A4A"/>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7633182" name="Rectangle 9"/>
          <p:cNvSpPr/>
          <p:nvPr/>
        </p:nvSpPr>
        <p:spPr bwMode="auto">
          <a:xfrm>
            <a:off x="274320" y="1170432"/>
            <a:ext cx="3657600" cy="38404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669982" name="TextBox 10"/>
          <p:cNvSpPr txBox="1"/>
          <p:nvPr/>
        </p:nvSpPr>
        <p:spPr bwMode="auto">
          <a:xfrm>
            <a:off x="365760" y="1188720"/>
            <a:ext cx="3474720" cy="347472"/>
          </a:xfrm>
          <a:prstGeom prst="rect">
            <a:avLst/>
          </a:prstGeom>
          <a:noFill/>
        </p:spPr>
        <p:txBody>
          <a:bodyPr wrap="square">
            <a:spAutoFit/>
          </a:bodyPr>
          <a:lstStyle/>
          <a:p>
            <a:pPr algn="ctr">
              <a:defRPr/>
            </a:pPr>
            <a:r>
              <a:rPr sz="1250" b="1" i="0">
                <a:solidFill>
                  <a:srgbClr val="081224"/>
                </a:solidFill>
              </a:rPr>
              <a:t>Logistic Regression</a:t>
            </a:r>
            <a:endParaRPr/>
          </a:p>
        </p:txBody>
      </p:sp>
      <p:sp>
        <p:nvSpPr>
          <p:cNvPr id="985088297" name="TextBox 11"/>
          <p:cNvSpPr txBox="1"/>
          <p:nvPr/>
        </p:nvSpPr>
        <p:spPr bwMode="auto">
          <a:xfrm>
            <a:off x="365760" y="1609344"/>
            <a:ext cx="3474720" cy="256032"/>
          </a:xfrm>
          <a:prstGeom prst="rect">
            <a:avLst/>
          </a:prstGeom>
          <a:noFill/>
        </p:spPr>
        <p:txBody>
          <a:bodyPr wrap="square">
            <a:spAutoFit/>
          </a:bodyPr>
          <a:lstStyle/>
          <a:p>
            <a:pPr algn="l">
              <a:defRPr/>
            </a:pPr>
            <a:r>
              <a:rPr sz="950" b="1" i="0">
                <a:solidFill>
                  <a:srgbClr val="8AB4C8"/>
                </a:solidFill>
              </a:rPr>
              <a:t>Hyperparameters (params.yaml):</a:t>
            </a:r>
            <a:endParaRPr/>
          </a:p>
        </p:txBody>
      </p:sp>
      <p:sp>
        <p:nvSpPr>
          <p:cNvPr id="1265347228" name="TextBox 12"/>
          <p:cNvSpPr txBox="1"/>
          <p:nvPr/>
        </p:nvSpPr>
        <p:spPr bwMode="auto">
          <a:xfrm>
            <a:off x="438912" y="1901952"/>
            <a:ext cx="3401568" cy="246888"/>
          </a:xfrm>
          <a:prstGeom prst="rect">
            <a:avLst/>
          </a:prstGeom>
          <a:noFill/>
        </p:spPr>
        <p:txBody>
          <a:bodyPr wrap="square">
            <a:spAutoFit/>
          </a:bodyPr>
          <a:lstStyle/>
          <a:p>
            <a:pPr algn="l">
              <a:defRPr/>
            </a:pPr>
            <a:r>
              <a:rPr sz="1000" b="0" i="0">
                <a:solidFill>
                  <a:srgbClr val="E8F4F8"/>
                </a:solidFill>
              </a:rPr>
              <a:t>C = 1.0  (regularisation strength)</a:t>
            </a:r>
            <a:endParaRPr/>
          </a:p>
        </p:txBody>
      </p:sp>
      <p:sp>
        <p:nvSpPr>
          <p:cNvPr id="2140558976" name="TextBox 13"/>
          <p:cNvSpPr txBox="1"/>
          <p:nvPr/>
        </p:nvSpPr>
        <p:spPr bwMode="auto">
          <a:xfrm>
            <a:off x="438912" y="2153412"/>
            <a:ext cx="3401568" cy="246888"/>
          </a:xfrm>
          <a:prstGeom prst="rect">
            <a:avLst/>
          </a:prstGeom>
          <a:noFill/>
        </p:spPr>
        <p:txBody>
          <a:bodyPr wrap="square">
            <a:spAutoFit/>
          </a:bodyPr>
          <a:lstStyle/>
          <a:p>
            <a:pPr algn="l">
              <a:defRPr/>
            </a:pPr>
            <a:r>
              <a:rPr sz="1000" b="0" i="0">
                <a:solidFill>
                  <a:srgbClr val="E8F4F8"/>
                </a:solidFill>
              </a:rPr>
              <a:t>max_iter = 1000</a:t>
            </a:r>
            <a:endParaRPr/>
          </a:p>
        </p:txBody>
      </p:sp>
      <p:sp>
        <p:nvSpPr>
          <p:cNvPr id="439135740" name="TextBox 14"/>
          <p:cNvSpPr txBox="1"/>
          <p:nvPr/>
        </p:nvSpPr>
        <p:spPr bwMode="auto">
          <a:xfrm>
            <a:off x="438912" y="2404872"/>
            <a:ext cx="3401568" cy="246888"/>
          </a:xfrm>
          <a:prstGeom prst="rect">
            <a:avLst/>
          </a:prstGeom>
          <a:noFill/>
        </p:spPr>
        <p:txBody>
          <a:bodyPr wrap="square">
            <a:spAutoFit/>
          </a:bodyPr>
          <a:lstStyle/>
          <a:p>
            <a:pPr algn="l">
              <a:defRPr/>
            </a:pPr>
            <a:r>
              <a:rPr sz="1000" b="0" i="0">
                <a:solidFill>
                  <a:srgbClr val="E8F4F8"/>
                </a:solidFill>
              </a:rPr>
              <a:t>class_weight = balanced</a:t>
            </a:r>
            <a:endParaRPr/>
          </a:p>
        </p:txBody>
      </p:sp>
      <p:sp>
        <p:nvSpPr>
          <p:cNvPr id="1659324349" name="TextBox 15"/>
          <p:cNvSpPr txBox="1"/>
          <p:nvPr/>
        </p:nvSpPr>
        <p:spPr bwMode="auto">
          <a:xfrm>
            <a:off x="438912" y="2656332"/>
            <a:ext cx="3401568" cy="246888"/>
          </a:xfrm>
          <a:prstGeom prst="rect">
            <a:avLst/>
          </a:prstGeom>
          <a:noFill/>
        </p:spPr>
        <p:txBody>
          <a:bodyPr wrap="square">
            <a:spAutoFit/>
          </a:bodyPr>
          <a:lstStyle/>
          <a:p>
            <a:pPr algn="l">
              <a:defRPr/>
            </a:pPr>
            <a:r>
              <a:rPr sz="1000" b="0" i="0">
                <a:solidFill>
                  <a:srgbClr val="E8F4F8"/>
                </a:solidFill>
              </a:rPr>
              <a:t>solver = lbfgs  (default)</a:t>
            </a:r>
            <a:endParaRPr/>
          </a:p>
        </p:txBody>
      </p:sp>
      <p:sp>
        <p:nvSpPr>
          <p:cNvPr id="140234627" name="Rectangle 16"/>
          <p:cNvSpPr/>
          <p:nvPr/>
        </p:nvSpPr>
        <p:spPr bwMode="auto">
          <a:xfrm>
            <a:off x="365760" y="2953511"/>
            <a:ext cx="3474720" cy="228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5727526" name="TextBox 17"/>
          <p:cNvSpPr txBox="1"/>
          <p:nvPr/>
        </p:nvSpPr>
        <p:spPr bwMode="auto">
          <a:xfrm>
            <a:off x="365760" y="3017519"/>
            <a:ext cx="3474720" cy="621792"/>
          </a:xfrm>
          <a:prstGeom prst="rect">
            <a:avLst/>
          </a:prstGeom>
          <a:noFill/>
        </p:spPr>
        <p:txBody>
          <a:bodyPr wrap="square">
            <a:spAutoFit/>
          </a:bodyPr>
          <a:lstStyle/>
          <a:p>
            <a:pPr algn="l">
              <a:defRPr/>
            </a:pPr>
            <a:r>
              <a:rPr sz="950" b="0" i="1">
                <a:solidFill>
                  <a:srgbClr val="8AB4C8"/>
                </a:solidFill>
              </a:rPr>
              <a:t>Strong baseline for linearly separable features. Interpretable coefficients.</a:t>
            </a:r>
            <a:endParaRPr/>
          </a:p>
        </p:txBody>
      </p:sp>
      <p:sp>
        <p:nvSpPr>
          <p:cNvPr id="527707475" name="Rectangle 18"/>
          <p:cNvSpPr/>
          <p:nvPr/>
        </p:nvSpPr>
        <p:spPr bwMode="auto">
          <a:xfrm>
            <a:off x="4187952" y="1170432"/>
            <a:ext cx="3657600" cy="3657600"/>
          </a:xfrm>
          <a:prstGeom prst="rect">
            <a:avLst/>
          </a:prstGeom>
          <a:solidFill>
            <a:srgbClr val="122A4A"/>
          </a:solidFill>
          <a:ln w="1905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137753" name="Rectangle 19"/>
          <p:cNvSpPr/>
          <p:nvPr/>
        </p:nvSpPr>
        <p:spPr bwMode="auto">
          <a:xfrm>
            <a:off x="4187952" y="1170432"/>
            <a:ext cx="3657600" cy="384048"/>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8013551" name="TextBox 20"/>
          <p:cNvSpPr txBox="1"/>
          <p:nvPr/>
        </p:nvSpPr>
        <p:spPr bwMode="auto">
          <a:xfrm>
            <a:off x="4279392" y="1188720"/>
            <a:ext cx="3474720" cy="347472"/>
          </a:xfrm>
          <a:prstGeom prst="rect">
            <a:avLst/>
          </a:prstGeom>
          <a:noFill/>
        </p:spPr>
        <p:txBody>
          <a:bodyPr wrap="square">
            <a:spAutoFit/>
          </a:bodyPr>
          <a:lstStyle/>
          <a:p>
            <a:pPr algn="ctr">
              <a:defRPr/>
            </a:pPr>
            <a:r>
              <a:rPr sz="1250" b="1" i="0">
                <a:solidFill>
                  <a:srgbClr val="081224"/>
                </a:solidFill>
              </a:rPr>
              <a:t>Random Forest</a:t>
            </a:r>
            <a:endParaRPr/>
          </a:p>
        </p:txBody>
      </p:sp>
      <p:sp>
        <p:nvSpPr>
          <p:cNvPr id="409352577" name="TextBox 21"/>
          <p:cNvSpPr txBox="1"/>
          <p:nvPr/>
        </p:nvSpPr>
        <p:spPr bwMode="auto">
          <a:xfrm>
            <a:off x="4279392" y="1609344"/>
            <a:ext cx="3474720" cy="256032"/>
          </a:xfrm>
          <a:prstGeom prst="rect">
            <a:avLst/>
          </a:prstGeom>
          <a:noFill/>
        </p:spPr>
        <p:txBody>
          <a:bodyPr wrap="square">
            <a:spAutoFit/>
          </a:bodyPr>
          <a:lstStyle/>
          <a:p>
            <a:pPr algn="l">
              <a:defRPr/>
            </a:pPr>
            <a:r>
              <a:rPr sz="950" b="1" i="0">
                <a:solidFill>
                  <a:srgbClr val="8AB4C8"/>
                </a:solidFill>
              </a:rPr>
              <a:t>Hyperparameters (params.yaml):</a:t>
            </a:r>
            <a:endParaRPr/>
          </a:p>
        </p:txBody>
      </p:sp>
      <p:sp>
        <p:nvSpPr>
          <p:cNvPr id="1356375512" name="TextBox 22"/>
          <p:cNvSpPr txBox="1"/>
          <p:nvPr/>
        </p:nvSpPr>
        <p:spPr bwMode="auto">
          <a:xfrm>
            <a:off x="4352544" y="1901952"/>
            <a:ext cx="3401568" cy="246888"/>
          </a:xfrm>
          <a:prstGeom prst="rect">
            <a:avLst/>
          </a:prstGeom>
          <a:noFill/>
        </p:spPr>
        <p:txBody>
          <a:bodyPr wrap="square">
            <a:spAutoFit/>
          </a:bodyPr>
          <a:lstStyle/>
          <a:p>
            <a:pPr algn="l">
              <a:defRPr/>
            </a:pPr>
            <a:r>
              <a:rPr sz="1000" b="0" i="0">
                <a:solidFill>
                  <a:srgbClr val="E8F4F8"/>
                </a:solidFill>
              </a:rPr>
              <a:t>n_estimators = 200</a:t>
            </a:r>
            <a:endParaRPr/>
          </a:p>
        </p:txBody>
      </p:sp>
      <p:sp>
        <p:nvSpPr>
          <p:cNvPr id="857065804" name="TextBox 23"/>
          <p:cNvSpPr txBox="1"/>
          <p:nvPr/>
        </p:nvSpPr>
        <p:spPr bwMode="auto">
          <a:xfrm>
            <a:off x="4352544" y="2153412"/>
            <a:ext cx="3401568" cy="246888"/>
          </a:xfrm>
          <a:prstGeom prst="rect">
            <a:avLst/>
          </a:prstGeom>
          <a:noFill/>
        </p:spPr>
        <p:txBody>
          <a:bodyPr wrap="square">
            <a:spAutoFit/>
          </a:bodyPr>
          <a:lstStyle/>
          <a:p>
            <a:pPr algn="l">
              <a:defRPr/>
            </a:pPr>
            <a:r>
              <a:rPr sz="1000" b="0" i="0">
                <a:solidFill>
                  <a:srgbClr val="E8F4F8"/>
                </a:solidFill>
              </a:rPr>
              <a:t>max_depth = 12</a:t>
            </a:r>
            <a:endParaRPr/>
          </a:p>
        </p:txBody>
      </p:sp>
      <p:sp>
        <p:nvSpPr>
          <p:cNvPr id="1652226806" name="TextBox 24"/>
          <p:cNvSpPr txBox="1"/>
          <p:nvPr/>
        </p:nvSpPr>
        <p:spPr bwMode="auto">
          <a:xfrm>
            <a:off x="4352544" y="2404872"/>
            <a:ext cx="3401568" cy="246888"/>
          </a:xfrm>
          <a:prstGeom prst="rect">
            <a:avLst/>
          </a:prstGeom>
          <a:noFill/>
        </p:spPr>
        <p:txBody>
          <a:bodyPr wrap="square">
            <a:spAutoFit/>
          </a:bodyPr>
          <a:lstStyle/>
          <a:p>
            <a:pPr algn="l">
              <a:defRPr/>
            </a:pPr>
            <a:r>
              <a:rPr sz="1000" b="0" i="0">
                <a:solidFill>
                  <a:srgbClr val="E8F4F8"/>
                </a:solidFill>
              </a:rPr>
              <a:t>min_samples_leaf = 4</a:t>
            </a:r>
            <a:endParaRPr/>
          </a:p>
        </p:txBody>
      </p:sp>
      <p:sp>
        <p:nvSpPr>
          <p:cNvPr id="1255921872" name="TextBox 25"/>
          <p:cNvSpPr txBox="1"/>
          <p:nvPr/>
        </p:nvSpPr>
        <p:spPr bwMode="auto">
          <a:xfrm>
            <a:off x="4352544" y="2656332"/>
            <a:ext cx="3401568" cy="246888"/>
          </a:xfrm>
          <a:prstGeom prst="rect">
            <a:avLst/>
          </a:prstGeom>
          <a:noFill/>
        </p:spPr>
        <p:txBody>
          <a:bodyPr wrap="square">
            <a:spAutoFit/>
          </a:bodyPr>
          <a:lstStyle/>
          <a:p>
            <a:pPr algn="l">
              <a:defRPr/>
            </a:pPr>
            <a:r>
              <a:rPr sz="1000" b="0" i="0">
                <a:solidFill>
                  <a:srgbClr val="E8F4F8"/>
                </a:solidFill>
              </a:rPr>
              <a:t>class_weight = balanced</a:t>
            </a:r>
            <a:endParaRPr/>
          </a:p>
        </p:txBody>
      </p:sp>
      <p:sp>
        <p:nvSpPr>
          <p:cNvPr id="1433387495" name="Rectangle 26"/>
          <p:cNvSpPr/>
          <p:nvPr/>
        </p:nvSpPr>
        <p:spPr bwMode="auto">
          <a:xfrm>
            <a:off x="4279392" y="2953511"/>
            <a:ext cx="3474720" cy="22860"/>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5482040" name="TextBox 27"/>
          <p:cNvSpPr txBox="1"/>
          <p:nvPr/>
        </p:nvSpPr>
        <p:spPr bwMode="auto">
          <a:xfrm>
            <a:off x="4279392" y="3017519"/>
            <a:ext cx="3474720" cy="621792"/>
          </a:xfrm>
          <a:prstGeom prst="rect">
            <a:avLst/>
          </a:prstGeom>
          <a:noFill/>
        </p:spPr>
        <p:txBody>
          <a:bodyPr wrap="square">
            <a:spAutoFit/>
          </a:bodyPr>
          <a:lstStyle/>
          <a:p>
            <a:pPr algn="l">
              <a:defRPr/>
            </a:pPr>
            <a:r>
              <a:rPr sz="950" b="0" i="1">
                <a:solidFill>
                  <a:srgbClr val="8AB4C8"/>
                </a:solidFill>
              </a:rPr>
              <a:t>Handles non-linear interactions between sensor readings. Robust to noise.</a:t>
            </a:r>
            <a:endParaRPr/>
          </a:p>
        </p:txBody>
      </p:sp>
      <p:sp>
        <p:nvSpPr>
          <p:cNvPr id="921717354" name="Rectangle 28"/>
          <p:cNvSpPr/>
          <p:nvPr/>
        </p:nvSpPr>
        <p:spPr bwMode="auto">
          <a:xfrm>
            <a:off x="8101584" y="1170432"/>
            <a:ext cx="3657600" cy="3657600"/>
          </a:xfrm>
          <a:prstGeom prst="rect">
            <a:avLst/>
          </a:prstGeom>
          <a:solidFill>
            <a:srgbClr val="122A4A"/>
          </a:solidFill>
          <a:ln w="19050">
            <a:solidFill>
              <a:srgbClr val="F4A26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2314957" name="Rectangle 29"/>
          <p:cNvSpPr/>
          <p:nvPr/>
        </p:nvSpPr>
        <p:spPr bwMode="auto">
          <a:xfrm>
            <a:off x="8101584" y="1170432"/>
            <a:ext cx="3657600" cy="384048"/>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86647191" name="TextBox 30"/>
          <p:cNvSpPr txBox="1"/>
          <p:nvPr/>
        </p:nvSpPr>
        <p:spPr bwMode="auto">
          <a:xfrm>
            <a:off x="8193024" y="1188720"/>
            <a:ext cx="3474720" cy="347472"/>
          </a:xfrm>
          <a:prstGeom prst="rect">
            <a:avLst/>
          </a:prstGeom>
          <a:noFill/>
        </p:spPr>
        <p:txBody>
          <a:bodyPr wrap="square">
            <a:spAutoFit/>
          </a:bodyPr>
          <a:lstStyle/>
          <a:p>
            <a:pPr algn="ctr">
              <a:defRPr/>
            </a:pPr>
            <a:r>
              <a:rPr sz="1250" b="1" i="0">
                <a:solidFill>
                  <a:srgbClr val="081224"/>
                </a:solidFill>
              </a:rPr>
              <a:t>XGBoost</a:t>
            </a:r>
            <a:endParaRPr/>
          </a:p>
        </p:txBody>
      </p:sp>
      <p:sp>
        <p:nvSpPr>
          <p:cNvPr id="655992423" name="TextBox 31"/>
          <p:cNvSpPr txBox="1"/>
          <p:nvPr/>
        </p:nvSpPr>
        <p:spPr bwMode="auto">
          <a:xfrm>
            <a:off x="8193024" y="1609344"/>
            <a:ext cx="3474720" cy="256032"/>
          </a:xfrm>
          <a:prstGeom prst="rect">
            <a:avLst/>
          </a:prstGeom>
          <a:noFill/>
        </p:spPr>
        <p:txBody>
          <a:bodyPr wrap="square">
            <a:spAutoFit/>
          </a:bodyPr>
          <a:lstStyle/>
          <a:p>
            <a:pPr algn="l">
              <a:defRPr/>
            </a:pPr>
            <a:r>
              <a:rPr sz="950" b="1" i="0">
                <a:solidFill>
                  <a:srgbClr val="8AB4C8"/>
                </a:solidFill>
              </a:rPr>
              <a:t>Hyperparameters (params.yaml):</a:t>
            </a:r>
            <a:endParaRPr/>
          </a:p>
        </p:txBody>
      </p:sp>
      <p:sp>
        <p:nvSpPr>
          <p:cNvPr id="648788992" name="TextBox 32"/>
          <p:cNvSpPr txBox="1"/>
          <p:nvPr/>
        </p:nvSpPr>
        <p:spPr bwMode="auto">
          <a:xfrm>
            <a:off x="8266176" y="1901952"/>
            <a:ext cx="3401568" cy="246888"/>
          </a:xfrm>
          <a:prstGeom prst="rect">
            <a:avLst/>
          </a:prstGeom>
          <a:noFill/>
        </p:spPr>
        <p:txBody>
          <a:bodyPr wrap="square">
            <a:spAutoFit/>
          </a:bodyPr>
          <a:lstStyle/>
          <a:p>
            <a:pPr algn="l">
              <a:defRPr/>
            </a:pPr>
            <a:r>
              <a:rPr sz="1000" b="0" i="0">
                <a:solidFill>
                  <a:srgbClr val="E8F4F8"/>
                </a:solidFill>
              </a:rPr>
              <a:t>n_estimators = 300</a:t>
            </a:r>
            <a:endParaRPr/>
          </a:p>
        </p:txBody>
      </p:sp>
      <p:sp>
        <p:nvSpPr>
          <p:cNvPr id="1788732365" name="TextBox 33"/>
          <p:cNvSpPr txBox="1"/>
          <p:nvPr/>
        </p:nvSpPr>
        <p:spPr bwMode="auto">
          <a:xfrm>
            <a:off x="8266176" y="2153412"/>
            <a:ext cx="3401568" cy="246888"/>
          </a:xfrm>
          <a:prstGeom prst="rect">
            <a:avLst/>
          </a:prstGeom>
          <a:noFill/>
        </p:spPr>
        <p:txBody>
          <a:bodyPr wrap="square">
            <a:spAutoFit/>
          </a:bodyPr>
          <a:lstStyle/>
          <a:p>
            <a:pPr algn="l">
              <a:defRPr/>
            </a:pPr>
            <a:r>
              <a:rPr sz="1000" b="0" i="0">
                <a:solidFill>
                  <a:srgbClr val="E8F4F8"/>
                </a:solidFill>
              </a:rPr>
              <a:t>max_depth = 6</a:t>
            </a:r>
            <a:endParaRPr/>
          </a:p>
        </p:txBody>
      </p:sp>
      <p:sp>
        <p:nvSpPr>
          <p:cNvPr id="373843609" name="TextBox 34"/>
          <p:cNvSpPr txBox="1"/>
          <p:nvPr/>
        </p:nvSpPr>
        <p:spPr bwMode="auto">
          <a:xfrm>
            <a:off x="8266176" y="2404872"/>
            <a:ext cx="3401568" cy="246888"/>
          </a:xfrm>
          <a:prstGeom prst="rect">
            <a:avLst/>
          </a:prstGeom>
          <a:noFill/>
        </p:spPr>
        <p:txBody>
          <a:bodyPr wrap="square">
            <a:spAutoFit/>
          </a:bodyPr>
          <a:lstStyle/>
          <a:p>
            <a:pPr algn="l">
              <a:defRPr/>
            </a:pPr>
            <a:r>
              <a:rPr sz="1000" b="0" i="0">
                <a:solidFill>
                  <a:srgbClr val="E8F4F8"/>
                </a:solidFill>
              </a:rPr>
              <a:t>learning_rate = 0.05</a:t>
            </a:r>
            <a:endParaRPr/>
          </a:p>
        </p:txBody>
      </p:sp>
      <p:sp>
        <p:nvSpPr>
          <p:cNvPr id="1058558569" name="TextBox 35"/>
          <p:cNvSpPr txBox="1"/>
          <p:nvPr/>
        </p:nvSpPr>
        <p:spPr bwMode="auto">
          <a:xfrm>
            <a:off x="8266176" y="2656332"/>
            <a:ext cx="3401568" cy="246888"/>
          </a:xfrm>
          <a:prstGeom prst="rect">
            <a:avLst/>
          </a:prstGeom>
          <a:noFill/>
        </p:spPr>
        <p:txBody>
          <a:bodyPr wrap="square">
            <a:spAutoFit/>
          </a:bodyPr>
          <a:lstStyle/>
          <a:p>
            <a:pPr algn="l">
              <a:defRPr/>
            </a:pPr>
            <a:r>
              <a:rPr sz="1000" b="0" i="0">
                <a:solidFill>
                  <a:srgbClr val="E8F4F8"/>
                </a:solidFill>
              </a:rPr>
              <a:t>subsample = 0.8  |  colsample_bytree = 0.8</a:t>
            </a:r>
            <a:endParaRPr/>
          </a:p>
        </p:txBody>
      </p:sp>
      <p:sp>
        <p:nvSpPr>
          <p:cNvPr id="545592624" name="Rectangle 36"/>
          <p:cNvSpPr/>
          <p:nvPr/>
        </p:nvSpPr>
        <p:spPr bwMode="auto">
          <a:xfrm>
            <a:off x="8193024" y="2953511"/>
            <a:ext cx="3474720" cy="22860"/>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2938457" name="TextBox 37"/>
          <p:cNvSpPr txBox="1"/>
          <p:nvPr/>
        </p:nvSpPr>
        <p:spPr bwMode="auto">
          <a:xfrm>
            <a:off x="8193024" y="3017519"/>
            <a:ext cx="3474720" cy="621792"/>
          </a:xfrm>
          <a:prstGeom prst="rect">
            <a:avLst/>
          </a:prstGeom>
          <a:noFill/>
        </p:spPr>
        <p:txBody>
          <a:bodyPr wrap="square">
            <a:spAutoFit/>
          </a:bodyPr>
          <a:lstStyle/>
          <a:p>
            <a:pPr algn="l">
              <a:defRPr/>
            </a:pPr>
            <a:r>
              <a:rPr sz="950" b="0" i="1">
                <a:solidFill>
                  <a:srgbClr val="8AB4C8"/>
                </a:solidFill>
              </a:rPr>
              <a:t>Gradient boosting often outperforms RF on tabular data with mixed features.</a:t>
            </a:r>
            <a:endParaRPr/>
          </a:p>
        </p:txBody>
      </p:sp>
      <p:sp>
        <p:nvSpPr>
          <p:cNvPr id="639251815" name="Rectangle 38"/>
          <p:cNvSpPr/>
          <p:nvPr/>
        </p:nvSpPr>
        <p:spPr bwMode="auto">
          <a:xfrm>
            <a:off x="256032" y="4919471"/>
            <a:ext cx="11658600" cy="27432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04035698" name="TextBox 39"/>
          <p:cNvSpPr txBox="1"/>
          <p:nvPr/>
        </p:nvSpPr>
        <p:spPr bwMode="auto">
          <a:xfrm>
            <a:off x="347472" y="4937759"/>
            <a:ext cx="2834640" cy="246888"/>
          </a:xfrm>
          <a:prstGeom prst="rect">
            <a:avLst/>
          </a:prstGeom>
          <a:noFill/>
        </p:spPr>
        <p:txBody>
          <a:bodyPr wrap="square">
            <a:spAutoFit/>
          </a:bodyPr>
          <a:lstStyle/>
          <a:p>
            <a:pPr algn="l">
              <a:defRPr/>
            </a:pPr>
            <a:r>
              <a:rPr sz="1000" b="1" i="0">
                <a:solidFill>
                  <a:srgbClr val="00B4D8"/>
                </a:solidFill>
              </a:rPr>
              <a:t>Separate training for each task</a:t>
            </a:r>
            <a:endParaRPr/>
          </a:p>
        </p:txBody>
      </p:sp>
      <p:sp>
        <p:nvSpPr>
          <p:cNvPr id="2016666551" name="TextBox 40"/>
          <p:cNvSpPr txBox="1"/>
          <p:nvPr/>
        </p:nvSpPr>
        <p:spPr bwMode="auto">
          <a:xfrm>
            <a:off x="3246120" y="4937759"/>
            <a:ext cx="8595360" cy="246888"/>
          </a:xfrm>
          <a:prstGeom prst="rect">
            <a:avLst/>
          </a:prstGeom>
          <a:noFill/>
        </p:spPr>
        <p:txBody>
          <a:bodyPr wrap="square">
            <a:spAutoFit/>
          </a:bodyPr>
          <a:lstStyle/>
          <a:p>
            <a:pPr algn="l">
              <a:defRPr/>
            </a:pPr>
            <a:r>
              <a:rPr sz="1000" b="0" i="0">
                <a:solidFill>
                  <a:srgbClr val="E8F4F8"/>
                </a:solidFill>
              </a:rPr>
              <a:t>Health and restoration are independent classifiers — not multi-output. Each trains on its own label column.</a:t>
            </a:r>
            <a:endParaRPr/>
          </a:p>
        </p:txBody>
      </p:sp>
      <p:sp>
        <p:nvSpPr>
          <p:cNvPr id="323838444" name="Rectangle 41"/>
          <p:cNvSpPr/>
          <p:nvPr/>
        </p:nvSpPr>
        <p:spPr bwMode="auto">
          <a:xfrm>
            <a:off x="256032" y="5202936"/>
            <a:ext cx="11658600" cy="27432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0926503" name="TextBox 42"/>
          <p:cNvSpPr txBox="1"/>
          <p:nvPr/>
        </p:nvSpPr>
        <p:spPr bwMode="auto">
          <a:xfrm>
            <a:off x="347472" y="5221223"/>
            <a:ext cx="2834640" cy="246888"/>
          </a:xfrm>
          <a:prstGeom prst="rect">
            <a:avLst/>
          </a:prstGeom>
          <a:noFill/>
        </p:spPr>
        <p:txBody>
          <a:bodyPr wrap="square">
            <a:spAutoFit/>
          </a:bodyPr>
          <a:lstStyle/>
          <a:p>
            <a:pPr algn="l">
              <a:defRPr/>
            </a:pPr>
            <a:r>
              <a:rPr sz="1000" b="1" i="0">
                <a:solidFill>
                  <a:srgbClr val="00B4D8"/>
                </a:solidFill>
              </a:rPr>
              <a:t>5-fold stratified cross-validation</a:t>
            </a:r>
            <a:endParaRPr/>
          </a:p>
        </p:txBody>
      </p:sp>
      <p:sp>
        <p:nvSpPr>
          <p:cNvPr id="329405097" name="TextBox 43"/>
          <p:cNvSpPr txBox="1"/>
          <p:nvPr/>
        </p:nvSpPr>
        <p:spPr bwMode="auto">
          <a:xfrm>
            <a:off x="3246120" y="5221223"/>
            <a:ext cx="8595360" cy="246888"/>
          </a:xfrm>
          <a:prstGeom prst="rect">
            <a:avLst/>
          </a:prstGeom>
          <a:noFill/>
        </p:spPr>
        <p:txBody>
          <a:bodyPr wrap="square">
            <a:spAutoFit/>
          </a:bodyPr>
          <a:lstStyle/>
          <a:p>
            <a:pPr algn="l">
              <a:defRPr/>
            </a:pPr>
            <a:r>
              <a:rPr sz="1000" b="0" i="0">
                <a:solidFill>
                  <a:srgbClr val="E8F4F8"/>
                </a:solidFill>
              </a:rPr>
              <a:t>CV macro-F1 is the primary selection metric. Winner is selected before evaluation on the held-out test set.</a:t>
            </a:r>
            <a:endParaRPr/>
          </a:p>
        </p:txBody>
      </p:sp>
      <p:sp>
        <p:nvSpPr>
          <p:cNvPr id="1978658881" name="Rectangle 44"/>
          <p:cNvSpPr/>
          <p:nvPr/>
        </p:nvSpPr>
        <p:spPr bwMode="auto">
          <a:xfrm>
            <a:off x="256032" y="5486399"/>
            <a:ext cx="11658600" cy="27432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1098846" name="TextBox 45"/>
          <p:cNvSpPr txBox="1"/>
          <p:nvPr/>
        </p:nvSpPr>
        <p:spPr bwMode="auto">
          <a:xfrm>
            <a:off x="347472" y="5504687"/>
            <a:ext cx="2834640" cy="246888"/>
          </a:xfrm>
          <a:prstGeom prst="rect">
            <a:avLst/>
          </a:prstGeom>
          <a:noFill/>
        </p:spPr>
        <p:txBody>
          <a:bodyPr wrap="square">
            <a:spAutoFit/>
          </a:bodyPr>
          <a:lstStyle/>
          <a:p>
            <a:pPr algn="l">
              <a:defRPr/>
            </a:pPr>
            <a:r>
              <a:rPr sz="1000" b="1" i="0">
                <a:solidFill>
                  <a:srgbClr val="00B4D8"/>
                </a:solidFill>
              </a:rPr>
              <a:t>class_weight = balanced</a:t>
            </a:r>
            <a:endParaRPr/>
          </a:p>
        </p:txBody>
      </p:sp>
      <p:sp>
        <p:nvSpPr>
          <p:cNvPr id="488482110" name="TextBox 46"/>
          <p:cNvSpPr txBox="1"/>
          <p:nvPr/>
        </p:nvSpPr>
        <p:spPr bwMode="auto">
          <a:xfrm>
            <a:off x="3246120" y="5504687"/>
            <a:ext cx="8595360" cy="246888"/>
          </a:xfrm>
          <a:prstGeom prst="rect">
            <a:avLst/>
          </a:prstGeom>
          <a:noFill/>
        </p:spPr>
        <p:txBody>
          <a:bodyPr wrap="square">
            <a:spAutoFit/>
          </a:bodyPr>
          <a:lstStyle/>
          <a:p>
            <a:pPr algn="l">
              <a:defRPr/>
            </a:pPr>
            <a:r>
              <a:rPr sz="1000" b="0" i="0">
                <a:solidFill>
                  <a:srgbClr val="E8F4F8"/>
                </a:solidFill>
              </a:rPr>
              <a:t>Automatically adjusts loss function weights to compensate for class imbalance. All three algorithms apply this.</a:t>
            </a:r>
            <a:endParaRPr/>
          </a:p>
        </p:txBody>
      </p:sp>
      <p:sp>
        <p:nvSpPr>
          <p:cNvPr id="693206913" name="Rectangle 47"/>
          <p:cNvSpPr/>
          <p:nvPr/>
        </p:nvSpPr>
        <p:spPr bwMode="auto">
          <a:xfrm>
            <a:off x="256032" y="5769863"/>
            <a:ext cx="11658600" cy="27432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2387546" name="TextBox 48"/>
          <p:cNvSpPr txBox="1"/>
          <p:nvPr/>
        </p:nvSpPr>
        <p:spPr bwMode="auto">
          <a:xfrm>
            <a:off x="347472" y="5788150"/>
            <a:ext cx="2834640" cy="246888"/>
          </a:xfrm>
          <a:prstGeom prst="rect">
            <a:avLst/>
          </a:prstGeom>
          <a:noFill/>
        </p:spPr>
        <p:txBody>
          <a:bodyPr wrap="square">
            <a:spAutoFit/>
          </a:bodyPr>
          <a:lstStyle/>
          <a:p>
            <a:pPr algn="l">
              <a:defRPr/>
            </a:pPr>
            <a:r>
              <a:rPr sz="1000" b="1" i="0">
                <a:solidFill>
                  <a:srgbClr val="00B4D8"/>
                </a:solidFill>
              </a:rPr>
              <a:t>Fixed random seed = 42</a:t>
            </a:r>
            <a:endParaRPr/>
          </a:p>
        </p:txBody>
      </p:sp>
      <p:sp>
        <p:nvSpPr>
          <p:cNvPr id="876110440" name="TextBox 49"/>
          <p:cNvSpPr txBox="1"/>
          <p:nvPr/>
        </p:nvSpPr>
        <p:spPr bwMode="auto">
          <a:xfrm>
            <a:off x="3246120" y="5788150"/>
            <a:ext cx="8595360" cy="246888"/>
          </a:xfrm>
          <a:prstGeom prst="rect">
            <a:avLst/>
          </a:prstGeom>
          <a:noFill/>
        </p:spPr>
        <p:txBody>
          <a:bodyPr wrap="square">
            <a:spAutoFit/>
          </a:bodyPr>
          <a:lstStyle/>
          <a:p>
            <a:pPr algn="l">
              <a:defRPr/>
            </a:pPr>
            <a:r>
              <a:rPr sz="1000" b="0" i="0">
                <a:solidFill>
                  <a:srgbClr val="E8F4F8"/>
                </a:solidFill>
              </a:rPr>
              <a:t>All randomness (data splits, model initialisation, numpy) is seeded for full reproducibility.</a:t>
            </a:r>
            <a:endParaRPr/>
          </a:p>
        </p:txBody>
      </p:sp>
      <p:sp>
        <p:nvSpPr>
          <p:cNvPr id="135460860" name="Rectangle 50"/>
          <p:cNvSpPr/>
          <p:nvPr/>
        </p:nvSpPr>
        <p:spPr bwMode="auto">
          <a:xfrm>
            <a:off x="256032" y="6053327"/>
            <a:ext cx="11658600" cy="27432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4871554" name="TextBox 51"/>
          <p:cNvSpPr txBox="1"/>
          <p:nvPr/>
        </p:nvSpPr>
        <p:spPr bwMode="auto">
          <a:xfrm>
            <a:off x="347472" y="6071615"/>
            <a:ext cx="2834640" cy="246888"/>
          </a:xfrm>
          <a:prstGeom prst="rect">
            <a:avLst/>
          </a:prstGeom>
          <a:noFill/>
        </p:spPr>
        <p:txBody>
          <a:bodyPr wrap="square">
            <a:spAutoFit/>
          </a:bodyPr>
          <a:lstStyle/>
          <a:p>
            <a:pPr algn="l">
              <a:defRPr/>
            </a:pPr>
            <a:r>
              <a:rPr sz="1000" b="1" i="0">
                <a:solidFill>
                  <a:srgbClr val="00B4D8"/>
                </a:solidFill>
              </a:rPr>
              <a:t>MLflow experiment tracking</a:t>
            </a:r>
            <a:endParaRPr/>
          </a:p>
        </p:txBody>
      </p:sp>
      <p:sp>
        <p:nvSpPr>
          <p:cNvPr id="1486815670" name="TextBox 52"/>
          <p:cNvSpPr txBox="1"/>
          <p:nvPr/>
        </p:nvSpPr>
        <p:spPr bwMode="auto">
          <a:xfrm>
            <a:off x="3246120" y="6071615"/>
            <a:ext cx="8595360" cy="246888"/>
          </a:xfrm>
          <a:prstGeom prst="rect">
            <a:avLst/>
          </a:prstGeom>
          <a:noFill/>
        </p:spPr>
        <p:txBody>
          <a:bodyPr wrap="square">
            <a:spAutoFit/>
          </a:bodyPr>
          <a:lstStyle/>
          <a:p>
            <a:pPr algn="l">
              <a:defRPr/>
            </a:pPr>
            <a:r>
              <a:rPr sz="1000" b="0" i="0">
                <a:solidFill>
                  <a:srgbClr val="E8F4F8"/>
                </a:solidFill>
              </a:rPr>
              <a:t>Every run logs: parameters, CV scores, test metrics, confusion matrix, feature importances, model artifact.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048828091"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7981859"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Reef-Health Model Comparison</a:t>
            </a:r>
            <a:endParaRPr/>
          </a:p>
        </p:txBody>
      </p:sp>
      <p:sp>
        <p:nvSpPr>
          <p:cNvPr id="461166579"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Selected model: Logistic Regression (highest CV Macro-F1) — SYNTHETIC DATA</a:t>
            </a:r>
            <a:endParaRPr/>
          </a:p>
        </p:txBody>
      </p:sp>
      <p:sp>
        <p:nvSpPr>
          <p:cNvPr id="469732884"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8571976"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6782708"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933313210"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9</a:t>
            </a:r>
            <a:endParaRPr/>
          </a:p>
        </p:txBody>
      </p:sp>
      <p:pic>
        <p:nvPicPr>
          <p:cNvPr id="1523162966" name="Picture 8" descr="image.png"/>
          <p:cNvPicPr>
            <a:picLocks noChangeAspect="1"/>
          </p:cNvPicPr>
          <p:nvPr/>
        </p:nvPicPr>
        <p:blipFill rotWithShape="1">
          <a:blip r:embed="rId3"/>
          <a:stretch/>
        </p:blipFill>
        <p:spPr bwMode="auto">
          <a:xfrm>
            <a:off x="228600" y="1115568"/>
            <a:ext cx="8549640" cy="4114800"/>
          </a:xfrm>
          <a:prstGeom prst="rect">
            <a:avLst/>
          </a:prstGeom>
        </p:spPr>
      </p:pic>
      <p:sp>
        <p:nvSpPr>
          <p:cNvPr id="375388687" name="Rectangle 9"/>
          <p:cNvSpPr/>
          <p:nvPr/>
        </p:nvSpPr>
        <p:spPr bwMode="auto">
          <a:xfrm>
            <a:off x="8887968" y="1115568"/>
            <a:ext cx="3090672" cy="4114800"/>
          </a:xfrm>
          <a:prstGeom prst="rect">
            <a:avLst/>
          </a:prstGeom>
          <a:solidFill>
            <a:srgbClr val="122A4A"/>
          </a:solidFill>
          <a:ln w="2286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1223547" name="Rectangle 10"/>
          <p:cNvSpPr/>
          <p:nvPr/>
        </p:nvSpPr>
        <p:spPr bwMode="auto">
          <a:xfrm>
            <a:off x="8887968" y="1115568"/>
            <a:ext cx="3090672" cy="384048"/>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24784850" name="TextBox 11"/>
          <p:cNvSpPr txBox="1"/>
          <p:nvPr/>
        </p:nvSpPr>
        <p:spPr bwMode="auto">
          <a:xfrm>
            <a:off x="8961120" y="1133856"/>
            <a:ext cx="2926080" cy="347472"/>
          </a:xfrm>
          <a:prstGeom prst="rect">
            <a:avLst/>
          </a:prstGeom>
          <a:noFill/>
        </p:spPr>
        <p:txBody>
          <a:bodyPr wrap="square">
            <a:spAutoFit/>
          </a:bodyPr>
          <a:lstStyle/>
          <a:p>
            <a:pPr algn="ctr">
              <a:defRPr/>
            </a:pPr>
            <a:r>
              <a:rPr sz="1050" b="1" i="0">
                <a:solidFill>
                  <a:srgbClr val="081224"/>
                </a:solidFill>
              </a:rPr>
              <a:t>Selected: Logistic Regression</a:t>
            </a:r>
            <a:endParaRPr/>
          </a:p>
        </p:txBody>
      </p:sp>
      <p:sp>
        <p:nvSpPr>
          <p:cNvPr id="772493270" name="TextBox 12"/>
          <p:cNvSpPr txBox="1"/>
          <p:nvPr/>
        </p:nvSpPr>
        <p:spPr bwMode="auto">
          <a:xfrm>
            <a:off x="8979408" y="1581912"/>
            <a:ext cx="1828800" cy="237744"/>
          </a:xfrm>
          <a:prstGeom prst="rect">
            <a:avLst/>
          </a:prstGeom>
          <a:noFill/>
        </p:spPr>
        <p:txBody>
          <a:bodyPr wrap="square">
            <a:spAutoFit/>
          </a:bodyPr>
          <a:lstStyle/>
          <a:p>
            <a:pPr algn="l">
              <a:defRPr/>
            </a:pPr>
            <a:r>
              <a:rPr sz="950" b="1" i="0">
                <a:solidFill>
                  <a:srgbClr val="E8F4F8"/>
                </a:solidFill>
              </a:rPr>
              <a:t>CV Macro-F1</a:t>
            </a:r>
            <a:endParaRPr/>
          </a:p>
        </p:txBody>
      </p:sp>
      <p:sp>
        <p:nvSpPr>
          <p:cNvPr id="1596954918" name="TextBox 13"/>
          <p:cNvSpPr txBox="1"/>
          <p:nvPr/>
        </p:nvSpPr>
        <p:spPr bwMode="auto">
          <a:xfrm>
            <a:off x="10835640" y="1581912"/>
            <a:ext cx="1051560" cy="237744"/>
          </a:xfrm>
          <a:prstGeom prst="rect">
            <a:avLst/>
          </a:prstGeom>
          <a:noFill/>
        </p:spPr>
        <p:txBody>
          <a:bodyPr wrap="square">
            <a:spAutoFit/>
          </a:bodyPr>
          <a:lstStyle/>
          <a:p>
            <a:pPr algn="r">
              <a:defRPr/>
            </a:pPr>
            <a:r>
              <a:rPr sz="950" b="1" i="0">
                <a:solidFill>
                  <a:srgbClr val="00B4D8"/>
                </a:solidFill>
              </a:rPr>
              <a:t>0.7612  ± 0.009</a:t>
            </a:r>
            <a:endParaRPr/>
          </a:p>
        </p:txBody>
      </p:sp>
      <p:sp>
        <p:nvSpPr>
          <p:cNvPr id="1801051468" name="TextBox 14"/>
          <p:cNvSpPr txBox="1"/>
          <p:nvPr/>
        </p:nvSpPr>
        <p:spPr bwMode="auto">
          <a:xfrm>
            <a:off x="8979408" y="1847088"/>
            <a:ext cx="1828800" cy="237744"/>
          </a:xfrm>
          <a:prstGeom prst="rect">
            <a:avLst/>
          </a:prstGeom>
          <a:noFill/>
        </p:spPr>
        <p:txBody>
          <a:bodyPr wrap="square">
            <a:spAutoFit/>
          </a:bodyPr>
          <a:lstStyle/>
          <a:p>
            <a:pPr algn="l">
              <a:defRPr/>
            </a:pPr>
            <a:r>
              <a:rPr sz="950" b="1" i="0">
                <a:solidFill>
                  <a:srgbClr val="E8F4F8"/>
                </a:solidFill>
              </a:rPr>
              <a:t>Test Macro-F1</a:t>
            </a:r>
            <a:endParaRPr/>
          </a:p>
        </p:txBody>
      </p:sp>
      <p:sp>
        <p:nvSpPr>
          <p:cNvPr id="1650524651" name="TextBox 15"/>
          <p:cNvSpPr txBox="1"/>
          <p:nvPr/>
        </p:nvSpPr>
        <p:spPr bwMode="auto">
          <a:xfrm>
            <a:off x="10835640" y="1847088"/>
            <a:ext cx="1051560" cy="237744"/>
          </a:xfrm>
          <a:prstGeom prst="rect">
            <a:avLst/>
          </a:prstGeom>
          <a:noFill/>
        </p:spPr>
        <p:txBody>
          <a:bodyPr wrap="square">
            <a:spAutoFit/>
          </a:bodyPr>
          <a:lstStyle/>
          <a:p>
            <a:pPr algn="r">
              <a:defRPr/>
            </a:pPr>
            <a:r>
              <a:rPr sz="950" b="1" i="0">
                <a:solidFill>
                  <a:srgbClr val="00B4D8"/>
                </a:solidFill>
              </a:rPr>
              <a:t>0.7871</a:t>
            </a:r>
            <a:endParaRPr/>
          </a:p>
        </p:txBody>
      </p:sp>
      <p:sp>
        <p:nvSpPr>
          <p:cNvPr id="1695301076" name="TextBox 16"/>
          <p:cNvSpPr txBox="1"/>
          <p:nvPr/>
        </p:nvSpPr>
        <p:spPr bwMode="auto">
          <a:xfrm>
            <a:off x="8979408" y="2112264"/>
            <a:ext cx="1828800" cy="237744"/>
          </a:xfrm>
          <a:prstGeom prst="rect">
            <a:avLst/>
          </a:prstGeom>
          <a:noFill/>
        </p:spPr>
        <p:txBody>
          <a:bodyPr wrap="square">
            <a:spAutoFit/>
          </a:bodyPr>
          <a:lstStyle/>
          <a:p>
            <a:pPr algn="l">
              <a:defRPr/>
            </a:pPr>
            <a:r>
              <a:rPr sz="950" b="1" i="0">
                <a:solidFill>
                  <a:srgbClr val="E8F4F8"/>
                </a:solidFill>
              </a:rPr>
              <a:t>Balanced Accuracy</a:t>
            </a:r>
            <a:endParaRPr/>
          </a:p>
        </p:txBody>
      </p:sp>
      <p:sp>
        <p:nvSpPr>
          <p:cNvPr id="832807182" name="TextBox 17"/>
          <p:cNvSpPr txBox="1"/>
          <p:nvPr/>
        </p:nvSpPr>
        <p:spPr bwMode="auto">
          <a:xfrm>
            <a:off x="10835640" y="2112264"/>
            <a:ext cx="1051560" cy="237744"/>
          </a:xfrm>
          <a:prstGeom prst="rect">
            <a:avLst/>
          </a:prstGeom>
          <a:noFill/>
        </p:spPr>
        <p:txBody>
          <a:bodyPr wrap="square">
            <a:spAutoFit/>
          </a:bodyPr>
          <a:lstStyle/>
          <a:p>
            <a:pPr algn="r">
              <a:defRPr/>
            </a:pPr>
            <a:r>
              <a:rPr sz="950" b="1" i="0">
                <a:solidFill>
                  <a:srgbClr val="00B4D8"/>
                </a:solidFill>
              </a:rPr>
              <a:t>0.8012</a:t>
            </a:r>
            <a:endParaRPr/>
          </a:p>
        </p:txBody>
      </p:sp>
      <p:sp>
        <p:nvSpPr>
          <p:cNvPr id="1818931526" name="TextBox 18"/>
          <p:cNvSpPr txBox="1"/>
          <p:nvPr/>
        </p:nvSpPr>
        <p:spPr bwMode="auto">
          <a:xfrm>
            <a:off x="8979408" y="2377440"/>
            <a:ext cx="1828800" cy="237744"/>
          </a:xfrm>
          <a:prstGeom prst="rect">
            <a:avLst/>
          </a:prstGeom>
          <a:noFill/>
        </p:spPr>
        <p:txBody>
          <a:bodyPr wrap="square">
            <a:spAutoFit/>
          </a:bodyPr>
          <a:lstStyle/>
          <a:p>
            <a:pPr algn="l">
              <a:defRPr/>
            </a:pPr>
            <a:r>
              <a:rPr sz="950" b="1" i="0">
                <a:solidFill>
                  <a:srgbClr val="E8F4F8"/>
                </a:solidFill>
              </a:rPr>
              <a:t>Overall Accuracy</a:t>
            </a:r>
            <a:endParaRPr/>
          </a:p>
        </p:txBody>
      </p:sp>
      <p:sp>
        <p:nvSpPr>
          <p:cNvPr id="1380584452" name="TextBox 19"/>
          <p:cNvSpPr txBox="1"/>
          <p:nvPr/>
        </p:nvSpPr>
        <p:spPr bwMode="auto">
          <a:xfrm>
            <a:off x="10835640" y="2377440"/>
            <a:ext cx="1051560" cy="237744"/>
          </a:xfrm>
          <a:prstGeom prst="rect">
            <a:avLst/>
          </a:prstGeom>
          <a:noFill/>
        </p:spPr>
        <p:txBody>
          <a:bodyPr wrap="square">
            <a:spAutoFit/>
          </a:bodyPr>
          <a:lstStyle/>
          <a:p>
            <a:pPr algn="r">
              <a:defRPr/>
            </a:pPr>
            <a:r>
              <a:rPr sz="950" b="1" i="0">
                <a:solidFill>
                  <a:srgbClr val="00B4D8"/>
                </a:solidFill>
              </a:rPr>
              <a:t>0.8193</a:t>
            </a:r>
            <a:endParaRPr/>
          </a:p>
        </p:txBody>
      </p:sp>
      <p:sp>
        <p:nvSpPr>
          <p:cNvPr id="1381301312" name="TextBox 20"/>
          <p:cNvSpPr txBox="1"/>
          <p:nvPr/>
        </p:nvSpPr>
        <p:spPr bwMode="auto">
          <a:xfrm>
            <a:off x="8979408" y="2642616"/>
            <a:ext cx="1828800" cy="237744"/>
          </a:xfrm>
          <a:prstGeom prst="rect">
            <a:avLst/>
          </a:prstGeom>
          <a:noFill/>
        </p:spPr>
        <p:txBody>
          <a:bodyPr wrap="square">
            <a:spAutoFit/>
          </a:bodyPr>
          <a:lstStyle/>
          <a:p>
            <a:pPr algn="l">
              <a:defRPr/>
            </a:pPr>
            <a:endParaRPr/>
          </a:p>
        </p:txBody>
      </p:sp>
      <p:sp>
        <p:nvSpPr>
          <p:cNvPr id="125175283" name="TextBox 21"/>
          <p:cNvSpPr txBox="1"/>
          <p:nvPr/>
        </p:nvSpPr>
        <p:spPr bwMode="auto">
          <a:xfrm>
            <a:off x="8979408" y="2907792"/>
            <a:ext cx="1828800" cy="237744"/>
          </a:xfrm>
          <a:prstGeom prst="rect">
            <a:avLst/>
          </a:prstGeom>
          <a:noFill/>
        </p:spPr>
        <p:txBody>
          <a:bodyPr wrap="square">
            <a:spAutoFit/>
          </a:bodyPr>
          <a:lstStyle/>
          <a:p>
            <a:pPr algn="l">
              <a:defRPr/>
            </a:pPr>
            <a:r>
              <a:rPr sz="950" b="1" i="0">
                <a:solidFill>
                  <a:srgbClr val="E8F4F8"/>
                </a:solidFill>
              </a:rPr>
              <a:t>Per-class Test F1:</a:t>
            </a:r>
            <a:endParaRPr/>
          </a:p>
        </p:txBody>
      </p:sp>
      <p:sp>
        <p:nvSpPr>
          <p:cNvPr id="384735241" name="TextBox 22"/>
          <p:cNvSpPr txBox="1"/>
          <p:nvPr/>
        </p:nvSpPr>
        <p:spPr bwMode="auto">
          <a:xfrm>
            <a:off x="8979408" y="3172968"/>
            <a:ext cx="1828800" cy="237744"/>
          </a:xfrm>
          <a:prstGeom prst="rect">
            <a:avLst/>
          </a:prstGeom>
          <a:noFill/>
        </p:spPr>
        <p:txBody>
          <a:bodyPr wrap="square">
            <a:spAutoFit/>
          </a:bodyPr>
          <a:lstStyle/>
          <a:p>
            <a:pPr algn="l">
              <a:defRPr/>
            </a:pPr>
            <a:r>
              <a:rPr sz="950" b="0" i="0">
                <a:solidFill>
                  <a:srgbClr val="8AB4C8"/>
                </a:solidFill>
              </a:rPr>
              <a:t>  healthy</a:t>
            </a:r>
            <a:endParaRPr/>
          </a:p>
        </p:txBody>
      </p:sp>
      <p:sp>
        <p:nvSpPr>
          <p:cNvPr id="1931773782" name="TextBox 23"/>
          <p:cNvSpPr txBox="1"/>
          <p:nvPr/>
        </p:nvSpPr>
        <p:spPr bwMode="auto">
          <a:xfrm>
            <a:off x="10835640" y="3172968"/>
            <a:ext cx="1051560" cy="237744"/>
          </a:xfrm>
          <a:prstGeom prst="rect">
            <a:avLst/>
          </a:prstGeom>
          <a:noFill/>
        </p:spPr>
        <p:txBody>
          <a:bodyPr wrap="square">
            <a:spAutoFit/>
          </a:bodyPr>
          <a:lstStyle/>
          <a:p>
            <a:pPr algn="r">
              <a:defRPr/>
            </a:pPr>
            <a:r>
              <a:rPr sz="950" b="1" i="0">
                <a:solidFill>
                  <a:srgbClr val="00B4D8"/>
                </a:solidFill>
              </a:rPr>
              <a:t>0.6962</a:t>
            </a:r>
            <a:endParaRPr/>
          </a:p>
        </p:txBody>
      </p:sp>
      <p:sp>
        <p:nvSpPr>
          <p:cNvPr id="304271917" name="TextBox 24"/>
          <p:cNvSpPr txBox="1"/>
          <p:nvPr/>
        </p:nvSpPr>
        <p:spPr bwMode="auto">
          <a:xfrm>
            <a:off x="8979408" y="3438144"/>
            <a:ext cx="1828800" cy="237744"/>
          </a:xfrm>
          <a:prstGeom prst="rect">
            <a:avLst/>
          </a:prstGeom>
          <a:noFill/>
        </p:spPr>
        <p:txBody>
          <a:bodyPr wrap="square">
            <a:spAutoFit/>
          </a:bodyPr>
          <a:lstStyle/>
          <a:p>
            <a:pPr algn="l">
              <a:defRPr/>
            </a:pPr>
            <a:r>
              <a:rPr sz="950" b="0" i="0">
                <a:solidFill>
                  <a:srgbClr val="8AB4C8"/>
                </a:solidFill>
              </a:rPr>
              <a:t>  stressed</a:t>
            </a:r>
            <a:endParaRPr/>
          </a:p>
        </p:txBody>
      </p:sp>
      <p:sp>
        <p:nvSpPr>
          <p:cNvPr id="1357112047" name="TextBox 25"/>
          <p:cNvSpPr txBox="1"/>
          <p:nvPr/>
        </p:nvSpPr>
        <p:spPr bwMode="auto">
          <a:xfrm>
            <a:off x="10835640" y="3438144"/>
            <a:ext cx="1051560" cy="237744"/>
          </a:xfrm>
          <a:prstGeom prst="rect">
            <a:avLst/>
          </a:prstGeom>
          <a:noFill/>
        </p:spPr>
        <p:txBody>
          <a:bodyPr wrap="square">
            <a:spAutoFit/>
          </a:bodyPr>
          <a:lstStyle/>
          <a:p>
            <a:pPr algn="r">
              <a:defRPr/>
            </a:pPr>
            <a:r>
              <a:rPr sz="950" b="1" i="0">
                <a:solidFill>
                  <a:srgbClr val="00B4D8"/>
                </a:solidFill>
              </a:rPr>
              <a:t>0.8986</a:t>
            </a:r>
            <a:endParaRPr/>
          </a:p>
        </p:txBody>
      </p:sp>
      <p:sp>
        <p:nvSpPr>
          <p:cNvPr id="706937120" name="TextBox 26"/>
          <p:cNvSpPr txBox="1"/>
          <p:nvPr/>
        </p:nvSpPr>
        <p:spPr bwMode="auto">
          <a:xfrm>
            <a:off x="8979408" y="3703320"/>
            <a:ext cx="1828800" cy="237744"/>
          </a:xfrm>
          <a:prstGeom prst="rect">
            <a:avLst/>
          </a:prstGeom>
          <a:noFill/>
        </p:spPr>
        <p:txBody>
          <a:bodyPr wrap="square">
            <a:spAutoFit/>
          </a:bodyPr>
          <a:lstStyle/>
          <a:p>
            <a:pPr algn="l">
              <a:defRPr/>
            </a:pPr>
            <a:r>
              <a:rPr sz="950" b="0" i="0">
                <a:solidFill>
                  <a:srgbClr val="8AB4C8"/>
                </a:solidFill>
              </a:rPr>
              <a:t>  bleached</a:t>
            </a:r>
            <a:endParaRPr/>
          </a:p>
        </p:txBody>
      </p:sp>
      <p:sp>
        <p:nvSpPr>
          <p:cNvPr id="2033723305" name="TextBox 27"/>
          <p:cNvSpPr txBox="1"/>
          <p:nvPr/>
        </p:nvSpPr>
        <p:spPr bwMode="auto">
          <a:xfrm>
            <a:off x="10835640" y="3703320"/>
            <a:ext cx="1051560" cy="237744"/>
          </a:xfrm>
          <a:prstGeom prst="rect">
            <a:avLst/>
          </a:prstGeom>
          <a:noFill/>
        </p:spPr>
        <p:txBody>
          <a:bodyPr wrap="square">
            <a:spAutoFit/>
          </a:bodyPr>
          <a:lstStyle/>
          <a:p>
            <a:pPr algn="r">
              <a:defRPr/>
            </a:pPr>
            <a:r>
              <a:rPr sz="950" b="1" i="0">
                <a:solidFill>
                  <a:srgbClr val="00B4D8"/>
                </a:solidFill>
              </a:rPr>
              <a:t>0.8830</a:t>
            </a:r>
            <a:endParaRPr/>
          </a:p>
        </p:txBody>
      </p:sp>
      <p:sp>
        <p:nvSpPr>
          <p:cNvPr id="1634025594" name="TextBox 28"/>
          <p:cNvSpPr txBox="1"/>
          <p:nvPr/>
        </p:nvSpPr>
        <p:spPr bwMode="auto">
          <a:xfrm>
            <a:off x="8979408" y="3968496"/>
            <a:ext cx="1828800" cy="237744"/>
          </a:xfrm>
          <a:prstGeom prst="rect">
            <a:avLst/>
          </a:prstGeom>
          <a:noFill/>
        </p:spPr>
        <p:txBody>
          <a:bodyPr wrap="square">
            <a:spAutoFit/>
          </a:bodyPr>
          <a:lstStyle/>
          <a:p>
            <a:pPr algn="l">
              <a:defRPr/>
            </a:pPr>
            <a:r>
              <a:rPr sz="950" b="0" i="0">
                <a:solidFill>
                  <a:srgbClr val="8AB4C8"/>
                </a:solidFill>
              </a:rPr>
              <a:t>  severely_degraded</a:t>
            </a:r>
            <a:endParaRPr/>
          </a:p>
        </p:txBody>
      </p:sp>
      <p:sp>
        <p:nvSpPr>
          <p:cNvPr id="1540403796" name="TextBox 29"/>
          <p:cNvSpPr txBox="1"/>
          <p:nvPr/>
        </p:nvSpPr>
        <p:spPr bwMode="auto">
          <a:xfrm>
            <a:off x="10835640" y="3968496"/>
            <a:ext cx="1051560" cy="237744"/>
          </a:xfrm>
          <a:prstGeom prst="rect">
            <a:avLst/>
          </a:prstGeom>
          <a:noFill/>
        </p:spPr>
        <p:txBody>
          <a:bodyPr wrap="square">
            <a:spAutoFit/>
          </a:bodyPr>
          <a:lstStyle/>
          <a:p>
            <a:pPr algn="r">
              <a:defRPr/>
            </a:pPr>
            <a:r>
              <a:rPr sz="950" b="1" i="0">
                <a:solidFill>
                  <a:srgbClr val="00B4D8"/>
                </a:solidFill>
              </a:rPr>
              <a:t>0.6708</a:t>
            </a:r>
            <a:endParaRPr/>
          </a:p>
        </p:txBody>
      </p:sp>
      <p:sp>
        <p:nvSpPr>
          <p:cNvPr id="1999302622" name="Rectangle 30"/>
          <p:cNvSpPr/>
          <p:nvPr/>
        </p:nvSpPr>
        <p:spPr bwMode="auto">
          <a:xfrm>
            <a:off x="228600" y="5321808"/>
            <a:ext cx="11750040" cy="932688"/>
          </a:xfrm>
          <a:prstGeom prst="rect">
            <a:avLst/>
          </a:prstGeom>
          <a:solidFill>
            <a:srgbClr val="122A4A"/>
          </a:solidFill>
          <a:ln w="635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1600090" name="TextBox 31"/>
          <p:cNvSpPr txBox="1"/>
          <p:nvPr/>
        </p:nvSpPr>
        <p:spPr bwMode="auto">
          <a:xfrm>
            <a:off x="365760" y="5376672"/>
            <a:ext cx="11430000" cy="256032"/>
          </a:xfrm>
          <a:prstGeom prst="rect">
            <a:avLst/>
          </a:prstGeom>
          <a:noFill/>
        </p:spPr>
        <p:txBody>
          <a:bodyPr wrap="square">
            <a:spAutoFit/>
          </a:bodyPr>
          <a:lstStyle/>
          <a:p>
            <a:pPr algn="l">
              <a:defRPr/>
            </a:pPr>
            <a:r>
              <a:rPr sz="1000" b="0" i="0">
                <a:solidFill>
                  <a:srgbClr val="E8F4F8"/>
                </a:solidFill>
              </a:rPr>
              <a:t>Why Logistic Regression won: Although all three models achieved very similar CV macro-F1 (within 0.003 of each other), Logistic Regression scored highest at 0.7612 and also achieved the best test macro-F1 (0.7871) and balanced accuracy (0.8012).</a:t>
            </a:r>
            <a:endParaRPr/>
          </a:p>
        </p:txBody>
      </p:sp>
      <p:sp>
        <p:nvSpPr>
          <p:cNvPr id="664878311" name="Rectangle 32"/>
          <p:cNvSpPr/>
          <p:nvPr/>
        </p:nvSpPr>
        <p:spPr bwMode="auto">
          <a:xfrm>
            <a:off x="228600" y="6309360"/>
            <a:ext cx="11750040" cy="274320"/>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9804778" name="TextBox 33"/>
          <p:cNvSpPr txBox="1"/>
          <p:nvPr/>
        </p:nvSpPr>
        <p:spPr bwMode="auto">
          <a:xfrm>
            <a:off x="320040" y="6327648"/>
            <a:ext cx="11567160" cy="237744"/>
          </a:xfrm>
          <a:prstGeom prst="rect">
            <a:avLst/>
          </a:prstGeom>
          <a:noFill/>
        </p:spPr>
        <p:txBody>
          <a:bodyPr wrap="square">
            <a:spAutoFit/>
          </a:bodyPr>
          <a:lstStyle/>
          <a:p>
            <a:pPr algn="l">
              <a:defRPr/>
            </a:pPr>
            <a:r>
              <a:rPr sz="950" b="0" i="1">
                <a:solidFill>
                  <a:srgbClr val="F4A261"/>
                </a:solidFill>
              </a:rPr>
              <a:t>SYNTHETIC DATA DISCLAIMER: These metrics reflect performance on synthetic observations only. They do not indicate real-world coral reef prediction accuracy.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79454522"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8780737"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Restoration Suitability Model Comparison</a:t>
            </a:r>
            <a:endParaRPr/>
          </a:p>
        </p:txBody>
      </p:sp>
      <p:sp>
        <p:nvSpPr>
          <p:cNvPr id="1950055183"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Selected model: XGBoost (highest CV Macro-F1) — SYNTHETIC DATA</a:t>
            </a:r>
            <a:endParaRPr/>
          </a:p>
        </p:txBody>
      </p:sp>
      <p:sp>
        <p:nvSpPr>
          <p:cNvPr id="2004989593"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3960377"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9348632"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448129593"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10</a:t>
            </a:r>
            <a:endParaRPr/>
          </a:p>
        </p:txBody>
      </p:sp>
      <p:pic>
        <p:nvPicPr>
          <p:cNvPr id="735693313" name="Picture 8" descr="image.png"/>
          <p:cNvPicPr>
            <a:picLocks noChangeAspect="1"/>
          </p:cNvPicPr>
          <p:nvPr/>
        </p:nvPicPr>
        <p:blipFill rotWithShape="1">
          <a:blip r:embed="rId3"/>
          <a:stretch/>
        </p:blipFill>
        <p:spPr bwMode="auto">
          <a:xfrm>
            <a:off x="228600" y="1115568"/>
            <a:ext cx="8549640" cy="4114800"/>
          </a:xfrm>
          <a:prstGeom prst="rect">
            <a:avLst/>
          </a:prstGeom>
        </p:spPr>
      </p:pic>
      <p:sp>
        <p:nvSpPr>
          <p:cNvPr id="1295516721" name="Rectangle 9"/>
          <p:cNvSpPr/>
          <p:nvPr/>
        </p:nvSpPr>
        <p:spPr bwMode="auto">
          <a:xfrm>
            <a:off x="8887968" y="1115568"/>
            <a:ext cx="3090672" cy="4114800"/>
          </a:xfrm>
          <a:prstGeom prst="rect">
            <a:avLst/>
          </a:prstGeom>
          <a:solidFill>
            <a:srgbClr val="122A4A"/>
          </a:solidFill>
          <a:ln w="2286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118169" name="Rectangle 10"/>
          <p:cNvSpPr/>
          <p:nvPr/>
        </p:nvSpPr>
        <p:spPr bwMode="auto">
          <a:xfrm>
            <a:off x="8887968" y="1115568"/>
            <a:ext cx="3090672" cy="384048"/>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6523992" name="TextBox 11"/>
          <p:cNvSpPr txBox="1"/>
          <p:nvPr/>
        </p:nvSpPr>
        <p:spPr bwMode="auto">
          <a:xfrm>
            <a:off x="8961120" y="1133856"/>
            <a:ext cx="2926080" cy="347472"/>
          </a:xfrm>
          <a:prstGeom prst="rect">
            <a:avLst/>
          </a:prstGeom>
          <a:noFill/>
        </p:spPr>
        <p:txBody>
          <a:bodyPr wrap="square">
            <a:spAutoFit/>
          </a:bodyPr>
          <a:lstStyle/>
          <a:p>
            <a:pPr algn="ctr">
              <a:defRPr/>
            </a:pPr>
            <a:r>
              <a:rPr sz="1050" b="1" i="0">
                <a:solidFill>
                  <a:srgbClr val="081224"/>
                </a:solidFill>
              </a:rPr>
              <a:t>Selected: XGBoost</a:t>
            </a:r>
            <a:endParaRPr/>
          </a:p>
        </p:txBody>
      </p:sp>
      <p:sp>
        <p:nvSpPr>
          <p:cNvPr id="734269424" name="TextBox 12"/>
          <p:cNvSpPr txBox="1"/>
          <p:nvPr/>
        </p:nvSpPr>
        <p:spPr bwMode="auto">
          <a:xfrm>
            <a:off x="8979408" y="1581912"/>
            <a:ext cx="1828800" cy="246888"/>
          </a:xfrm>
          <a:prstGeom prst="rect">
            <a:avLst/>
          </a:prstGeom>
          <a:noFill/>
        </p:spPr>
        <p:txBody>
          <a:bodyPr wrap="square">
            <a:spAutoFit/>
          </a:bodyPr>
          <a:lstStyle/>
          <a:p>
            <a:pPr algn="l">
              <a:defRPr/>
            </a:pPr>
            <a:r>
              <a:rPr sz="950" b="1" i="0">
                <a:solidFill>
                  <a:srgbClr val="E8F4F8"/>
                </a:solidFill>
              </a:rPr>
              <a:t>CV Macro-F1</a:t>
            </a:r>
            <a:endParaRPr/>
          </a:p>
        </p:txBody>
      </p:sp>
      <p:sp>
        <p:nvSpPr>
          <p:cNvPr id="949343912" name="TextBox 13"/>
          <p:cNvSpPr txBox="1"/>
          <p:nvPr/>
        </p:nvSpPr>
        <p:spPr bwMode="auto">
          <a:xfrm>
            <a:off x="10835640" y="1581912"/>
            <a:ext cx="1051560" cy="246888"/>
          </a:xfrm>
          <a:prstGeom prst="rect">
            <a:avLst/>
          </a:prstGeom>
          <a:noFill/>
        </p:spPr>
        <p:txBody>
          <a:bodyPr wrap="square">
            <a:spAutoFit/>
          </a:bodyPr>
          <a:lstStyle/>
          <a:p>
            <a:pPr algn="r">
              <a:defRPr/>
            </a:pPr>
            <a:r>
              <a:rPr sz="950" b="1" i="0">
                <a:solidFill>
                  <a:srgbClr val="00B4D8"/>
                </a:solidFill>
              </a:rPr>
              <a:t>0.7913  ± 0.008</a:t>
            </a:r>
            <a:endParaRPr/>
          </a:p>
        </p:txBody>
      </p:sp>
      <p:sp>
        <p:nvSpPr>
          <p:cNvPr id="1873440144" name="TextBox 14"/>
          <p:cNvSpPr txBox="1"/>
          <p:nvPr/>
        </p:nvSpPr>
        <p:spPr bwMode="auto">
          <a:xfrm>
            <a:off x="8979408" y="1865376"/>
            <a:ext cx="1828800" cy="246888"/>
          </a:xfrm>
          <a:prstGeom prst="rect">
            <a:avLst/>
          </a:prstGeom>
          <a:noFill/>
        </p:spPr>
        <p:txBody>
          <a:bodyPr wrap="square">
            <a:spAutoFit/>
          </a:bodyPr>
          <a:lstStyle/>
          <a:p>
            <a:pPr algn="l">
              <a:defRPr/>
            </a:pPr>
            <a:r>
              <a:rPr sz="950" b="1" i="0">
                <a:solidFill>
                  <a:srgbClr val="E8F4F8"/>
                </a:solidFill>
              </a:rPr>
              <a:t>Test Macro-F1</a:t>
            </a:r>
            <a:endParaRPr/>
          </a:p>
        </p:txBody>
      </p:sp>
      <p:sp>
        <p:nvSpPr>
          <p:cNvPr id="1270945519" name="TextBox 15"/>
          <p:cNvSpPr txBox="1"/>
          <p:nvPr/>
        </p:nvSpPr>
        <p:spPr bwMode="auto">
          <a:xfrm>
            <a:off x="10835640" y="1865376"/>
            <a:ext cx="1051560" cy="246888"/>
          </a:xfrm>
          <a:prstGeom prst="rect">
            <a:avLst/>
          </a:prstGeom>
          <a:noFill/>
        </p:spPr>
        <p:txBody>
          <a:bodyPr wrap="square">
            <a:spAutoFit/>
          </a:bodyPr>
          <a:lstStyle/>
          <a:p>
            <a:pPr algn="r">
              <a:defRPr/>
            </a:pPr>
            <a:r>
              <a:rPr sz="950" b="1" i="0">
                <a:solidFill>
                  <a:srgbClr val="00B4D8"/>
                </a:solidFill>
              </a:rPr>
              <a:t>0.8029</a:t>
            </a:r>
            <a:endParaRPr/>
          </a:p>
        </p:txBody>
      </p:sp>
      <p:sp>
        <p:nvSpPr>
          <p:cNvPr id="1117421215" name="TextBox 16"/>
          <p:cNvSpPr txBox="1"/>
          <p:nvPr/>
        </p:nvSpPr>
        <p:spPr bwMode="auto">
          <a:xfrm>
            <a:off x="8979408" y="2148840"/>
            <a:ext cx="1828800" cy="246888"/>
          </a:xfrm>
          <a:prstGeom prst="rect">
            <a:avLst/>
          </a:prstGeom>
          <a:noFill/>
        </p:spPr>
        <p:txBody>
          <a:bodyPr wrap="square">
            <a:spAutoFit/>
          </a:bodyPr>
          <a:lstStyle/>
          <a:p>
            <a:pPr algn="l">
              <a:defRPr/>
            </a:pPr>
            <a:r>
              <a:rPr sz="950" b="1" i="0">
                <a:solidFill>
                  <a:srgbClr val="E8F4F8"/>
                </a:solidFill>
              </a:rPr>
              <a:t>Balanced Accuracy</a:t>
            </a:r>
            <a:endParaRPr/>
          </a:p>
        </p:txBody>
      </p:sp>
      <p:sp>
        <p:nvSpPr>
          <p:cNvPr id="706132967" name="TextBox 17"/>
          <p:cNvSpPr txBox="1"/>
          <p:nvPr/>
        </p:nvSpPr>
        <p:spPr bwMode="auto">
          <a:xfrm>
            <a:off x="10835640" y="2148840"/>
            <a:ext cx="1051560" cy="246888"/>
          </a:xfrm>
          <a:prstGeom prst="rect">
            <a:avLst/>
          </a:prstGeom>
          <a:noFill/>
        </p:spPr>
        <p:txBody>
          <a:bodyPr wrap="square">
            <a:spAutoFit/>
          </a:bodyPr>
          <a:lstStyle/>
          <a:p>
            <a:pPr algn="r">
              <a:defRPr/>
            </a:pPr>
            <a:r>
              <a:rPr sz="950" b="1" i="0">
                <a:solidFill>
                  <a:srgbClr val="00B4D8"/>
                </a:solidFill>
              </a:rPr>
              <a:t>0.8121</a:t>
            </a:r>
            <a:endParaRPr/>
          </a:p>
        </p:txBody>
      </p:sp>
      <p:sp>
        <p:nvSpPr>
          <p:cNvPr id="519030427" name="TextBox 18"/>
          <p:cNvSpPr txBox="1"/>
          <p:nvPr/>
        </p:nvSpPr>
        <p:spPr bwMode="auto">
          <a:xfrm>
            <a:off x="8979408" y="2432303"/>
            <a:ext cx="1828800" cy="246888"/>
          </a:xfrm>
          <a:prstGeom prst="rect">
            <a:avLst/>
          </a:prstGeom>
          <a:noFill/>
        </p:spPr>
        <p:txBody>
          <a:bodyPr wrap="square">
            <a:spAutoFit/>
          </a:bodyPr>
          <a:lstStyle/>
          <a:p>
            <a:pPr algn="l">
              <a:defRPr/>
            </a:pPr>
            <a:r>
              <a:rPr sz="950" b="1" i="0">
                <a:solidFill>
                  <a:srgbClr val="E8F4F8"/>
                </a:solidFill>
              </a:rPr>
              <a:t>Overall Accuracy</a:t>
            </a:r>
            <a:endParaRPr/>
          </a:p>
        </p:txBody>
      </p:sp>
      <p:sp>
        <p:nvSpPr>
          <p:cNvPr id="2105393501" name="TextBox 19"/>
          <p:cNvSpPr txBox="1"/>
          <p:nvPr/>
        </p:nvSpPr>
        <p:spPr bwMode="auto">
          <a:xfrm>
            <a:off x="10835640" y="2432303"/>
            <a:ext cx="1051560" cy="246888"/>
          </a:xfrm>
          <a:prstGeom prst="rect">
            <a:avLst/>
          </a:prstGeom>
          <a:noFill/>
        </p:spPr>
        <p:txBody>
          <a:bodyPr wrap="square">
            <a:spAutoFit/>
          </a:bodyPr>
          <a:lstStyle/>
          <a:p>
            <a:pPr algn="r">
              <a:defRPr/>
            </a:pPr>
            <a:r>
              <a:rPr sz="950" b="1" i="0">
                <a:solidFill>
                  <a:srgbClr val="00B4D8"/>
                </a:solidFill>
              </a:rPr>
              <a:t>0.8277</a:t>
            </a:r>
            <a:endParaRPr/>
          </a:p>
        </p:txBody>
      </p:sp>
      <p:sp>
        <p:nvSpPr>
          <p:cNvPr id="651056570" name="TextBox 20"/>
          <p:cNvSpPr txBox="1"/>
          <p:nvPr/>
        </p:nvSpPr>
        <p:spPr bwMode="auto">
          <a:xfrm>
            <a:off x="8979408" y="2715768"/>
            <a:ext cx="1828800" cy="246888"/>
          </a:xfrm>
          <a:prstGeom prst="rect">
            <a:avLst/>
          </a:prstGeom>
          <a:noFill/>
        </p:spPr>
        <p:txBody>
          <a:bodyPr wrap="square">
            <a:spAutoFit/>
          </a:bodyPr>
          <a:lstStyle/>
          <a:p>
            <a:pPr algn="l">
              <a:defRPr/>
            </a:pPr>
            <a:endParaRPr/>
          </a:p>
        </p:txBody>
      </p:sp>
      <p:sp>
        <p:nvSpPr>
          <p:cNvPr id="1749678368" name="TextBox 21"/>
          <p:cNvSpPr txBox="1"/>
          <p:nvPr/>
        </p:nvSpPr>
        <p:spPr bwMode="auto">
          <a:xfrm>
            <a:off x="8979408" y="2999232"/>
            <a:ext cx="1828800" cy="246888"/>
          </a:xfrm>
          <a:prstGeom prst="rect">
            <a:avLst/>
          </a:prstGeom>
          <a:noFill/>
        </p:spPr>
        <p:txBody>
          <a:bodyPr wrap="square">
            <a:spAutoFit/>
          </a:bodyPr>
          <a:lstStyle/>
          <a:p>
            <a:pPr algn="l">
              <a:defRPr/>
            </a:pPr>
            <a:r>
              <a:rPr sz="950" b="1" i="0">
                <a:solidFill>
                  <a:srgbClr val="E8F4F8"/>
                </a:solidFill>
              </a:rPr>
              <a:t>Per-class Test F1:</a:t>
            </a:r>
            <a:endParaRPr/>
          </a:p>
        </p:txBody>
      </p:sp>
      <p:sp>
        <p:nvSpPr>
          <p:cNvPr id="1871526054" name="TextBox 22"/>
          <p:cNvSpPr txBox="1"/>
          <p:nvPr/>
        </p:nvSpPr>
        <p:spPr bwMode="auto">
          <a:xfrm>
            <a:off x="8979408" y="3282696"/>
            <a:ext cx="1828800" cy="246888"/>
          </a:xfrm>
          <a:prstGeom prst="rect">
            <a:avLst/>
          </a:prstGeom>
          <a:noFill/>
        </p:spPr>
        <p:txBody>
          <a:bodyPr wrap="square">
            <a:spAutoFit/>
          </a:bodyPr>
          <a:lstStyle/>
          <a:p>
            <a:pPr algn="l">
              <a:defRPr/>
            </a:pPr>
            <a:r>
              <a:rPr sz="950" b="0" i="0">
                <a:solidFill>
                  <a:srgbClr val="8AB4C8"/>
                </a:solidFill>
              </a:rPr>
              <a:t>  suitable</a:t>
            </a:r>
            <a:endParaRPr/>
          </a:p>
        </p:txBody>
      </p:sp>
      <p:sp>
        <p:nvSpPr>
          <p:cNvPr id="1984880552" name="TextBox 23"/>
          <p:cNvSpPr txBox="1"/>
          <p:nvPr/>
        </p:nvSpPr>
        <p:spPr bwMode="auto">
          <a:xfrm>
            <a:off x="10835640" y="3282696"/>
            <a:ext cx="1051560" cy="246888"/>
          </a:xfrm>
          <a:prstGeom prst="rect">
            <a:avLst/>
          </a:prstGeom>
          <a:noFill/>
        </p:spPr>
        <p:txBody>
          <a:bodyPr wrap="square">
            <a:spAutoFit/>
          </a:bodyPr>
          <a:lstStyle/>
          <a:p>
            <a:pPr algn="r">
              <a:defRPr/>
            </a:pPr>
            <a:r>
              <a:rPr sz="950" b="1" i="0">
                <a:solidFill>
                  <a:srgbClr val="00B4D8"/>
                </a:solidFill>
              </a:rPr>
              <a:t>0.7204</a:t>
            </a:r>
            <a:endParaRPr/>
          </a:p>
        </p:txBody>
      </p:sp>
      <p:sp>
        <p:nvSpPr>
          <p:cNvPr id="1956843955" name="TextBox 24"/>
          <p:cNvSpPr txBox="1"/>
          <p:nvPr/>
        </p:nvSpPr>
        <p:spPr bwMode="auto">
          <a:xfrm>
            <a:off x="8979408" y="3566160"/>
            <a:ext cx="1828800" cy="246888"/>
          </a:xfrm>
          <a:prstGeom prst="rect">
            <a:avLst/>
          </a:prstGeom>
          <a:noFill/>
        </p:spPr>
        <p:txBody>
          <a:bodyPr wrap="square">
            <a:spAutoFit/>
          </a:bodyPr>
          <a:lstStyle/>
          <a:p>
            <a:pPr algn="l">
              <a:defRPr/>
            </a:pPr>
            <a:r>
              <a:rPr sz="950" b="0" i="0">
                <a:solidFill>
                  <a:srgbClr val="8AB4C8"/>
                </a:solidFill>
              </a:rPr>
              <a:t>  mod. suitable</a:t>
            </a:r>
            <a:endParaRPr/>
          </a:p>
        </p:txBody>
      </p:sp>
      <p:sp>
        <p:nvSpPr>
          <p:cNvPr id="1725910500" name="TextBox 25"/>
          <p:cNvSpPr txBox="1"/>
          <p:nvPr/>
        </p:nvSpPr>
        <p:spPr bwMode="auto">
          <a:xfrm>
            <a:off x="10835640" y="3566160"/>
            <a:ext cx="1051560" cy="246888"/>
          </a:xfrm>
          <a:prstGeom prst="rect">
            <a:avLst/>
          </a:prstGeom>
          <a:noFill/>
        </p:spPr>
        <p:txBody>
          <a:bodyPr wrap="square">
            <a:spAutoFit/>
          </a:bodyPr>
          <a:lstStyle/>
          <a:p>
            <a:pPr algn="r">
              <a:defRPr/>
            </a:pPr>
            <a:r>
              <a:rPr sz="950" b="1" i="0">
                <a:solidFill>
                  <a:srgbClr val="00B4D8"/>
                </a:solidFill>
              </a:rPr>
              <a:t>0.8884</a:t>
            </a:r>
            <a:endParaRPr/>
          </a:p>
        </p:txBody>
      </p:sp>
      <p:sp>
        <p:nvSpPr>
          <p:cNvPr id="127695050" name="TextBox 26"/>
          <p:cNvSpPr txBox="1"/>
          <p:nvPr/>
        </p:nvSpPr>
        <p:spPr bwMode="auto">
          <a:xfrm>
            <a:off x="8979408" y="3849624"/>
            <a:ext cx="1828800" cy="246888"/>
          </a:xfrm>
          <a:prstGeom prst="rect">
            <a:avLst/>
          </a:prstGeom>
          <a:noFill/>
        </p:spPr>
        <p:txBody>
          <a:bodyPr wrap="square">
            <a:spAutoFit/>
          </a:bodyPr>
          <a:lstStyle/>
          <a:p>
            <a:pPr algn="l">
              <a:defRPr/>
            </a:pPr>
            <a:r>
              <a:rPr sz="950" b="0" i="0">
                <a:solidFill>
                  <a:srgbClr val="8AB4C8"/>
                </a:solidFill>
              </a:rPr>
              <a:t>  unsuitable</a:t>
            </a:r>
            <a:endParaRPr/>
          </a:p>
        </p:txBody>
      </p:sp>
      <p:sp>
        <p:nvSpPr>
          <p:cNvPr id="498349734" name="TextBox 27"/>
          <p:cNvSpPr txBox="1"/>
          <p:nvPr/>
        </p:nvSpPr>
        <p:spPr bwMode="auto">
          <a:xfrm>
            <a:off x="10835640" y="3849624"/>
            <a:ext cx="1051560" cy="246888"/>
          </a:xfrm>
          <a:prstGeom prst="rect">
            <a:avLst/>
          </a:prstGeom>
          <a:noFill/>
        </p:spPr>
        <p:txBody>
          <a:bodyPr wrap="square">
            <a:spAutoFit/>
          </a:bodyPr>
          <a:lstStyle/>
          <a:p>
            <a:pPr algn="r">
              <a:defRPr/>
            </a:pPr>
            <a:r>
              <a:rPr sz="950" b="1" i="0">
                <a:solidFill>
                  <a:srgbClr val="00B4D8"/>
                </a:solidFill>
              </a:rPr>
              <a:t>0.8000</a:t>
            </a:r>
            <a:endParaRPr/>
          </a:p>
        </p:txBody>
      </p:sp>
      <p:sp>
        <p:nvSpPr>
          <p:cNvPr id="5839435" name="Rectangle 28"/>
          <p:cNvSpPr/>
          <p:nvPr/>
        </p:nvSpPr>
        <p:spPr bwMode="auto">
          <a:xfrm>
            <a:off x="228600" y="5321808"/>
            <a:ext cx="11750040" cy="932688"/>
          </a:xfrm>
          <a:prstGeom prst="rect">
            <a:avLst/>
          </a:prstGeom>
          <a:solidFill>
            <a:srgbClr val="122A4A"/>
          </a:solidFill>
          <a:ln w="6350">
            <a:solidFill>
              <a:srgbClr val="1B8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0116317" name="TextBox 29"/>
          <p:cNvSpPr txBox="1"/>
          <p:nvPr/>
        </p:nvSpPr>
        <p:spPr bwMode="auto">
          <a:xfrm>
            <a:off x="365760" y="5376672"/>
            <a:ext cx="11430000" cy="256032"/>
          </a:xfrm>
          <a:prstGeom prst="rect">
            <a:avLst/>
          </a:prstGeom>
          <a:noFill/>
        </p:spPr>
        <p:txBody>
          <a:bodyPr wrap="square">
            <a:spAutoFit/>
          </a:bodyPr>
          <a:lstStyle/>
          <a:p>
            <a:pPr algn="l">
              <a:defRPr/>
            </a:pPr>
            <a:r>
              <a:rPr sz="1000" b="0" i="0">
                <a:solidFill>
                  <a:srgbClr val="E8F4F8"/>
                </a:solidFill>
              </a:rPr>
              <a:t>Why XGBoost won: XGBoost achieved CV macro-F1 of 0.7913, ahead of Random Forest (0.7839) and Logistic Regression (0.7808). It also produced the best test macro-F1 (0.8029) and accuracy (0.8277), capturing non-linear interactions between substrate and water quality.</a:t>
            </a:r>
            <a:endParaRPr/>
          </a:p>
        </p:txBody>
      </p:sp>
      <p:sp>
        <p:nvSpPr>
          <p:cNvPr id="179712659" name="Rectangle 30"/>
          <p:cNvSpPr/>
          <p:nvPr/>
        </p:nvSpPr>
        <p:spPr bwMode="auto">
          <a:xfrm>
            <a:off x="228600" y="6309360"/>
            <a:ext cx="11750040" cy="274320"/>
          </a:xfrm>
          <a:prstGeom prst="rect">
            <a:avLst/>
          </a:prstGeom>
          <a:solidFill>
            <a:srgbClr val="143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3024121" name="TextBox 31"/>
          <p:cNvSpPr txBox="1"/>
          <p:nvPr/>
        </p:nvSpPr>
        <p:spPr bwMode="auto">
          <a:xfrm>
            <a:off x="320040" y="6327648"/>
            <a:ext cx="11567160" cy="237744"/>
          </a:xfrm>
          <a:prstGeom prst="rect">
            <a:avLst/>
          </a:prstGeom>
          <a:noFill/>
        </p:spPr>
        <p:txBody>
          <a:bodyPr wrap="square">
            <a:spAutoFit/>
          </a:bodyPr>
          <a:lstStyle/>
          <a:p>
            <a:pPr algn="l">
              <a:defRPr/>
            </a:pPr>
            <a:r>
              <a:rPr sz="950" b="0" i="1">
                <a:solidFill>
                  <a:srgbClr val="F4A261"/>
                </a:solidFill>
              </a:rPr>
              <a:t>SYNTHETIC DATA DISCLAIMER: These metrics reflect performance on synthetic observations only. They do not indicate real-world coral reef prediction accuracy.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81224"/>
        </a:solidFill>
      </p:bgPr>
    </p:bg>
    <p:spTree>
      <p:nvGrpSpPr>
        <p:cNvPr id="1" name=""/>
        <p:cNvGrpSpPr/>
        <p:nvPr/>
      </p:nvGrpSpPr>
      <p:grpSpPr bwMode="auto">
        <a:xfrm>
          <a:off x="0" y="0"/>
          <a:ext cx="0" cy="0"/>
          <a:chOff x="0" y="0"/>
          <a:chExt cx="0" cy="0"/>
        </a:xfrm>
      </p:grpSpPr>
      <p:sp>
        <p:nvSpPr>
          <p:cNvPr id="1607388931" name="Rectangle 1"/>
          <p:cNvSpPr/>
          <p:nvPr/>
        </p:nvSpPr>
        <p:spPr bwMode="auto">
          <a:xfrm>
            <a:off x="0" y="0"/>
            <a:ext cx="12188952" cy="102412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2989190" name="TextBox 2"/>
          <p:cNvSpPr txBox="1"/>
          <p:nvPr/>
        </p:nvSpPr>
        <p:spPr bwMode="auto">
          <a:xfrm>
            <a:off x="320040" y="137160"/>
            <a:ext cx="11430000" cy="594360"/>
          </a:xfrm>
          <a:prstGeom prst="rect">
            <a:avLst/>
          </a:prstGeom>
          <a:noFill/>
        </p:spPr>
        <p:txBody>
          <a:bodyPr wrap="square">
            <a:spAutoFit/>
          </a:bodyPr>
          <a:lstStyle/>
          <a:p>
            <a:pPr algn="l">
              <a:defRPr/>
            </a:pPr>
            <a:r>
              <a:rPr sz="2400" b="1" i="0">
                <a:solidFill>
                  <a:srgbClr val="00B4D8"/>
                </a:solidFill>
              </a:rPr>
              <a:t>Results, Limitations and Next Steps</a:t>
            </a:r>
            <a:endParaRPr/>
          </a:p>
        </p:txBody>
      </p:sp>
      <p:sp>
        <p:nvSpPr>
          <p:cNvPr id="536397437" name="TextBox 3"/>
          <p:cNvSpPr txBox="1"/>
          <p:nvPr/>
        </p:nvSpPr>
        <p:spPr bwMode="auto">
          <a:xfrm>
            <a:off x="320040" y="658368"/>
            <a:ext cx="11430000" cy="320040"/>
          </a:xfrm>
          <a:prstGeom prst="rect">
            <a:avLst/>
          </a:prstGeom>
          <a:noFill/>
        </p:spPr>
        <p:txBody>
          <a:bodyPr wrap="square">
            <a:spAutoFit/>
          </a:bodyPr>
          <a:lstStyle/>
          <a:p>
            <a:pPr algn="l">
              <a:defRPr/>
            </a:pPr>
            <a:r>
              <a:rPr sz="1200" b="0" i="0">
                <a:solidFill>
                  <a:srgbClr val="8AB4C8"/>
                </a:solidFill>
              </a:rPr>
              <a:t>Prototype performance on synthetic data — real-world validation required</a:t>
            </a:r>
            <a:endParaRPr/>
          </a:p>
        </p:txBody>
      </p:sp>
      <p:sp>
        <p:nvSpPr>
          <p:cNvPr id="1328036303" name="Rectangle 4"/>
          <p:cNvSpPr/>
          <p:nvPr/>
        </p:nvSpPr>
        <p:spPr bwMode="auto">
          <a:xfrm>
            <a:off x="0" y="1024128"/>
            <a:ext cx="12188952" cy="27432"/>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7497592" name="Rectangle 5"/>
          <p:cNvSpPr/>
          <p:nvPr/>
        </p:nvSpPr>
        <p:spPr bwMode="auto">
          <a:xfrm>
            <a:off x="0" y="6565392"/>
            <a:ext cx="12188952" cy="36576"/>
          </a:xfrm>
          <a:prstGeom prst="rect">
            <a:avLst/>
          </a:prstGeom>
          <a:solidFill>
            <a:srgbClr val="1B8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7413312" name="TextBox 6"/>
          <p:cNvSpPr txBox="1"/>
          <p:nvPr/>
        </p:nvSpPr>
        <p:spPr bwMode="auto">
          <a:xfrm>
            <a:off x="274320" y="6601968"/>
            <a:ext cx="8229600" cy="228600"/>
          </a:xfrm>
          <a:prstGeom prst="rect">
            <a:avLst/>
          </a:prstGeom>
          <a:noFill/>
        </p:spPr>
        <p:txBody>
          <a:bodyPr wrap="square">
            <a:spAutoFit/>
          </a:bodyPr>
          <a:lstStyle/>
          <a:p>
            <a:pPr algn="l">
              <a:defRPr/>
            </a:pPr>
            <a:r>
              <a:rPr sz="900" b="0" i="0">
                <a:solidFill>
                  <a:srgbClr val="8AB4C8"/>
                </a:solidFill>
              </a:rPr>
              <a:t>Oceanographic Reef Prediction Framework</a:t>
            </a:r>
            <a:endParaRPr/>
          </a:p>
        </p:txBody>
      </p:sp>
      <p:sp>
        <p:nvSpPr>
          <p:cNvPr id="876609142" name="TextBox 7"/>
          <p:cNvSpPr txBox="1"/>
          <p:nvPr/>
        </p:nvSpPr>
        <p:spPr bwMode="auto">
          <a:xfrm>
            <a:off x="11247120" y="6601968"/>
            <a:ext cx="731520" cy="228600"/>
          </a:xfrm>
          <a:prstGeom prst="rect">
            <a:avLst/>
          </a:prstGeom>
          <a:noFill/>
        </p:spPr>
        <p:txBody>
          <a:bodyPr wrap="square">
            <a:spAutoFit/>
          </a:bodyPr>
          <a:lstStyle/>
          <a:p>
            <a:pPr algn="r">
              <a:defRPr/>
            </a:pPr>
            <a:r>
              <a:rPr sz="900" b="0" i="0">
                <a:solidFill>
                  <a:srgbClr val="8AB4C8"/>
                </a:solidFill>
              </a:rPr>
              <a:t>12</a:t>
            </a:r>
            <a:endParaRPr/>
          </a:p>
        </p:txBody>
      </p:sp>
      <p:sp>
        <p:nvSpPr>
          <p:cNvPr id="856915041" name="Rectangle 8"/>
          <p:cNvSpPr/>
          <p:nvPr/>
        </p:nvSpPr>
        <p:spPr bwMode="auto">
          <a:xfrm>
            <a:off x="274320" y="1170432"/>
            <a:ext cx="3840480" cy="5120640"/>
          </a:xfrm>
          <a:prstGeom prst="rect">
            <a:avLst/>
          </a:prstGeom>
          <a:solidFill>
            <a:srgbClr val="122A4A"/>
          </a:solidFill>
          <a:ln w="12700">
            <a:solidFill>
              <a:srgbClr val="2EC4B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3638777" name="Rectangle 9"/>
          <p:cNvSpPr/>
          <p:nvPr/>
        </p:nvSpPr>
        <p:spPr bwMode="auto">
          <a:xfrm>
            <a:off x="274320" y="1170432"/>
            <a:ext cx="3840480" cy="38404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5552852" name="TextBox 10"/>
          <p:cNvSpPr txBox="1"/>
          <p:nvPr/>
        </p:nvSpPr>
        <p:spPr bwMode="auto">
          <a:xfrm>
            <a:off x="365760" y="1188720"/>
            <a:ext cx="3657600" cy="347472"/>
          </a:xfrm>
          <a:prstGeom prst="rect">
            <a:avLst/>
          </a:prstGeom>
          <a:noFill/>
        </p:spPr>
        <p:txBody>
          <a:bodyPr wrap="square">
            <a:spAutoFit/>
          </a:bodyPr>
          <a:lstStyle/>
          <a:p>
            <a:pPr algn="ctr">
              <a:defRPr/>
            </a:pPr>
            <a:r>
              <a:rPr sz="1200" b="1" i="0">
                <a:solidFill>
                  <a:srgbClr val="081224"/>
                </a:solidFill>
              </a:rPr>
              <a:t>Selected Models</a:t>
            </a:r>
            <a:endParaRPr/>
          </a:p>
        </p:txBody>
      </p:sp>
      <p:sp>
        <p:nvSpPr>
          <p:cNvPr id="1756555122" name="TextBox 11"/>
          <p:cNvSpPr txBox="1"/>
          <p:nvPr/>
        </p:nvSpPr>
        <p:spPr bwMode="auto">
          <a:xfrm>
            <a:off x="384048" y="1664208"/>
            <a:ext cx="1828800" cy="256032"/>
          </a:xfrm>
          <a:prstGeom prst="rect">
            <a:avLst/>
          </a:prstGeom>
          <a:noFill/>
        </p:spPr>
        <p:txBody>
          <a:bodyPr wrap="square">
            <a:spAutoFit/>
          </a:bodyPr>
          <a:lstStyle/>
          <a:p>
            <a:pPr algn="l">
              <a:defRPr/>
            </a:pPr>
            <a:r>
              <a:rPr sz="1050" b="1" i="0">
                <a:solidFill>
                  <a:srgbClr val="00B4D8"/>
                </a:solidFill>
              </a:rPr>
              <a:t>Reef Health</a:t>
            </a:r>
            <a:endParaRPr/>
          </a:p>
        </p:txBody>
      </p:sp>
      <p:sp>
        <p:nvSpPr>
          <p:cNvPr id="254119061" name="TextBox 12"/>
          <p:cNvSpPr txBox="1"/>
          <p:nvPr/>
        </p:nvSpPr>
        <p:spPr bwMode="auto">
          <a:xfrm>
            <a:off x="2240280" y="1664208"/>
            <a:ext cx="1783080" cy="256032"/>
          </a:xfrm>
          <a:prstGeom prst="rect">
            <a:avLst/>
          </a:prstGeom>
          <a:noFill/>
        </p:spPr>
        <p:txBody>
          <a:bodyPr wrap="square">
            <a:spAutoFit/>
          </a:bodyPr>
          <a:lstStyle/>
          <a:p>
            <a:pPr algn="r">
              <a:defRPr/>
            </a:pPr>
            <a:r>
              <a:rPr sz="1050" b="1" i="0">
                <a:solidFill>
                  <a:srgbClr val="00B4D8"/>
                </a:solidFill>
              </a:rPr>
              <a:t>Logistic Regression</a:t>
            </a:r>
            <a:endParaRPr/>
          </a:p>
        </p:txBody>
      </p:sp>
      <p:sp>
        <p:nvSpPr>
          <p:cNvPr id="1373199726" name="TextBox 13"/>
          <p:cNvSpPr txBox="1"/>
          <p:nvPr/>
        </p:nvSpPr>
        <p:spPr bwMode="auto">
          <a:xfrm>
            <a:off x="384048" y="1938528"/>
            <a:ext cx="1828800" cy="256032"/>
          </a:xfrm>
          <a:prstGeom prst="rect">
            <a:avLst/>
          </a:prstGeom>
          <a:noFill/>
        </p:spPr>
        <p:txBody>
          <a:bodyPr wrap="square">
            <a:spAutoFit/>
          </a:bodyPr>
          <a:lstStyle/>
          <a:p>
            <a:pPr algn="l">
              <a:defRPr/>
            </a:pPr>
            <a:r>
              <a:rPr sz="1050" b="0" i="0">
                <a:solidFill>
                  <a:srgbClr val="8AB4C8"/>
                </a:solidFill>
              </a:rPr>
              <a:t>CV Macro-F1</a:t>
            </a:r>
            <a:endParaRPr/>
          </a:p>
        </p:txBody>
      </p:sp>
      <p:sp>
        <p:nvSpPr>
          <p:cNvPr id="2097153639" name="TextBox 14"/>
          <p:cNvSpPr txBox="1"/>
          <p:nvPr/>
        </p:nvSpPr>
        <p:spPr bwMode="auto">
          <a:xfrm>
            <a:off x="2240280" y="1938528"/>
            <a:ext cx="1783080" cy="256032"/>
          </a:xfrm>
          <a:prstGeom prst="rect">
            <a:avLst/>
          </a:prstGeom>
          <a:noFill/>
        </p:spPr>
        <p:txBody>
          <a:bodyPr wrap="square">
            <a:spAutoFit/>
          </a:bodyPr>
          <a:lstStyle/>
          <a:p>
            <a:pPr algn="r">
              <a:defRPr/>
            </a:pPr>
            <a:r>
              <a:rPr sz="1050" b="0" i="0">
                <a:solidFill>
                  <a:srgbClr val="E8F4F8"/>
                </a:solidFill>
              </a:rPr>
              <a:t>0.7612</a:t>
            </a:r>
            <a:endParaRPr/>
          </a:p>
        </p:txBody>
      </p:sp>
      <p:sp>
        <p:nvSpPr>
          <p:cNvPr id="1106656123" name="TextBox 15"/>
          <p:cNvSpPr txBox="1"/>
          <p:nvPr/>
        </p:nvSpPr>
        <p:spPr bwMode="auto">
          <a:xfrm>
            <a:off x="384048" y="2212848"/>
            <a:ext cx="1828800" cy="256032"/>
          </a:xfrm>
          <a:prstGeom prst="rect">
            <a:avLst/>
          </a:prstGeom>
          <a:noFill/>
        </p:spPr>
        <p:txBody>
          <a:bodyPr wrap="square">
            <a:spAutoFit/>
          </a:bodyPr>
          <a:lstStyle/>
          <a:p>
            <a:pPr algn="l">
              <a:defRPr/>
            </a:pPr>
            <a:r>
              <a:rPr sz="1050" b="0" i="0">
                <a:solidFill>
                  <a:srgbClr val="8AB4C8"/>
                </a:solidFill>
              </a:rPr>
              <a:t>Test Macro-F1</a:t>
            </a:r>
            <a:endParaRPr/>
          </a:p>
        </p:txBody>
      </p:sp>
      <p:sp>
        <p:nvSpPr>
          <p:cNvPr id="254989734" name="TextBox 16"/>
          <p:cNvSpPr txBox="1"/>
          <p:nvPr/>
        </p:nvSpPr>
        <p:spPr bwMode="auto">
          <a:xfrm>
            <a:off x="2240280" y="2212848"/>
            <a:ext cx="1783080" cy="256032"/>
          </a:xfrm>
          <a:prstGeom prst="rect">
            <a:avLst/>
          </a:prstGeom>
          <a:noFill/>
        </p:spPr>
        <p:txBody>
          <a:bodyPr wrap="square">
            <a:spAutoFit/>
          </a:bodyPr>
          <a:lstStyle/>
          <a:p>
            <a:pPr algn="r">
              <a:defRPr/>
            </a:pPr>
            <a:r>
              <a:rPr sz="1050" b="0" i="0">
                <a:solidFill>
                  <a:srgbClr val="E8F4F8"/>
                </a:solidFill>
              </a:rPr>
              <a:t>0.7871</a:t>
            </a:r>
            <a:endParaRPr/>
          </a:p>
        </p:txBody>
      </p:sp>
      <p:sp>
        <p:nvSpPr>
          <p:cNvPr id="957649016" name="TextBox 17"/>
          <p:cNvSpPr txBox="1"/>
          <p:nvPr/>
        </p:nvSpPr>
        <p:spPr bwMode="auto">
          <a:xfrm>
            <a:off x="384048" y="2487168"/>
            <a:ext cx="1828800" cy="256032"/>
          </a:xfrm>
          <a:prstGeom prst="rect">
            <a:avLst/>
          </a:prstGeom>
          <a:noFill/>
        </p:spPr>
        <p:txBody>
          <a:bodyPr wrap="square">
            <a:spAutoFit/>
          </a:bodyPr>
          <a:lstStyle/>
          <a:p>
            <a:pPr algn="l">
              <a:defRPr/>
            </a:pPr>
            <a:r>
              <a:rPr sz="1050" b="0" i="0">
                <a:solidFill>
                  <a:srgbClr val="8AB4C8"/>
                </a:solidFill>
              </a:rPr>
              <a:t>Test Accuracy</a:t>
            </a:r>
            <a:endParaRPr/>
          </a:p>
        </p:txBody>
      </p:sp>
      <p:sp>
        <p:nvSpPr>
          <p:cNvPr id="1160192903" name="TextBox 18"/>
          <p:cNvSpPr txBox="1"/>
          <p:nvPr/>
        </p:nvSpPr>
        <p:spPr bwMode="auto">
          <a:xfrm>
            <a:off x="2240280" y="2487168"/>
            <a:ext cx="1783080" cy="256032"/>
          </a:xfrm>
          <a:prstGeom prst="rect">
            <a:avLst/>
          </a:prstGeom>
          <a:noFill/>
        </p:spPr>
        <p:txBody>
          <a:bodyPr wrap="square">
            <a:spAutoFit/>
          </a:bodyPr>
          <a:lstStyle/>
          <a:p>
            <a:pPr algn="r">
              <a:defRPr/>
            </a:pPr>
            <a:r>
              <a:rPr sz="1050" b="0" i="0">
                <a:solidFill>
                  <a:srgbClr val="E8F4F8"/>
                </a:solidFill>
              </a:rPr>
              <a:t>0.8193</a:t>
            </a:r>
            <a:endParaRPr/>
          </a:p>
        </p:txBody>
      </p:sp>
      <p:sp>
        <p:nvSpPr>
          <p:cNvPr id="1915918450" name="TextBox 19"/>
          <p:cNvSpPr txBox="1"/>
          <p:nvPr/>
        </p:nvSpPr>
        <p:spPr bwMode="auto">
          <a:xfrm>
            <a:off x="384048" y="2871215"/>
            <a:ext cx="1828800" cy="256032"/>
          </a:xfrm>
          <a:prstGeom prst="rect">
            <a:avLst/>
          </a:prstGeom>
          <a:noFill/>
        </p:spPr>
        <p:txBody>
          <a:bodyPr wrap="square">
            <a:spAutoFit/>
          </a:bodyPr>
          <a:lstStyle/>
          <a:p>
            <a:pPr algn="l">
              <a:defRPr/>
            </a:pPr>
            <a:r>
              <a:rPr sz="1050" b="1" i="0">
                <a:solidFill>
                  <a:srgbClr val="00B4D8"/>
                </a:solidFill>
              </a:rPr>
              <a:t>Restoration</a:t>
            </a:r>
            <a:endParaRPr/>
          </a:p>
        </p:txBody>
      </p:sp>
      <p:sp>
        <p:nvSpPr>
          <p:cNvPr id="1784134987" name="TextBox 20"/>
          <p:cNvSpPr txBox="1"/>
          <p:nvPr/>
        </p:nvSpPr>
        <p:spPr bwMode="auto">
          <a:xfrm>
            <a:off x="2240280" y="2871215"/>
            <a:ext cx="1783080" cy="256032"/>
          </a:xfrm>
          <a:prstGeom prst="rect">
            <a:avLst/>
          </a:prstGeom>
          <a:noFill/>
        </p:spPr>
        <p:txBody>
          <a:bodyPr wrap="square">
            <a:spAutoFit/>
          </a:bodyPr>
          <a:lstStyle/>
          <a:p>
            <a:pPr algn="r">
              <a:defRPr/>
            </a:pPr>
            <a:r>
              <a:rPr sz="1050" b="1" i="0">
                <a:solidFill>
                  <a:srgbClr val="00B4D8"/>
                </a:solidFill>
              </a:rPr>
              <a:t>XGBoost</a:t>
            </a:r>
            <a:endParaRPr/>
          </a:p>
        </p:txBody>
      </p:sp>
      <p:sp>
        <p:nvSpPr>
          <p:cNvPr id="1286813672" name="TextBox 21"/>
          <p:cNvSpPr txBox="1"/>
          <p:nvPr/>
        </p:nvSpPr>
        <p:spPr bwMode="auto">
          <a:xfrm>
            <a:off x="384048" y="3145535"/>
            <a:ext cx="1828800" cy="256032"/>
          </a:xfrm>
          <a:prstGeom prst="rect">
            <a:avLst/>
          </a:prstGeom>
          <a:noFill/>
        </p:spPr>
        <p:txBody>
          <a:bodyPr wrap="square">
            <a:spAutoFit/>
          </a:bodyPr>
          <a:lstStyle/>
          <a:p>
            <a:pPr algn="l">
              <a:defRPr/>
            </a:pPr>
            <a:r>
              <a:rPr sz="1050" b="0" i="0">
                <a:solidFill>
                  <a:srgbClr val="8AB4C8"/>
                </a:solidFill>
              </a:rPr>
              <a:t>CV Macro-F1</a:t>
            </a:r>
            <a:endParaRPr/>
          </a:p>
        </p:txBody>
      </p:sp>
      <p:sp>
        <p:nvSpPr>
          <p:cNvPr id="1545915194" name="TextBox 22"/>
          <p:cNvSpPr txBox="1"/>
          <p:nvPr/>
        </p:nvSpPr>
        <p:spPr bwMode="auto">
          <a:xfrm>
            <a:off x="2240280" y="3145535"/>
            <a:ext cx="1783080" cy="256032"/>
          </a:xfrm>
          <a:prstGeom prst="rect">
            <a:avLst/>
          </a:prstGeom>
          <a:noFill/>
        </p:spPr>
        <p:txBody>
          <a:bodyPr wrap="square">
            <a:spAutoFit/>
          </a:bodyPr>
          <a:lstStyle/>
          <a:p>
            <a:pPr algn="r">
              <a:defRPr/>
            </a:pPr>
            <a:r>
              <a:rPr sz="1050" b="0" i="0">
                <a:solidFill>
                  <a:srgbClr val="E8F4F8"/>
                </a:solidFill>
              </a:rPr>
              <a:t>0.7913</a:t>
            </a:r>
            <a:endParaRPr/>
          </a:p>
        </p:txBody>
      </p:sp>
      <p:sp>
        <p:nvSpPr>
          <p:cNvPr id="1002033015" name="TextBox 23"/>
          <p:cNvSpPr txBox="1"/>
          <p:nvPr/>
        </p:nvSpPr>
        <p:spPr bwMode="auto">
          <a:xfrm>
            <a:off x="384048" y="3419855"/>
            <a:ext cx="1828800" cy="256032"/>
          </a:xfrm>
          <a:prstGeom prst="rect">
            <a:avLst/>
          </a:prstGeom>
          <a:noFill/>
        </p:spPr>
        <p:txBody>
          <a:bodyPr wrap="square">
            <a:spAutoFit/>
          </a:bodyPr>
          <a:lstStyle/>
          <a:p>
            <a:pPr algn="l">
              <a:defRPr/>
            </a:pPr>
            <a:r>
              <a:rPr sz="1050" b="0" i="0">
                <a:solidFill>
                  <a:srgbClr val="8AB4C8"/>
                </a:solidFill>
              </a:rPr>
              <a:t>Test Macro-F1</a:t>
            </a:r>
            <a:endParaRPr/>
          </a:p>
        </p:txBody>
      </p:sp>
      <p:sp>
        <p:nvSpPr>
          <p:cNvPr id="604237694" name="TextBox 24"/>
          <p:cNvSpPr txBox="1"/>
          <p:nvPr/>
        </p:nvSpPr>
        <p:spPr bwMode="auto">
          <a:xfrm>
            <a:off x="2240280" y="3419855"/>
            <a:ext cx="1783080" cy="256032"/>
          </a:xfrm>
          <a:prstGeom prst="rect">
            <a:avLst/>
          </a:prstGeom>
          <a:noFill/>
        </p:spPr>
        <p:txBody>
          <a:bodyPr wrap="square">
            <a:spAutoFit/>
          </a:bodyPr>
          <a:lstStyle/>
          <a:p>
            <a:pPr algn="r">
              <a:defRPr/>
            </a:pPr>
            <a:r>
              <a:rPr sz="1050" b="0" i="0">
                <a:solidFill>
                  <a:srgbClr val="E8F4F8"/>
                </a:solidFill>
              </a:rPr>
              <a:t>0.8029</a:t>
            </a:r>
            <a:endParaRPr/>
          </a:p>
        </p:txBody>
      </p:sp>
      <p:sp>
        <p:nvSpPr>
          <p:cNvPr id="1211052470" name="TextBox 25"/>
          <p:cNvSpPr txBox="1"/>
          <p:nvPr/>
        </p:nvSpPr>
        <p:spPr bwMode="auto">
          <a:xfrm>
            <a:off x="384048" y="3694175"/>
            <a:ext cx="1828800" cy="256032"/>
          </a:xfrm>
          <a:prstGeom prst="rect">
            <a:avLst/>
          </a:prstGeom>
          <a:noFill/>
        </p:spPr>
        <p:txBody>
          <a:bodyPr wrap="square">
            <a:spAutoFit/>
          </a:bodyPr>
          <a:lstStyle/>
          <a:p>
            <a:pPr algn="l">
              <a:defRPr/>
            </a:pPr>
            <a:r>
              <a:rPr sz="1050" b="0" i="0">
                <a:solidFill>
                  <a:srgbClr val="8AB4C8"/>
                </a:solidFill>
              </a:rPr>
              <a:t>Test Accuracy</a:t>
            </a:r>
            <a:endParaRPr/>
          </a:p>
        </p:txBody>
      </p:sp>
      <p:sp>
        <p:nvSpPr>
          <p:cNvPr id="1054661605" name="TextBox 26"/>
          <p:cNvSpPr txBox="1"/>
          <p:nvPr/>
        </p:nvSpPr>
        <p:spPr bwMode="auto">
          <a:xfrm>
            <a:off x="2240280" y="3694175"/>
            <a:ext cx="1783080" cy="256032"/>
          </a:xfrm>
          <a:prstGeom prst="rect">
            <a:avLst/>
          </a:prstGeom>
          <a:noFill/>
        </p:spPr>
        <p:txBody>
          <a:bodyPr wrap="square">
            <a:spAutoFit/>
          </a:bodyPr>
          <a:lstStyle/>
          <a:p>
            <a:pPr algn="r">
              <a:defRPr/>
            </a:pPr>
            <a:r>
              <a:rPr sz="1050" b="0" i="0">
                <a:solidFill>
                  <a:srgbClr val="E8F4F8"/>
                </a:solidFill>
              </a:rPr>
              <a:t>0.8277</a:t>
            </a:r>
            <a:endParaRPr/>
          </a:p>
        </p:txBody>
      </p:sp>
      <p:sp>
        <p:nvSpPr>
          <p:cNvPr id="1033421461" name="Rectangle 27"/>
          <p:cNvSpPr/>
          <p:nvPr/>
        </p:nvSpPr>
        <p:spPr bwMode="auto">
          <a:xfrm>
            <a:off x="4343400" y="1170432"/>
            <a:ext cx="3840480" cy="5120640"/>
          </a:xfrm>
          <a:prstGeom prst="rect">
            <a:avLst/>
          </a:prstGeom>
          <a:solidFill>
            <a:srgbClr val="122A4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688716" name="Rectangle 28"/>
          <p:cNvSpPr/>
          <p:nvPr/>
        </p:nvSpPr>
        <p:spPr bwMode="auto">
          <a:xfrm>
            <a:off x="4343400" y="1170432"/>
            <a:ext cx="3840480" cy="384048"/>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7698546" name="TextBox 29"/>
          <p:cNvSpPr txBox="1"/>
          <p:nvPr/>
        </p:nvSpPr>
        <p:spPr bwMode="auto">
          <a:xfrm>
            <a:off x="4434840" y="1188720"/>
            <a:ext cx="3657600" cy="347472"/>
          </a:xfrm>
          <a:prstGeom prst="rect">
            <a:avLst/>
          </a:prstGeom>
          <a:noFill/>
        </p:spPr>
        <p:txBody>
          <a:bodyPr wrap="square">
            <a:spAutoFit/>
          </a:bodyPr>
          <a:lstStyle/>
          <a:p>
            <a:pPr algn="ctr">
              <a:defRPr/>
            </a:pPr>
            <a:r>
              <a:rPr sz="1200" b="1" i="0">
                <a:solidFill>
                  <a:srgbClr val="FFFFFF"/>
                </a:solidFill>
              </a:rPr>
              <a:t>Current Limitations</a:t>
            </a:r>
            <a:endParaRPr/>
          </a:p>
        </p:txBody>
      </p:sp>
      <p:sp>
        <p:nvSpPr>
          <p:cNvPr id="1845429045" name="TextBox 30"/>
          <p:cNvSpPr txBox="1"/>
          <p:nvPr/>
        </p:nvSpPr>
        <p:spPr bwMode="auto">
          <a:xfrm>
            <a:off x="4480560" y="1664208"/>
            <a:ext cx="3566160" cy="242316"/>
          </a:xfrm>
          <a:prstGeom prst="rect">
            <a:avLst/>
          </a:prstGeom>
          <a:noFill/>
        </p:spPr>
        <p:txBody>
          <a:bodyPr wrap="square">
            <a:spAutoFit/>
          </a:bodyPr>
          <a:lstStyle/>
          <a:p>
            <a:pPr algn="l">
              <a:defRPr/>
            </a:pPr>
            <a:r>
              <a:rPr sz="1000" b="0" i="0">
                <a:solidFill>
                  <a:srgbClr val="E8F4F8"/>
                </a:solidFill>
              </a:rPr>
              <a:t>All 15,000 observations are synthetic.</a:t>
            </a:r>
            <a:endParaRPr/>
          </a:p>
        </p:txBody>
      </p:sp>
      <p:sp>
        <p:nvSpPr>
          <p:cNvPr id="409027287" name="TextBox 31"/>
          <p:cNvSpPr txBox="1"/>
          <p:nvPr/>
        </p:nvSpPr>
        <p:spPr bwMode="auto">
          <a:xfrm>
            <a:off x="4480560" y="1906524"/>
            <a:ext cx="3566160" cy="242316"/>
          </a:xfrm>
          <a:prstGeom prst="rect">
            <a:avLst/>
          </a:prstGeom>
          <a:noFill/>
        </p:spPr>
        <p:txBody>
          <a:bodyPr wrap="square">
            <a:spAutoFit/>
          </a:bodyPr>
          <a:lstStyle/>
          <a:p>
            <a:pPr algn="l">
              <a:defRPr/>
            </a:pPr>
            <a:r>
              <a:rPr sz="1000" b="0" i="0">
                <a:solidFill>
                  <a:srgbClr val="E8F4F8"/>
                </a:solidFill>
              </a:rPr>
              <a:t>Labels are generated by a known scoring</a:t>
            </a:r>
            <a:endParaRPr/>
          </a:p>
        </p:txBody>
      </p:sp>
      <p:sp>
        <p:nvSpPr>
          <p:cNvPr id="1471453563" name="TextBox 32"/>
          <p:cNvSpPr txBox="1"/>
          <p:nvPr/>
        </p:nvSpPr>
        <p:spPr bwMode="auto">
          <a:xfrm>
            <a:off x="4480560" y="2148840"/>
            <a:ext cx="3566160" cy="242316"/>
          </a:xfrm>
          <a:prstGeom prst="rect">
            <a:avLst/>
          </a:prstGeom>
          <a:noFill/>
        </p:spPr>
        <p:txBody>
          <a:bodyPr wrap="square">
            <a:spAutoFit/>
          </a:bodyPr>
          <a:lstStyle/>
          <a:p>
            <a:pPr algn="l">
              <a:defRPr/>
            </a:pPr>
            <a:r>
              <a:rPr sz="1000" b="0" i="0">
                <a:solidFill>
                  <a:srgbClr val="E8F4F8"/>
                </a:solidFill>
              </a:rPr>
              <a:t>function — real labels require expert</a:t>
            </a:r>
            <a:endParaRPr/>
          </a:p>
        </p:txBody>
      </p:sp>
      <p:sp>
        <p:nvSpPr>
          <p:cNvPr id="856146613" name="TextBox 33"/>
          <p:cNvSpPr txBox="1"/>
          <p:nvPr/>
        </p:nvSpPr>
        <p:spPr bwMode="auto">
          <a:xfrm>
            <a:off x="4480560" y="2391156"/>
            <a:ext cx="3566160" cy="242316"/>
          </a:xfrm>
          <a:prstGeom prst="rect">
            <a:avLst/>
          </a:prstGeom>
          <a:noFill/>
        </p:spPr>
        <p:txBody>
          <a:bodyPr wrap="square">
            <a:spAutoFit/>
          </a:bodyPr>
          <a:lstStyle/>
          <a:p>
            <a:pPr algn="l">
              <a:defRPr/>
            </a:pPr>
            <a:r>
              <a:rPr sz="1000" b="0" i="0">
                <a:solidFill>
                  <a:srgbClr val="E8F4F8"/>
                </a:solidFill>
              </a:rPr>
              <a:t>biological field surveys.</a:t>
            </a:r>
            <a:endParaRPr/>
          </a:p>
        </p:txBody>
      </p:sp>
      <p:sp>
        <p:nvSpPr>
          <p:cNvPr id="1743115535" name="TextBox 34"/>
          <p:cNvSpPr txBox="1"/>
          <p:nvPr/>
        </p:nvSpPr>
        <p:spPr bwMode="auto">
          <a:xfrm>
            <a:off x="4480560" y="2633472"/>
            <a:ext cx="3566160" cy="242316"/>
          </a:xfrm>
          <a:prstGeom prst="rect">
            <a:avLst/>
          </a:prstGeom>
          <a:noFill/>
        </p:spPr>
        <p:txBody>
          <a:bodyPr wrap="square">
            <a:spAutoFit/>
          </a:bodyPr>
          <a:lstStyle/>
          <a:p>
            <a:pPr algn="l">
              <a:defRPr/>
            </a:pPr>
            <a:endParaRPr/>
          </a:p>
        </p:txBody>
      </p:sp>
      <p:sp>
        <p:nvSpPr>
          <p:cNvPr id="1364160515" name="TextBox 35"/>
          <p:cNvSpPr txBox="1"/>
          <p:nvPr/>
        </p:nvSpPr>
        <p:spPr bwMode="auto">
          <a:xfrm>
            <a:off x="4480560" y="2875788"/>
            <a:ext cx="3566160" cy="242316"/>
          </a:xfrm>
          <a:prstGeom prst="rect">
            <a:avLst/>
          </a:prstGeom>
          <a:noFill/>
        </p:spPr>
        <p:txBody>
          <a:bodyPr wrap="square">
            <a:spAutoFit/>
          </a:bodyPr>
          <a:lstStyle/>
          <a:p>
            <a:pPr algn="l">
              <a:defRPr/>
            </a:pPr>
            <a:r>
              <a:rPr sz="1000" b="0" i="0">
                <a:solidFill>
                  <a:srgbClr val="E8F4F8"/>
                </a:solidFill>
              </a:rPr>
              <a:t>Sonar features in this dataset are</a:t>
            </a:r>
            <a:endParaRPr/>
          </a:p>
        </p:txBody>
      </p:sp>
      <p:sp>
        <p:nvSpPr>
          <p:cNvPr id="2008883186" name="TextBox 36"/>
          <p:cNvSpPr txBox="1"/>
          <p:nvPr/>
        </p:nvSpPr>
        <p:spPr bwMode="auto">
          <a:xfrm>
            <a:off x="4480560" y="3118104"/>
            <a:ext cx="3566160" cy="242316"/>
          </a:xfrm>
          <a:prstGeom prst="rect">
            <a:avLst/>
          </a:prstGeom>
          <a:noFill/>
        </p:spPr>
        <p:txBody>
          <a:bodyPr wrap="square">
            <a:spAutoFit/>
          </a:bodyPr>
          <a:lstStyle/>
          <a:p>
            <a:pPr algn="l">
              <a:defRPr/>
            </a:pPr>
            <a:r>
              <a:rPr sz="1000" b="0" i="0">
                <a:solidFill>
                  <a:srgbClr val="E8F4F8"/>
                </a:solidFill>
              </a:rPr>
              <a:t>statistically simulated, not calibrated</a:t>
            </a:r>
            <a:endParaRPr/>
          </a:p>
        </p:txBody>
      </p:sp>
      <p:sp>
        <p:nvSpPr>
          <p:cNvPr id="861004742" name="TextBox 37"/>
          <p:cNvSpPr txBox="1"/>
          <p:nvPr/>
        </p:nvSpPr>
        <p:spPr bwMode="auto">
          <a:xfrm>
            <a:off x="4480560" y="3360420"/>
            <a:ext cx="3566160" cy="242316"/>
          </a:xfrm>
          <a:prstGeom prst="rect">
            <a:avLst/>
          </a:prstGeom>
          <a:noFill/>
        </p:spPr>
        <p:txBody>
          <a:bodyPr wrap="square">
            <a:spAutoFit/>
          </a:bodyPr>
          <a:lstStyle/>
          <a:p>
            <a:pPr algn="l">
              <a:defRPr/>
            </a:pPr>
            <a:r>
              <a:rPr sz="1000" b="0" i="0">
                <a:solidFill>
                  <a:srgbClr val="E8F4F8"/>
                </a:solidFill>
              </a:rPr>
              <a:t>from real acoustic hardware.</a:t>
            </a:r>
            <a:endParaRPr/>
          </a:p>
        </p:txBody>
      </p:sp>
      <p:sp>
        <p:nvSpPr>
          <p:cNvPr id="973822487" name="TextBox 38"/>
          <p:cNvSpPr txBox="1"/>
          <p:nvPr/>
        </p:nvSpPr>
        <p:spPr bwMode="auto">
          <a:xfrm>
            <a:off x="4480560" y="3602735"/>
            <a:ext cx="3566160" cy="242316"/>
          </a:xfrm>
          <a:prstGeom prst="rect">
            <a:avLst/>
          </a:prstGeom>
          <a:noFill/>
        </p:spPr>
        <p:txBody>
          <a:bodyPr wrap="square">
            <a:spAutoFit/>
          </a:bodyPr>
          <a:lstStyle/>
          <a:p>
            <a:pPr algn="l">
              <a:defRPr/>
            </a:pPr>
            <a:endParaRPr/>
          </a:p>
        </p:txBody>
      </p:sp>
      <p:sp>
        <p:nvSpPr>
          <p:cNvPr id="1001903053" name="TextBox 39"/>
          <p:cNvSpPr txBox="1"/>
          <p:nvPr/>
        </p:nvSpPr>
        <p:spPr bwMode="auto">
          <a:xfrm>
            <a:off x="4480560" y="3845052"/>
            <a:ext cx="3566160" cy="242316"/>
          </a:xfrm>
          <a:prstGeom prst="rect">
            <a:avLst/>
          </a:prstGeom>
          <a:noFill/>
        </p:spPr>
        <p:txBody>
          <a:bodyPr wrap="square">
            <a:spAutoFit/>
          </a:bodyPr>
          <a:lstStyle/>
          <a:p>
            <a:pPr algn="l">
              <a:defRPr/>
            </a:pPr>
            <a:r>
              <a:rPr sz="1000" b="0" i="0">
                <a:solidFill>
                  <a:srgbClr val="E8F4F8"/>
                </a:solidFill>
              </a:rPr>
              <a:t>Metrics demonstrate prototype pipeline</a:t>
            </a:r>
            <a:endParaRPr/>
          </a:p>
        </p:txBody>
      </p:sp>
      <p:sp>
        <p:nvSpPr>
          <p:cNvPr id="498300594" name="TextBox 40"/>
          <p:cNvSpPr txBox="1"/>
          <p:nvPr/>
        </p:nvSpPr>
        <p:spPr bwMode="auto">
          <a:xfrm>
            <a:off x="4480560" y="4087368"/>
            <a:ext cx="3566160" cy="242316"/>
          </a:xfrm>
          <a:prstGeom prst="rect">
            <a:avLst/>
          </a:prstGeom>
          <a:noFill/>
        </p:spPr>
        <p:txBody>
          <a:bodyPr wrap="square">
            <a:spAutoFit/>
          </a:bodyPr>
          <a:lstStyle/>
          <a:p>
            <a:pPr algn="l">
              <a:defRPr/>
            </a:pPr>
            <a:r>
              <a:rPr sz="1000" b="0" i="0">
                <a:solidFill>
                  <a:srgbClr val="E8F4F8"/>
                </a:solidFill>
              </a:rPr>
              <a:t>correctness, not real-world reef</a:t>
            </a:r>
            <a:endParaRPr/>
          </a:p>
        </p:txBody>
      </p:sp>
      <p:sp>
        <p:nvSpPr>
          <p:cNvPr id="189285773" name="TextBox 41"/>
          <p:cNvSpPr txBox="1"/>
          <p:nvPr/>
        </p:nvSpPr>
        <p:spPr bwMode="auto">
          <a:xfrm>
            <a:off x="4480560" y="4329684"/>
            <a:ext cx="3566160" cy="242316"/>
          </a:xfrm>
          <a:prstGeom prst="rect">
            <a:avLst/>
          </a:prstGeom>
          <a:noFill/>
        </p:spPr>
        <p:txBody>
          <a:bodyPr wrap="square">
            <a:spAutoFit/>
          </a:bodyPr>
          <a:lstStyle/>
          <a:p>
            <a:pPr algn="l">
              <a:defRPr/>
            </a:pPr>
            <a:r>
              <a:rPr sz="1000" b="0" i="0">
                <a:solidFill>
                  <a:srgbClr val="E8F4F8"/>
                </a:solidFill>
              </a:rPr>
              <a:t>prediction accuracy.</a:t>
            </a:r>
            <a:endParaRPr/>
          </a:p>
        </p:txBody>
      </p:sp>
      <p:sp>
        <p:nvSpPr>
          <p:cNvPr id="558722415" name="TextBox 42"/>
          <p:cNvSpPr txBox="1"/>
          <p:nvPr/>
        </p:nvSpPr>
        <p:spPr bwMode="auto">
          <a:xfrm>
            <a:off x="4480560" y="4572000"/>
            <a:ext cx="3566160" cy="242316"/>
          </a:xfrm>
          <a:prstGeom prst="rect">
            <a:avLst/>
          </a:prstGeom>
          <a:noFill/>
        </p:spPr>
        <p:txBody>
          <a:bodyPr wrap="square">
            <a:spAutoFit/>
          </a:bodyPr>
          <a:lstStyle/>
          <a:p>
            <a:pPr algn="l">
              <a:defRPr/>
            </a:pPr>
            <a:endParaRPr/>
          </a:p>
        </p:txBody>
      </p:sp>
      <p:sp>
        <p:nvSpPr>
          <p:cNvPr id="902021902" name="TextBox 43"/>
          <p:cNvSpPr txBox="1"/>
          <p:nvPr/>
        </p:nvSpPr>
        <p:spPr bwMode="auto">
          <a:xfrm>
            <a:off x="4480560" y="4814316"/>
            <a:ext cx="3566160" cy="242316"/>
          </a:xfrm>
          <a:prstGeom prst="rect">
            <a:avLst/>
          </a:prstGeom>
          <a:noFill/>
        </p:spPr>
        <p:txBody>
          <a:bodyPr wrap="square">
            <a:spAutoFit/>
          </a:bodyPr>
          <a:lstStyle/>
          <a:p>
            <a:pPr algn="l">
              <a:defRPr/>
            </a:pPr>
            <a:r>
              <a:rPr sz="1000" b="0" i="0">
                <a:solidFill>
                  <a:srgbClr val="E8F4F8"/>
                </a:solidFill>
              </a:rPr>
              <a:t>No temporal or regional hold-out splits</a:t>
            </a:r>
            <a:endParaRPr/>
          </a:p>
        </p:txBody>
      </p:sp>
      <p:sp>
        <p:nvSpPr>
          <p:cNvPr id="1712670123" name="TextBox 44"/>
          <p:cNvSpPr txBox="1"/>
          <p:nvPr/>
        </p:nvSpPr>
        <p:spPr bwMode="auto">
          <a:xfrm>
            <a:off x="4480560" y="5056631"/>
            <a:ext cx="3566160" cy="242316"/>
          </a:xfrm>
          <a:prstGeom prst="rect">
            <a:avLst/>
          </a:prstGeom>
          <a:noFill/>
        </p:spPr>
        <p:txBody>
          <a:bodyPr wrap="square">
            <a:spAutoFit/>
          </a:bodyPr>
          <a:lstStyle/>
          <a:p>
            <a:pPr algn="l">
              <a:defRPr/>
            </a:pPr>
            <a:r>
              <a:rPr sz="1000" b="0" i="0">
                <a:solidFill>
                  <a:srgbClr val="E8F4F8"/>
                </a:solidFill>
              </a:rPr>
              <a:t>— spatial autocorrelation not yet modelled.</a:t>
            </a:r>
            <a:endParaRPr/>
          </a:p>
        </p:txBody>
      </p:sp>
      <p:sp>
        <p:nvSpPr>
          <p:cNvPr id="1811091293" name="TextBox 45"/>
          <p:cNvSpPr txBox="1"/>
          <p:nvPr/>
        </p:nvSpPr>
        <p:spPr bwMode="auto">
          <a:xfrm>
            <a:off x="4480560" y="5298947"/>
            <a:ext cx="3566160" cy="242316"/>
          </a:xfrm>
          <a:prstGeom prst="rect">
            <a:avLst/>
          </a:prstGeom>
          <a:noFill/>
        </p:spPr>
        <p:txBody>
          <a:bodyPr wrap="square">
            <a:spAutoFit/>
          </a:bodyPr>
          <a:lstStyle/>
          <a:p>
            <a:pPr algn="l">
              <a:defRPr/>
            </a:pPr>
            <a:endParaRPr/>
          </a:p>
        </p:txBody>
      </p:sp>
      <p:sp>
        <p:nvSpPr>
          <p:cNvPr id="1256468960" name="TextBox 46"/>
          <p:cNvSpPr txBox="1"/>
          <p:nvPr/>
        </p:nvSpPr>
        <p:spPr bwMode="auto">
          <a:xfrm>
            <a:off x="4480560" y="5541263"/>
            <a:ext cx="3566160" cy="242316"/>
          </a:xfrm>
          <a:prstGeom prst="rect">
            <a:avLst/>
          </a:prstGeom>
          <a:noFill/>
        </p:spPr>
        <p:txBody>
          <a:bodyPr wrap="square">
            <a:spAutoFit/>
          </a:bodyPr>
          <a:lstStyle/>
          <a:p>
            <a:pPr algn="l">
              <a:defRPr/>
            </a:pPr>
            <a:r>
              <a:rPr sz="1000" b="0" i="0">
                <a:solidFill>
                  <a:srgbClr val="E8F4F8"/>
                </a:solidFill>
              </a:rPr>
              <a:t>No independent external validation set</a:t>
            </a:r>
            <a:endParaRPr/>
          </a:p>
        </p:txBody>
      </p:sp>
      <p:sp>
        <p:nvSpPr>
          <p:cNvPr id="261848326" name="TextBox 47"/>
          <p:cNvSpPr txBox="1"/>
          <p:nvPr/>
        </p:nvSpPr>
        <p:spPr bwMode="auto">
          <a:xfrm>
            <a:off x="4480560" y="5783579"/>
            <a:ext cx="3566160" cy="242316"/>
          </a:xfrm>
          <a:prstGeom prst="rect">
            <a:avLst/>
          </a:prstGeom>
          <a:noFill/>
        </p:spPr>
        <p:txBody>
          <a:bodyPr wrap="square">
            <a:spAutoFit/>
          </a:bodyPr>
          <a:lstStyle/>
          <a:p>
            <a:pPr algn="l">
              <a:defRPr/>
            </a:pPr>
            <a:r>
              <a:rPr sz="1000" b="0" i="0">
                <a:solidFill>
                  <a:srgbClr val="E8F4F8"/>
                </a:solidFill>
              </a:rPr>
              <a:t>from a separate reef system.</a:t>
            </a:r>
            <a:endParaRPr/>
          </a:p>
        </p:txBody>
      </p:sp>
      <p:sp>
        <p:nvSpPr>
          <p:cNvPr id="1739776326" name="Rectangle 48"/>
          <p:cNvSpPr/>
          <p:nvPr/>
        </p:nvSpPr>
        <p:spPr bwMode="auto">
          <a:xfrm>
            <a:off x="8412480" y="1170432"/>
            <a:ext cx="3547872" cy="5120640"/>
          </a:xfrm>
          <a:prstGeom prst="rect">
            <a:avLst/>
          </a:prstGeom>
          <a:solidFill>
            <a:srgbClr val="122A4A"/>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5935834" name="Rectangle 49"/>
          <p:cNvSpPr/>
          <p:nvPr/>
        </p:nvSpPr>
        <p:spPr bwMode="auto">
          <a:xfrm>
            <a:off x="8412480" y="1170432"/>
            <a:ext cx="3547872" cy="384048"/>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7069035" name="TextBox 50"/>
          <p:cNvSpPr txBox="1"/>
          <p:nvPr/>
        </p:nvSpPr>
        <p:spPr bwMode="auto">
          <a:xfrm>
            <a:off x="8503920" y="1188720"/>
            <a:ext cx="3364992" cy="347472"/>
          </a:xfrm>
          <a:prstGeom prst="rect">
            <a:avLst/>
          </a:prstGeom>
          <a:noFill/>
        </p:spPr>
        <p:txBody>
          <a:bodyPr wrap="square">
            <a:spAutoFit/>
          </a:bodyPr>
          <a:lstStyle/>
          <a:p>
            <a:pPr algn="ctr">
              <a:defRPr/>
            </a:pPr>
            <a:r>
              <a:rPr sz="1200" b="1" i="0">
                <a:solidFill>
                  <a:srgbClr val="081224"/>
                </a:solidFill>
              </a:rPr>
              <a:t>Next Steps</a:t>
            </a:r>
            <a:endParaRPr/>
          </a:p>
        </p:txBody>
      </p:sp>
      <p:sp>
        <p:nvSpPr>
          <p:cNvPr id="920349424" name="TextBox 51"/>
          <p:cNvSpPr txBox="1"/>
          <p:nvPr/>
        </p:nvSpPr>
        <p:spPr bwMode="auto">
          <a:xfrm>
            <a:off x="8503920" y="1664208"/>
            <a:ext cx="3364992" cy="256032"/>
          </a:xfrm>
          <a:prstGeom prst="rect">
            <a:avLst/>
          </a:prstGeom>
          <a:noFill/>
        </p:spPr>
        <p:txBody>
          <a:bodyPr wrap="square">
            <a:spAutoFit/>
          </a:bodyPr>
          <a:lstStyle/>
          <a:p>
            <a:pPr algn="l">
              <a:defRPr/>
            </a:pPr>
            <a:r>
              <a:rPr sz="1050" b="1" i="0">
                <a:solidFill>
                  <a:srgbClr val="00B4D8"/>
                </a:solidFill>
              </a:rPr>
              <a:t>Field data integration</a:t>
            </a:r>
            <a:endParaRPr/>
          </a:p>
        </p:txBody>
      </p:sp>
      <p:sp>
        <p:nvSpPr>
          <p:cNvPr id="2087117387" name="TextBox 52"/>
          <p:cNvSpPr txBox="1"/>
          <p:nvPr/>
        </p:nvSpPr>
        <p:spPr bwMode="auto">
          <a:xfrm>
            <a:off x="8595360" y="1938528"/>
            <a:ext cx="3273552" cy="233172"/>
          </a:xfrm>
          <a:prstGeom prst="rect">
            <a:avLst/>
          </a:prstGeom>
          <a:noFill/>
        </p:spPr>
        <p:txBody>
          <a:bodyPr wrap="square">
            <a:spAutoFit/>
          </a:bodyPr>
          <a:lstStyle/>
          <a:p>
            <a:pPr algn="l">
              <a:defRPr/>
            </a:pPr>
            <a:r>
              <a:rPr sz="950" b="0" i="0">
                <a:solidFill>
                  <a:srgbClr val="E8F4F8"/>
                </a:solidFill>
              </a:rPr>
              <a:t>Deploy real sonar hardware and</a:t>
            </a:r>
            <a:endParaRPr/>
          </a:p>
        </p:txBody>
      </p:sp>
      <p:sp>
        <p:nvSpPr>
          <p:cNvPr id="903921116" name="TextBox 53"/>
          <p:cNvSpPr txBox="1"/>
          <p:nvPr/>
        </p:nvSpPr>
        <p:spPr bwMode="auto">
          <a:xfrm>
            <a:off x="8595360" y="2171700"/>
            <a:ext cx="3273552" cy="233172"/>
          </a:xfrm>
          <a:prstGeom prst="rect">
            <a:avLst/>
          </a:prstGeom>
          <a:noFill/>
        </p:spPr>
        <p:txBody>
          <a:bodyPr wrap="square">
            <a:spAutoFit/>
          </a:bodyPr>
          <a:lstStyle/>
          <a:p>
            <a:pPr algn="l">
              <a:defRPr/>
            </a:pPr>
            <a:r>
              <a:rPr sz="950" b="0" i="0">
                <a:solidFill>
                  <a:srgbClr val="E8F4F8"/>
                </a:solidFill>
              </a:rPr>
              <a:t>calibrated environmental sensors.</a:t>
            </a:r>
            <a:endParaRPr/>
          </a:p>
        </p:txBody>
      </p:sp>
      <p:sp>
        <p:nvSpPr>
          <p:cNvPr id="796959235" name="TextBox 54"/>
          <p:cNvSpPr txBox="1"/>
          <p:nvPr/>
        </p:nvSpPr>
        <p:spPr bwMode="auto">
          <a:xfrm>
            <a:off x="8595360" y="2404872"/>
            <a:ext cx="3273552" cy="233172"/>
          </a:xfrm>
          <a:prstGeom prst="rect">
            <a:avLst/>
          </a:prstGeom>
          <a:noFill/>
        </p:spPr>
        <p:txBody>
          <a:bodyPr wrap="square">
            <a:spAutoFit/>
          </a:bodyPr>
          <a:lstStyle/>
          <a:p>
            <a:pPr algn="l">
              <a:defRPr/>
            </a:pPr>
            <a:r>
              <a:rPr sz="950" b="0" i="0">
                <a:solidFill>
                  <a:srgbClr val="E8F4F8"/>
                </a:solidFill>
              </a:rPr>
              <a:t>Commission expert biological surveys</a:t>
            </a:r>
            <a:endParaRPr/>
          </a:p>
        </p:txBody>
      </p:sp>
      <p:sp>
        <p:nvSpPr>
          <p:cNvPr id="1889008765" name="TextBox 55"/>
          <p:cNvSpPr txBox="1"/>
          <p:nvPr/>
        </p:nvSpPr>
        <p:spPr bwMode="auto">
          <a:xfrm>
            <a:off x="8595360" y="2638044"/>
            <a:ext cx="3273552" cy="233172"/>
          </a:xfrm>
          <a:prstGeom prst="rect">
            <a:avLst/>
          </a:prstGeom>
          <a:noFill/>
        </p:spPr>
        <p:txBody>
          <a:bodyPr wrap="square">
            <a:spAutoFit/>
          </a:bodyPr>
          <a:lstStyle/>
          <a:p>
            <a:pPr algn="l">
              <a:defRPr/>
            </a:pPr>
            <a:r>
              <a:rPr sz="950" b="0" i="0">
                <a:solidFill>
                  <a:srgbClr val="E8F4F8"/>
                </a:solidFill>
              </a:rPr>
              <a:t>for ground-truth label annotation.</a:t>
            </a:r>
            <a:endParaRPr/>
          </a:p>
        </p:txBody>
      </p:sp>
      <p:sp>
        <p:nvSpPr>
          <p:cNvPr id="1950806475" name="TextBox 56"/>
          <p:cNvSpPr txBox="1"/>
          <p:nvPr/>
        </p:nvSpPr>
        <p:spPr bwMode="auto">
          <a:xfrm>
            <a:off x="8503920" y="2999232"/>
            <a:ext cx="3364992" cy="256032"/>
          </a:xfrm>
          <a:prstGeom prst="rect">
            <a:avLst/>
          </a:prstGeom>
          <a:noFill/>
        </p:spPr>
        <p:txBody>
          <a:bodyPr wrap="square">
            <a:spAutoFit/>
          </a:bodyPr>
          <a:lstStyle/>
          <a:p>
            <a:pPr algn="l">
              <a:defRPr/>
            </a:pPr>
            <a:r>
              <a:rPr sz="1050" b="1" i="0">
                <a:solidFill>
                  <a:srgbClr val="00B4D8"/>
                </a:solidFill>
              </a:rPr>
              <a:t>Validation strategy</a:t>
            </a:r>
            <a:endParaRPr/>
          </a:p>
        </p:txBody>
      </p:sp>
      <p:sp>
        <p:nvSpPr>
          <p:cNvPr id="904895970" name="TextBox 57"/>
          <p:cNvSpPr txBox="1"/>
          <p:nvPr/>
        </p:nvSpPr>
        <p:spPr bwMode="auto">
          <a:xfrm>
            <a:off x="8595360" y="3273551"/>
            <a:ext cx="3273552" cy="233172"/>
          </a:xfrm>
          <a:prstGeom prst="rect">
            <a:avLst/>
          </a:prstGeom>
          <a:noFill/>
        </p:spPr>
        <p:txBody>
          <a:bodyPr wrap="square">
            <a:spAutoFit/>
          </a:bodyPr>
          <a:lstStyle/>
          <a:p>
            <a:pPr algn="l">
              <a:defRPr/>
            </a:pPr>
            <a:r>
              <a:rPr sz="950" b="0" i="0">
                <a:solidFill>
                  <a:srgbClr val="E8F4F8"/>
                </a:solidFill>
              </a:rPr>
              <a:t>Hold out a geographically separate</a:t>
            </a:r>
            <a:endParaRPr/>
          </a:p>
        </p:txBody>
      </p:sp>
      <p:sp>
        <p:nvSpPr>
          <p:cNvPr id="1213620917" name="TextBox 58"/>
          <p:cNvSpPr txBox="1"/>
          <p:nvPr/>
        </p:nvSpPr>
        <p:spPr bwMode="auto">
          <a:xfrm>
            <a:off x="8595360" y="3506723"/>
            <a:ext cx="3273552" cy="233172"/>
          </a:xfrm>
          <a:prstGeom prst="rect">
            <a:avLst/>
          </a:prstGeom>
          <a:noFill/>
        </p:spPr>
        <p:txBody>
          <a:bodyPr wrap="square">
            <a:spAutoFit/>
          </a:bodyPr>
          <a:lstStyle/>
          <a:p>
            <a:pPr algn="l">
              <a:defRPr/>
            </a:pPr>
            <a:r>
              <a:rPr sz="950" b="0" i="0">
                <a:solidFill>
                  <a:srgbClr val="E8F4F8"/>
                </a:solidFill>
              </a:rPr>
              <a:t>reef region for external evaluation.</a:t>
            </a:r>
            <a:endParaRPr/>
          </a:p>
        </p:txBody>
      </p:sp>
      <p:sp>
        <p:nvSpPr>
          <p:cNvPr id="1612351381" name="TextBox 59"/>
          <p:cNvSpPr txBox="1"/>
          <p:nvPr/>
        </p:nvSpPr>
        <p:spPr bwMode="auto">
          <a:xfrm>
            <a:off x="8595360" y="3739896"/>
            <a:ext cx="3273552" cy="233172"/>
          </a:xfrm>
          <a:prstGeom prst="rect">
            <a:avLst/>
          </a:prstGeom>
          <a:noFill/>
        </p:spPr>
        <p:txBody>
          <a:bodyPr wrap="square">
            <a:spAutoFit/>
          </a:bodyPr>
          <a:lstStyle/>
          <a:p>
            <a:pPr algn="l">
              <a:defRPr/>
            </a:pPr>
            <a:r>
              <a:rPr sz="950" b="0" i="0">
                <a:solidFill>
                  <a:srgbClr val="E8F4F8"/>
                </a:solidFill>
              </a:rPr>
              <a:t>Temporal cross-validation across</a:t>
            </a:r>
            <a:endParaRPr/>
          </a:p>
        </p:txBody>
      </p:sp>
      <p:sp>
        <p:nvSpPr>
          <p:cNvPr id="508838483" name="TextBox 60"/>
          <p:cNvSpPr txBox="1"/>
          <p:nvPr/>
        </p:nvSpPr>
        <p:spPr bwMode="auto">
          <a:xfrm>
            <a:off x="8595360" y="3973068"/>
            <a:ext cx="3273552" cy="233172"/>
          </a:xfrm>
          <a:prstGeom prst="rect">
            <a:avLst/>
          </a:prstGeom>
          <a:noFill/>
        </p:spPr>
        <p:txBody>
          <a:bodyPr wrap="square">
            <a:spAutoFit/>
          </a:bodyPr>
          <a:lstStyle/>
          <a:p>
            <a:pPr algn="l">
              <a:defRPr/>
            </a:pPr>
            <a:r>
              <a:rPr sz="950" b="0" i="0">
                <a:solidFill>
                  <a:srgbClr val="E8F4F8"/>
                </a:solidFill>
              </a:rPr>
              <a:t>survey years (2018–2024).</a:t>
            </a:r>
            <a:endParaRPr/>
          </a:p>
        </p:txBody>
      </p:sp>
      <p:sp>
        <p:nvSpPr>
          <p:cNvPr id="944959960" name="TextBox 61"/>
          <p:cNvSpPr txBox="1"/>
          <p:nvPr/>
        </p:nvSpPr>
        <p:spPr bwMode="auto">
          <a:xfrm>
            <a:off x="8503920" y="4334255"/>
            <a:ext cx="3364992" cy="256032"/>
          </a:xfrm>
          <a:prstGeom prst="rect">
            <a:avLst/>
          </a:prstGeom>
          <a:noFill/>
        </p:spPr>
        <p:txBody>
          <a:bodyPr wrap="square">
            <a:spAutoFit/>
          </a:bodyPr>
          <a:lstStyle/>
          <a:p>
            <a:pPr algn="l">
              <a:defRPr/>
            </a:pPr>
            <a:r>
              <a:rPr sz="1050" b="1" i="0">
                <a:solidFill>
                  <a:srgbClr val="00B4D8"/>
                </a:solidFill>
              </a:rPr>
              <a:t>Model improvement</a:t>
            </a:r>
            <a:endParaRPr/>
          </a:p>
        </p:txBody>
      </p:sp>
      <p:sp>
        <p:nvSpPr>
          <p:cNvPr id="1298283851" name="TextBox 62"/>
          <p:cNvSpPr txBox="1"/>
          <p:nvPr/>
        </p:nvSpPr>
        <p:spPr bwMode="auto">
          <a:xfrm>
            <a:off x="8595360" y="4608575"/>
            <a:ext cx="3273552" cy="233172"/>
          </a:xfrm>
          <a:prstGeom prst="rect">
            <a:avLst/>
          </a:prstGeom>
          <a:noFill/>
        </p:spPr>
        <p:txBody>
          <a:bodyPr wrap="square">
            <a:spAutoFit/>
          </a:bodyPr>
          <a:lstStyle/>
          <a:p>
            <a:pPr algn="l">
              <a:defRPr/>
            </a:pPr>
            <a:r>
              <a:rPr sz="950" b="0" i="0">
                <a:solidFill>
                  <a:srgbClr val="E8F4F8"/>
                </a:solidFill>
              </a:rPr>
              <a:t>SHAP feature importance analysis</a:t>
            </a:r>
            <a:endParaRPr/>
          </a:p>
        </p:txBody>
      </p:sp>
      <p:sp>
        <p:nvSpPr>
          <p:cNvPr id="318005390" name="TextBox 63"/>
          <p:cNvSpPr txBox="1"/>
          <p:nvPr/>
        </p:nvSpPr>
        <p:spPr bwMode="auto">
          <a:xfrm>
            <a:off x="8595360" y="4841747"/>
            <a:ext cx="3273552" cy="233172"/>
          </a:xfrm>
          <a:prstGeom prst="rect">
            <a:avLst/>
          </a:prstGeom>
          <a:noFill/>
        </p:spPr>
        <p:txBody>
          <a:bodyPr wrap="square">
            <a:spAutoFit/>
          </a:bodyPr>
          <a:lstStyle/>
          <a:p>
            <a:pPr algn="l">
              <a:defRPr/>
            </a:pPr>
            <a:r>
              <a:rPr sz="950" b="0" i="0">
                <a:solidFill>
                  <a:srgbClr val="E8F4F8"/>
                </a:solidFill>
              </a:rPr>
              <a:t>to identify key sensor drivers.</a:t>
            </a:r>
            <a:endParaRPr/>
          </a:p>
        </p:txBody>
      </p:sp>
      <p:sp>
        <p:nvSpPr>
          <p:cNvPr id="743369311" name="TextBox 64"/>
          <p:cNvSpPr txBox="1"/>
          <p:nvPr/>
        </p:nvSpPr>
        <p:spPr bwMode="auto">
          <a:xfrm>
            <a:off x="8595360" y="5074919"/>
            <a:ext cx="3273552" cy="233172"/>
          </a:xfrm>
          <a:prstGeom prst="rect">
            <a:avLst/>
          </a:prstGeom>
          <a:noFill/>
        </p:spPr>
        <p:txBody>
          <a:bodyPr wrap="square">
            <a:spAutoFit/>
          </a:bodyPr>
          <a:lstStyle/>
          <a:p>
            <a:pPr algn="l">
              <a:defRPr/>
            </a:pPr>
            <a:r>
              <a:rPr sz="950" b="0" i="0">
                <a:solidFill>
                  <a:srgbClr val="E8F4F8"/>
                </a:solidFill>
              </a:rPr>
              <a:t>Hyperparameter search beyond</a:t>
            </a:r>
            <a:endParaRPr/>
          </a:p>
        </p:txBody>
      </p:sp>
      <p:sp>
        <p:nvSpPr>
          <p:cNvPr id="1543878719" name="TextBox 65"/>
          <p:cNvSpPr txBox="1"/>
          <p:nvPr/>
        </p:nvSpPr>
        <p:spPr bwMode="auto">
          <a:xfrm>
            <a:off x="8595360" y="5308091"/>
            <a:ext cx="3273552" cy="233172"/>
          </a:xfrm>
          <a:prstGeom prst="rect">
            <a:avLst/>
          </a:prstGeom>
          <a:noFill/>
        </p:spPr>
        <p:txBody>
          <a:bodyPr wrap="square">
            <a:spAutoFit/>
          </a:bodyPr>
          <a:lstStyle/>
          <a:p>
            <a:pPr algn="l">
              <a:defRPr/>
            </a:pPr>
            <a:r>
              <a:rPr sz="950" b="0" i="0">
                <a:solidFill>
                  <a:srgbClr val="E8F4F8"/>
                </a:solidFill>
              </a:rPr>
              <a:t>current params.yaml defaults.</a:t>
            </a:r>
            <a:endParaRPr/>
          </a:p>
        </p:txBody>
      </p:sp>
      <p:sp>
        <p:nvSpPr>
          <p:cNvPr id="791605480" name="Rectangle 66"/>
          <p:cNvSpPr/>
          <p:nvPr/>
        </p:nvSpPr>
        <p:spPr bwMode="auto">
          <a:xfrm>
            <a:off x="274320" y="6364224"/>
            <a:ext cx="11686032" cy="29260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8237589" name="TextBox 67"/>
          <p:cNvSpPr txBox="1"/>
          <p:nvPr/>
        </p:nvSpPr>
        <p:spPr bwMode="auto">
          <a:xfrm>
            <a:off x="365760" y="6373368"/>
            <a:ext cx="11521440" cy="256032"/>
          </a:xfrm>
          <a:prstGeom prst="rect">
            <a:avLst/>
          </a:prstGeom>
          <a:noFill/>
        </p:spPr>
        <p:txBody>
          <a:bodyPr wrap="square">
            <a:spAutoFit/>
          </a:bodyPr>
          <a:lstStyle/>
          <a:p>
            <a:pPr algn="ctr">
              <a:defRPr/>
            </a:pPr>
            <a:r>
              <a:rPr sz="1000" b="0" i="1">
                <a:solidFill>
                  <a:srgbClr val="8AB4C8"/>
                </a:solidFill>
              </a:rPr>
              <a:t>The pipeline is complete and test-verified. Replacing synthetic data with real calibrated field observations is the critical next milestone before any ecological conclusions can be drawn.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ONLYOFFICE/9.3.1.8</Application>
  <PresentationFormat>On-screen Show (4:3)</PresentationFormat>
  <Paragraphs>0</Paragraphs>
  <Slides>9</Slides>
  <Notes>9</Notes>
  <HiddenSlides>0</HiddenSlides>
  <MMClips>2</MMClips>
  <ScaleCrop>0</ScaleCrop>
  <HeadingPairs>
    <vt:vector size="4" baseType="variant">
      <vt:variant>
        <vt:lpstr>Theme</vt:lpstr>
      </vt:variant>
      <vt:variant>
        <vt:i4>1</vt:i4>
      </vt:variant>
      <vt:variant>
        <vt:lpstr>Slide Titles</vt:lpstr>
      </vt:variant>
      <vt:variant>
        <vt:i4>9</vt:i4>
      </vt:variant>
    </vt:vector>
  </HeadingPairs>
  <TitlesOfParts>
    <vt:vector size="10" baseType="lpstr">
      <vt:lpstr>Theme 1</vt:lpstr>
      <vt:lpstr>Slide 1</vt:lpstr>
      <vt:lpstr>Slide 2</vt:lpstr>
      <vt:lpstr>Slide 3</vt:lpstr>
      <vt:lpstr>Slide 4</vt:lpstr>
      <vt:lpstr>Slide 5</vt:lpstr>
      <vt:lpstr>Slide 6</vt:lpstr>
      <vt:lpstr>Slide 7</vt:lpstr>
      <vt:lpstr>Slide 8</vt:lpstr>
      <vt:lpstr>Slide 9</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2</cp:revision>
  <dcterms:created xsi:type="dcterms:W3CDTF">2013-01-27T09:14:16Z</dcterms:created>
  <dcterms:modified xsi:type="dcterms:W3CDTF">2026-07-22T14:05:05Z</dcterms:modified>
  <cp:category/>
</cp:coreProperties>
</file>