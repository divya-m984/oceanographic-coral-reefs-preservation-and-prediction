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presentation covers the data collection strategy and model training pipeline for the Oceanographic reef prediction framework. This is a machine learning prototype designed to classify reef health and assess restoration suitability from simulated marine sensor observations. I'll walk through how the data was generated, how it was processed and validated, how the models were trained, and what results were achieved on a synthetic benchmark dataset. Everything you see here is backed by actual code and evaluation files in the project repository.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Coral reefs are under severe stress from ocean warming, acidification, and human activity. The challenge is that monitoring them at scale is hard — you need to combine sonar readings for structure, physical sensor data for water conditions, and direct biological surveys. This project frames two supervised classification tasks. The first predicts whether a reef is healthy, stressed, bleached, or severely degraded. The second predicts whether a site is suitable for active restoration intervention. Both tasks use the same sensor features as input. It is very important to note that this is a prototype — the model outputs are intended to assist expert ecologists, not replace their judgment.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real sonar data or field surveys have been collected for this prototype. Real sonar hardware, environmental buoys, and biological survey teams have not yet been deployed. All 15,000 observations were generated using a documented Python script that applies statistical rules derived from published Indian reef literature. Gaussian noise prevents any single feature from being a perfect predictor. The key advantage is that the complete MLOps pipeline — validation, preprocessing, training, evaluation, serving — can be built and tested now, and then the synthetic generator simply gets replaced with a real ingestion module when field data becomes available. The proposed future collection plan involves multi-beam sonar from boats and AUVs, fixed environmental sensor buoys, and expert biological surveys conducted by trained marine biologists.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dataset has 21 columns divided into five logical groups. Geographic metadata locates each observation in one of four Indian reef regions. Sonar-derived features describe the physical structure of the reef — rugosity, backscatter, hard substrate fraction, and acoustic complexity. These are habitat structure indicators only. An important scientific limit is that sonar cannot directly measure bleaching percentages, coral cover, or water chemistry. Environmental sensors capture the physical conditions of the water column — temperature, pH, dissolved oxygen, turbidity, salinity, light, and current. Reef-condition observations record what a diver or camera would see — coral cover, bleaching extent, and disease prevalence. Finally, we have two target label columns. In a real deployment, the sonar and sensor data would be collected continuously, while biological survey labels would require periodic expert annotation.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dataset has exactly 15,000 rows and 21 columns, confirmed from the CSV file. The 80/20 stratified split gives 12,000 training rows and 3,000 test rows. Stratification ensures that class proportions are preserved in both splits. There are no missing values because all fields are required in the Pandera schema — any row with a null value would be rejected at validation. The class distribution is not perfectly balanced. For reef health, the stressed class is by far the most common, followed by severely degraded, healthy, and bleached. For restoration suitability, moderately suitable is the majority class. This imbalance is handled during training using the class_weight=balanced setting, which automatically adjusts the loss function to give more weight to minority classes. The charts shown here are approximate distributions scaled from the test-set support counts in the evaluation JSON files.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validation is the first gate in the DVC pipeline. Before any modelling work begins, every observation must pass a Pandera DataFrameModel schema check. Pandera is a Python library that lets you declare constraints on a DataFrame as a class definition, similar to Pydantic for API models. In lazy mode, it collects all validation errors across all rows before reporting them — so you get a complete picture of what went wrong rather than stopping at the first failure. The key checks are: all 21 columns must be present with the correct types, every sensor reading must fall within physically plausible bounds, no missing values are allowed, and target labels must match the known class sets. There is also a cross-field check that verifies each observation's coordinates fall within the bounding box of its declared region. If any of these checks fail, the pipeline exits with an error code and no training runs.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preprocessing step converts raw feature columns into a numeric matrix that sklearn classifiers can consume. There are two separate pipelines: one for numeric features and one for the categorical region column. The critical design rule is that the ColumnTransformer is fitted only on the training split. If we fitted on the full dataset, the scaler would learn the mean and variance of test rows, which would constitute data leakage and inflate apparent test performance. Each task — health and restoration — gets its own fitted preprocessor saved as a .joblib file. These artifacts are used both during the DVC pipeline evaluation and at inference time in the FastAPI service. The preprocessor is always called in transform-only mode at inference time — never refit on production data. In addition to the 16 raw features, 6 derived features are computed before splitting: thermal stress index, oxygen stress index, acidity deviation, water quality index, substrate stability score, and structural complexity score.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algorithms are trained for each classification task: Logistic Regression, Random Forest, and XGBoost. All hyperparameters are stored in params.yaml so they can be tracked and changed reproducibly via DVC. The two tasks are trained completely independently — health and restoration have separate preprocessors, separate training runs, and separate registered models. Class imbalance is handled by setting class_weight to balanced in all three algorithms. The primary selection metric is CV macro-F1, which averages F1 score equally across all classes regardless of their frequency. This matters because naive accuracy would favor the majority class. Five-fold cross-validation is used to estimate generalisation performance before any test data is touched. The model with the highest CV macro-F1 is selected, and only then evaluated on the held-out 3,000-row test set. MLflow tracks every experiment run — parameters, metrics, the trained model artifact, and confusion matrix — all stored in a local SQLite database at artifacts/mlruns.db.</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reef health task, all three algorithms performed very similarly. Logistic Regression achieved the highest five-fold cross-validation macro-F1 of 0.7612, slightly ahead of Random Forest at 0.7605 and XGBoost at 0.7580. On the held-out test set, Logistic Regression also achieved the best macro-F1 of 0.7871 and balanced accuracy of 0.8012. The stressed class is the easiest to classify, with an F1 of about 0.90 across all models — this is the majority class and has the clearest feature signal. The healthy and severely degraded classes are harder, both scoring around 0.67 to 0.70 F1. This reflects overlapping feature ranges between adjacent ordinal health states, which is intentional in the synthetic data generator. It is critical to remember that these scores are on synthetic data with known statistical structure. Real reef data would likely produce different results due to genuine environmental complexity and labelling noise.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restoration suitability task, XGBoost achieved the highest cross-validation macro-F1 of 0.7913, compared to 0.7839 for Random Forest and 0.7808 for Logistic Regression. On the test set, XGBoost also led with a macro-F1 of 0.8029 and accuracy of 0.8277. The moderately suitable class has the highest per-class F1 at 0.8884, which makes sense as it is the majority class. The suitable class is harder to classify at 0.7204, which reflects overlap with moderately suitable sites where most conditions are good but one or two factors are suboptimal. The unsuitable class achieves a solid 0.8000 F1, as the extreme conditions that make a site unsuitable are generally quite distinct. Comparing across the two tasks, XGBoost did better on restoration but not on health, suggesting the restoration decision depends more heavily on non-linear interactions — particularly between substrate quality, turbidity, and temperature — that boosted trees handle well.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of the core requirements of a production MLOps pipeline is reproducibility. If you run dvc repro with the same params.yaml and the same input data, you should get exactly the same models every time. This is achieved through several layers. Git versions the source code. DVC versions the data files and pipeline stages — if params.yaml hasn't changed and the data hasn't changed, DVC skips rerunning the expensive stages. params.yaml is the single source of truth — changing n_samples or a hyperparameter triggers only the affected downstream stages. MLflow records every training run with its full parameter set and metrics, so you can always go back and see exactly what configuration produced a given model. Fitted preprocessors are saved separately so inference always uses the same scaling statistics as training. Critically, candidate models are registered in MLflow but the champion alias is never moved automatically — explicit human approval is required to promote a new champion. This is covered in the model governance milestone.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summarise the training results: for reef health classification, Logistic Regression was selected with a test macro-F1 of 0.7871 and accuracy of 0.8193. For restoration suitability, XGBoost was selected with a test macro-F1 of 0.8029 and accuracy of 0.8277. Both models are registered in the MLflow model registry with the 'champion' alias. These are strong results for a classification prototype, but the critical limitation is that the data is entirely synthetic. The synthetic generator bakes in certain correlations by design, which means the models are learning the structure of the simulation rather than the complexity of real reef ecosystems. The next concrete steps are to deploy real hardware and collect labelled field data, and then to evaluate the models on a geographically separated hold-out reef to test for spatial generalisation. The complete MLOps infrastructure — the validation pipeline, drift monitoring, retraining governance, FastAPI inference service, and Streamlit dashboard — are already built and waiting for real data to flow through them.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1224"/>
        </a:solidFill>
        <a:effectLst/>
      </p:bgPr>
    </p:bg>
    <p:spTree>
      <p:nvGrpSpPr>
        <p:cNvPr id="1" name=""/>
        <p:cNvGrpSpPr/>
        <p:nvPr/>
      </p:nvGrpSpPr>
      <p:grpSpPr/>
      <p:sp>
        <p:nvSpPr>
          <p:cNvPr id="2" name="Rectangle 1"/>
          <p:cNvSpPr/>
          <p:nvPr/>
        </p:nvSpPr>
        <p:spPr>
          <a:xfrm>
            <a:off x="0" y="3566160"/>
            <a:ext cx="12188952" cy="329184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547872"/>
            <a:ext cx="12188952" cy="45720"/>
          </a:xfrm>
          <a:prstGeom prst="rect">
            <a:avLst/>
          </a:prstGeom>
          <a:solidFill>
            <a:srgbClr val="1B8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6858000"/>
          </a:xfrm>
          <a:prstGeom prst="rect">
            <a:avLst/>
          </a:prstGeom>
          <a:solidFill>
            <a:srgbClr val="1B8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60120"/>
            <a:ext cx="11521440" cy="1828800"/>
          </a:xfrm>
          <a:prstGeom prst="rect">
            <a:avLst/>
          </a:prstGeom>
          <a:noFill/>
        </p:spPr>
        <p:txBody>
          <a:bodyPr wrap="square">
            <a:spAutoFit/>
          </a:bodyPr>
          <a:lstStyle/>
          <a:p>
            <a:pPr algn="l"/>
            <a:r>
              <a:rPr sz="2800" b="1">
                <a:solidFill>
                  <a:srgbClr val="00B4D8"/>
                </a:solidFill>
              </a:rPr>
              <a:t>Oceanographic: A Machine Learning-Driven Sonar Framework
for Real-Time Coral Reef Habitat Prediction
and Marine Ecosystem Monitoring</a:t>
            </a:r>
          </a:p>
        </p:txBody>
      </p:sp>
      <p:sp>
        <p:nvSpPr>
          <p:cNvPr id="6" name="TextBox 5"/>
          <p:cNvSpPr txBox="1"/>
          <p:nvPr/>
        </p:nvSpPr>
        <p:spPr>
          <a:xfrm>
            <a:off x="365760" y="2971800"/>
            <a:ext cx="10058400" cy="502920"/>
          </a:xfrm>
          <a:prstGeom prst="rect">
            <a:avLst/>
          </a:prstGeom>
          <a:noFill/>
        </p:spPr>
        <p:txBody>
          <a:bodyPr wrap="square">
            <a:spAutoFit/>
          </a:bodyPr>
          <a:lstStyle/>
          <a:p>
            <a:pPr algn="l"/>
            <a:r>
              <a:rPr sz="1600" b="0" i="0">
                <a:solidFill>
                  <a:srgbClr val="90E0EF"/>
                </a:solidFill>
              </a:rPr>
              <a:t>MLOps Presentation 2 — Data Collection and Model Training</a:t>
            </a:r>
          </a:p>
        </p:txBody>
      </p:sp>
      <p:sp>
        <p:nvSpPr>
          <p:cNvPr id="7" name="Rectangle 6"/>
          <p:cNvSpPr/>
          <p:nvPr/>
        </p:nvSpPr>
        <p:spPr>
          <a:xfrm>
            <a:off x="365760" y="3712463"/>
            <a:ext cx="10058400" cy="22860"/>
          </a:xfrm>
          <a:prstGeom prst="rect">
            <a:avLst/>
          </a:prstGeom>
          <a:solidFill>
            <a:srgbClr val="1B8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3858768"/>
            <a:ext cx="11430000" cy="384048"/>
          </a:xfrm>
          <a:prstGeom prst="rect">
            <a:avLst/>
          </a:prstGeom>
          <a:noFill/>
        </p:spPr>
        <p:txBody>
          <a:bodyPr wrap="square">
            <a:spAutoFit/>
          </a:bodyPr>
          <a:lstStyle/>
          <a:p>
            <a:pPr algn="l"/>
            <a:r>
              <a:rPr sz="1200" b="0" i="0">
                <a:solidFill>
                  <a:srgbClr val="8AB4C8"/>
                </a:solidFill>
              </a:rPr>
              <a:t>Decision-support prototype  |  Synthetic data  |  Indian reef systems</a:t>
            </a:r>
          </a:p>
        </p:txBody>
      </p:sp>
      <p:sp>
        <p:nvSpPr>
          <p:cNvPr id="9" name="TextBox 8"/>
          <p:cNvSpPr txBox="1"/>
          <p:nvPr/>
        </p:nvSpPr>
        <p:spPr>
          <a:xfrm>
            <a:off x="365760" y="4270248"/>
            <a:ext cx="11430000" cy="384048"/>
          </a:xfrm>
          <a:prstGeom prst="rect">
            <a:avLst/>
          </a:prstGeom>
          <a:noFill/>
        </p:spPr>
        <p:txBody>
          <a:bodyPr wrap="square">
            <a:spAutoFit/>
          </a:bodyPr>
          <a:lstStyle/>
          <a:p>
            <a:pPr algn="l"/>
            <a:r>
              <a:rPr sz="1200" b="0" i="0">
                <a:solidFill>
                  <a:srgbClr val="8AB4C8"/>
                </a:solidFill>
              </a:rPr>
              <a:t>Four regions: Lakshadweep  |  Gulf of Mannar  |  Gulf of Kutch  |  Andaman and Nicobar Islands</a:t>
            </a:r>
          </a:p>
        </p:txBody>
      </p:sp>
      <p:sp>
        <p:nvSpPr>
          <p:cNvPr id="10" name="TextBox 9"/>
          <p:cNvSpPr txBox="1"/>
          <p:nvPr/>
        </p:nvSpPr>
        <p:spPr>
          <a:xfrm>
            <a:off x="365760" y="5806440"/>
            <a:ext cx="11430000" cy="384048"/>
          </a:xfrm>
          <a:prstGeom prst="rect">
            <a:avLst/>
          </a:prstGeom>
          <a:noFill/>
        </p:spPr>
        <p:txBody>
          <a:bodyPr wrap="square">
            <a:spAutoFit/>
          </a:bodyPr>
          <a:lstStyle/>
          <a:p>
            <a:pPr algn="l"/>
            <a:r>
              <a:rPr sz="950" b="0" i="1">
                <a:solidFill>
                  <a:srgbClr val="7AA4B8"/>
                </a:solidFill>
              </a:rPr>
              <a:t>All observations in this prototype are synthetic. Models do not represent real-world conservation accuracy.</a:t>
            </a:r>
          </a:p>
        </p:txBody>
      </p:sp>
      <p:sp>
        <p:nvSpPr>
          <p:cNvPr id="11" name="Rectangle 10"/>
          <p:cNvSpPr/>
          <p:nvPr/>
        </p:nvSpPr>
        <p:spPr>
          <a:xfrm>
            <a:off x="0" y="6565392"/>
            <a:ext cx="12188952" cy="36576"/>
          </a:xfrm>
          <a:prstGeom prst="rect">
            <a:avLst/>
          </a:prstGeom>
          <a:solidFill>
            <a:srgbClr val="1B8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247120" y="6601968"/>
            <a:ext cx="731520" cy="228600"/>
          </a:xfrm>
          <a:prstGeom prst="rect">
            <a:avLst/>
          </a:prstGeom>
          <a:noFill/>
        </p:spPr>
        <p:txBody>
          <a:bodyPr wrap="square">
            <a:spAutoFit/>
          </a:bodyPr>
          <a:lstStyle/>
          <a:p>
            <a:pPr algn="r"/>
            <a:r>
              <a:rPr sz="900" b="0" i="0">
                <a:solidFill>
                  <a:srgbClr val="8AB4C8"/>
                </a:solidFil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1224"/>
        </a:solidFill>
        <a:effectLst/>
      </p:bgPr>
    </p:bg>
    <p:spTree>
      <p:nvGrpSpPr>
        <p:cNvPr id="1" name=""/>
        <p:cNvGrpSpPr/>
        <p:nvPr/>
      </p:nvGrpSpPr>
      <p:grpSpPr/>
      <p:sp>
        <p:nvSpPr>
          <p:cNvPr id="2" name="Rectangle 1"/>
          <p:cNvSpPr/>
          <p:nvPr/>
        </p:nvSpPr>
        <p:spPr>
          <a:xfrm>
            <a:off x="0" y="0"/>
            <a:ext cx="12188952" cy="1024128"/>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37160"/>
            <a:ext cx="11430000" cy="594360"/>
          </a:xfrm>
          <a:prstGeom prst="rect">
            <a:avLst/>
          </a:prstGeom>
          <a:noFill/>
        </p:spPr>
        <p:txBody>
          <a:bodyPr wrap="square">
            <a:spAutoFit/>
          </a:bodyPr>
          <a:lstStyle/>
          <a:p>
            <a:pPr algn="l"/>
            <a:r>
              <a:rPr sz="2400" b="1" i="0">
                <a:solidFill>
                  <a:srgbClr val="00B4D8"/>
                </a:solidFill>
              </a:rPr>
              <a:t>Problem and ML Objectives</a:t>
            </a:r>
          </a:p>
        </p:txBody>
      </p:sp>
      <p:sp>
        <p:nvSpPr>
          <p:cNvPr id="4" name="TextBox 3"/>
          <p:cNvSpPr txBox="1"/>
          <p:nvPr/>
        </p:nvSpPr>
        <p:spPr>
          <a:xfrm>
            <a:off x="320040" y="658368"/>
            <a:ext cx="11430000" cy="320040"/>
          </a:xfrm>
          <a:prstGeom prst="rect">
            <a:avLst/>
          </a:prstGeom>
          <a:noFill/>
        </p:spPr>
        <p:txBody>
          <a:bodyPr wrap="square">
            <a:spAutoFit/>
          </a:bodyPr>
          <a:lstStyle/>
          <a:p>
            <a:pPr algn="l"/>
            <a:r>
              <a:rPr sz="1200" b="0" i="0">
                <a:solidFill>
                  <a:srgbClr val="8AB4C8"/>
                </a:solidFill>
              </a:rPr>
              <a:t>Why machine learning for coral reef monitoring?</a:t>
            </a:r>
          </a:p>
        </p:txBody>
      </p:sp>
      <p:sp>
        <p:nvSpPr>
          <p:cNvPr id="5" name="Rectangle 4"/>
          <p:cNvSpPr/>
          <p:nvPr/>
        </p:nvSpPr>
        <p:spPr>
          <a:xfrm>
            <a:off x="0" y="1024128"/>
            <a:ext cx="12188952" cy="27432"/>
          </a:xfrm>
          <a:prstGeom prst="rect">
            <a:avLst/>
          </a:prstGeom>
          <a:solidFill>
            <a:srgbClr val="1B8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65392"/>
            <a:ext cx="12188952" cy="36576"/>
          </a:xfrm>
          <a:prstGeom prst="rect">
            <a:avLst/>
          </a:prstGeom>
          <a:solidFill>
            <a:srgbClr val="1B8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01968"/>
            <a:ext cx="8229600" cy="228600"/>
          </a:xfrm>
          <a:prstGeom prst="rect">
            <a:avLst/>
          </a:prstGeom>
          <a:noFill/>
        </p:spPr>
        <p:txBody>
          <a:bodyPr wrap="square">
            <a:spAutoFit/>
          </a:bodyPr>
          <a:lstStyle/>
          <a:p>
            <a:pPr algn="l"/>
            <a:r>
              <a:rPr sz="900" b="0" i="0">
                <a:solidFill>
                  <a:srgbClr val="8AB4C8"/>
                </a:solidFill>
              </a:rPr>
              <a:t>Oceanographic Reef Prediction Framework</a:t>
            </a:r>
          </a:p>
        </p:txBody>
      </p:sp>
      <p:sp>
        <p:nvSpPr>
          <p:cNvPr id="8" name="TextBox 7"/>
          <p:cNvSpPr txBox="1"/>
          <p:nvPr/>
        </p:nvSpPr>
        <p:spPr>
          <a:xfrm>
            <a:off x="11247120" y="6601968"/>
            <a:ext cx="731520" cy="228600"/>
          </a:xfrm>
          <a:prstGeom prst="rect">
            <a:avLst/>
          </a:prstGeom>
          <a:noFill/>
        </p:spPr>
        <p:txBody>
          <a:bodyPr wrap="square">
            <a:spAutoFit/>
          </a:bodyPr>
          <a:lstStyle/>
          <a:p>
            <a:pPr algn="r"/>
            <a:r>
              <a:rPr sz="900" b="0" i="0">
                <a:solidFill>
                  <a:srgbClr val="8AB4C8"/>
                </a:solidFill>
              </a:rPr>
              <a:t>2</a:t>
            </a:r>
          </a:p>
        </p:txBody>
      </p:sp>
      <p:sp>
        <p:nvSpPr>
          <p:cNvPr id="9" name="Rectangle 8"/>
          <p:cNvSpPr/>
          <p:nvPr/>
        </p:nvSpPr>
        <p:spPr>
          <a:xfrm>
            <a:off x="274320" y="1188720"/>
            <a:ext cx="5394960" cy="5120640"/>
          </a:xfrm>
          <a:prstGeom prst="rect">
            <a:avLst/>
          </a:prstGeom>
          <a:solidFill>
            <a:srgbClr val="122A4A"/>
          </a:solidFill>
          <a:ln w="10160">
            <a:solidFill>
              <a:srgbClr val="1B8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261872"/>
            <a:ext cx="5029200" cy="347472"/>
          </a:xfrm>
          <a:prstGeom prst="rect">
            <a:avLst/>
          </a:prstGeom>
          <a:noFill/>
        </p:spPr>
        <p:txBody>
          <a:bodyPr wrap="square">
            <a:spAutoFit/>
          </a:bodyPr>
          <a:lstStyle/>
          <a:p>
            <a:pPr algn="l"/>
            <a:r>
              <a:rPr sz="1300" b="1" i="0">
                <a:solidFill>
                  <a:srgbClr val="00B4D8"/>
                </a:solidFill>
              </a:rPr>
              <a:t>The Monitoring Challenge</a:t>
            </a:r>
          </a:p>
        </p:txBody>
      </p:sp>
      <p:sp>
        <p:nvSpPr>
          <p:cNvPr id="11" name="TextBox 10"/>
          <p:cNvSpPr txBox="1"/>
          <p:nvPr/>
        </p:nvSpPr>
        <p:spPr>
          <a:xfrm>
            <a:off x="438912" y="1664208"/>
            <a:ext cx="5074920" cy="256032"/>
          </a:xfrm>
          <a:prstGeom prst="rect">
            <a:avLst/>
          </a:prstGeom>
          <a:noFill/>
        </p:spPr>
        <p:txBody>
          <a:bodyPr wrap="square">
            <a:spAutoFit/>
          </a:bodyPr>
          <a:lstStyle/>
          <a:p>
            <a:pPr algn="l"/>
            <a:r>
              <a:rPr sz="1050" b="0" i="0">
                <a:solidFill>
                  <a:srgbClr val="E8F4F8"/>
                </a:solidFill>
              </a:rPr>
              <a:t>Coral reefs cover less than 1% of the ocean floor but support</a:t>
            </a:r>
          </a:p>
        </p:txBody>
      </p:sp>
      <p:sp>
        <p:nvSpPr>
          <p:cNvPr id="12" name="TextBox 11"/>
          <p:cNvSpPr txBox="1"/>
          <p:nvPr/>
        </p:nvSpPr>
        <p:spPr>
          <a:xfrm>
            <a:off x="438912" y="1901952"/>
            <a:ext cx="5074920" cy="256032"/>
          </a:xfrm>
          <a:prstGeom prst="rect">
            <a:avLst/>
          </a:prstGeom>
          <a:noFill/>
        </p:spPr>
        <p:txBody>
          <a:bodyPr wrap="square">
            <a:spAutoFit/>
          </a:bodyPr>
          <a:lstStyle/>
          <a:p>
            <a:pPr algn="l"/>
            <a:r>
              <a:rPr sz="1050" b="0" i="0">
                <a:solidFill>
                  <a:srgbClr val="E8F4F8"/>
                </a:solidFill>
              </a:rPr>
              <a:t>approximately 25% of all marine species. Monitoring reef health</a:t>
            </a:r>
          </a:p>
        </p:txBody>
      </p:sp>
      <p:sp>
        <p:nvSpPr>
          <p:cNvPr id="13" name="TextBox 12"/>
          <p:cNvSpPr txBox="1"/>
          <p:nvPr/>
        </p:nvSpPr>
        <p:spPr>
          <a:xfrm>
            <a:off x="438912" y="2139696"/>
            <a:ext cx="5074920" cy="256032"/>
          </a:xfrm>
          <a:prstGeom prst="rect">
            <a:avLst/>
          </a:prstGeom>
          <a:noFill/>
        </p:spPr>
        <p:txBody>
          <a:bodyPr wrap="square">
            <a:spAutoFit/>
          </a:bodyPr>
          <a:lstStyle/>
          <a:p>
            <a:pPr algn="l"/>
            <a:r>
              <a:rPr sz="1050" b="0" i="0">
                <a:solidFill>
                  <a:srgbClr val="E8F4F8"/>
                </a:solidFill>
              </a:rPr>
              <a:t>across large remote areas requires combining multiple sensor types:</a:t>
            </a:r>
          </a:p>
        </p:txBody>
      </p:sp>
      <p:sp>
        <p:nvSpPr>
          <p:cNvPr id="14" name="TextBox 13"/>
          <p:cNvSpPr txBox="1"/>
          <p:nvPr/>
        </p:nvSpPr>
        <p:spPr>
          <a:xfrm>
            <a:off x="438912" y="2377439"/>
            <a:ext cx="5074920" cy="256032"/>
          </a:xfrm>
          <a:prstGeom prst="rect">
            <a:avLst/>
          </a:prstGeom>
          <a:noFill/>
        </p:spPr>
        <p:txBody>
          <a:bodyPr wrap="square">
            <a:spAutoFit/>
          </a:bodyPr>
          <a:lstStyle/>
          <a:p>
            <a:pPr algn="l"/>
            <a:r>
              <a:rPr sz="1050" b="0" i="0">
                <a:solidFill>
                  <a:srgbClr val="E8F4F8"/>
                </a:solidFill>
              </a:rPr>
              <a:t/>
            </a:r>
          </a:p>
        </p:txBody>
      </p:sp>
      <p:sp>
        <p:nvSpPr>
          <p:cNvPr id="15" name="TextBox 14"/>
          <p:cNvSpPr txBox="1"/>
          <p:nvPr/>
        </p:nvSpPr>
        <p:spPr>
          <a:xfrm>
            <a:off x="438912" y="2615183"/>
            <a:ext cx="5074920" cy="256032"/>
          </a:xfrm>
          <a:prstGeom prst="rect">
            <a:avLst/>
          </a:prstGeom>
          <a:noFill/>
        </p:spPr>
        <p:txBody>
          <a:bodyPr wrap="square">
            <a:spAutoFit/>
          </a:bodyPr>
          <a:lstStyle/>
          <a:p>
            <a:pPr algn="l"/>
            <a:r>
              <a:rPr sz="1050" b="0" i="0">
                <a:solidFill>
                  <a:srgbClr val="E8F4F8"/>
                </a:solidFill>
              </a:rPr>
              <a:t>  Sonar — measures structural complexity (rugosity, backscatter,</a:t>
            </a:r>
          </a:p>
        </p:txBody>
      </p:sp>
      <p:sp>
        <p:nvSpPr>
          <p:cNvPr id="16" name="TextBox 15"/>
          <p:cNvSpPr txBox="1"/>
          <p:nvPr/>
        </p:nvSpPr>
        <p:spPr>
          <a:xfrm>
            <a:off x="438912" y="2852927"/>
            <a:ext cx="5074920" cy="256032"/>
          </a:xfrm>
          <a:prstGeom prst="rect">
            <a:avLst/>
          </a:prstGeom>
          <a:noFill/>
        </p:spPr>
        <p:txBody>
          <a:bodyPr wrap="square">
            <a:spAutoFit/>
          </a:bodyPr>
          <a:lstStyle/>
          <a:p>
            <a:pPr algn="l"/>
            <a:r>
              <a:rPr sz="1050" b="0" i="0">
                <a:solidFill>
                  <a:srgbClr val="E8F4F8"/>
                </a:solidFill>
              </a:rPr>
              <a:t>  hard substrate), not bleaching or coral cover directly.</a:t>
            </a:r>
          </a:p>
        </p:txBody>
      </p:sp>
      <p:sp>
        <p:nvSpPr>
          <p:cNvPr id="17" name="TextBox 16"/>
          <p:cNvSpPr txBox="1"/>
          <p:nvPr/>
        </p:nvSpPr>
        <p:spPr>
          <a:xfrm>
            <a:off x="438912" y="3090671"/>
            <a:ext cx="5074920" cy="256032"/>
          </a:xfrm>
          <a:prstGeom prst="rect">
            <a:avLst/>
          </a:prstGeom>
          <a:noFill/>
        </p:spPr>
        <p:txBody>
          <a:bodyPr wrap="square">
            <a:spAutoFit/>
          </a:bodyPr>
          <a:lstStyle/>
          <a:p>
            <a:pPr algn="l"/>
            <a:r>
              <a:rPr sz="1050" b="0" i="0">
                <a:solidFill>
                  <a:srgbClr val="E8F4F8"/>
                </a:solidFill>
              </a:rPr>
              <a:t/>
            </a:r>
          </a:p>
        </p:txBody>
      </p:sp>
      <p:sp>
        <p:nvSpPr>
          <p:cNvPr id="18" name="TextBox 17"/>
          <p:cNvSpPr txBox="1"/>
          <p:nvPr/>
        </p:nvSpPr>
        <p:spPr>
          <a:xfrm>
            <a:off x="438912" y="3328415"/>
            <a:ext cx="5074920" cy="256032"/>
          </a:xfrm>
          <a:prstGeom prst="rect">
            <a:avLst/>
          </a:prstGeom>
          <a:noFill/>
        </p:spPr>
        <p:txBody>
          <a:bodyPr wrap="square">
            <a:spAutoFit/>
          </a:bodyPr>
          <a:lstStyle/>
          <a:p>
            <a:pPr algn="l"/>
            <a:r>
              <a:rPr sz="1050" b="0" i="0">
                <a:solidFill>
                  <a:srgbClr val="E8F4F8"/>
                </a:solidFill>
              </a:rPr>
              <a:t>  Environmental sensors — capture temperature, pH, salinity,</a:t>
            </a:r>
          </a:p>
        </p:txBody>
      </p:sp>
      <p:sp>
        <p:nvSpPr>
          <p:cNvPr id="19" name="TextBox 18"/>
          <p:cNvSpPr txBox="1"/>
          <p:nvPr/>
        </p:nvSpPr>
        <p:spPr>
          <a:xfrm>
            <a:off x="438912" y="3566159"/>
            <a:ext cx="5074920" cy="256032"/>
          </a:xfrm>
          <a:prstGeom prst="rect">
            <a:avLst/>
          </a:prstGeom>
          <a:noFill/>
        </p:spPr>
        <p:txBody>
          <a:bodyPr wrap="square">
            <a:spAutoFit/>
          </a:bodyPr>
          <a:lstStyle/>
          <a:p>
            <a:pPr algn="l"/>
            <a:r>
              <a:rPr sz="1050" b="0" i="0">
                <a:solidFill>
                  <a:srgbClr val="E8F4F8"/>
                </a:solidFill>
              </a:rPr>
              <a:t>  dissolved oxygen, turbidity, and current speed.</a:t>
            </a:r>
          </a:p>
        </p:txBody>
      </p:sp>
      <p:sp>
        <p:nvSpPr>
          <p:cNvPr id="20" name="TextBox 19"/>
          <p:cNvSpPr txBox="1"/>
          <p:nvPr/>
        </p:nvSpPr>
        <p:spPr>
          <a:xfrm>
            <a:off x="438912" y="3803903"/>
            <a:ext cx="5074920" cy="256032"/>
          </a:xfrm>
          <a:prstGeom prst="rect">
            <a:avLst/>
          </a:prstGeom>
          <a:noFill/>
        </p:spPr>
        <p:txBody>
          <a:bodyPr wrap="square">
            <a:spAutoFit/>
          </a:bodyPr>
          <a:lstStyle/>
          <a:p>
            <a:pPr algn="l"/>
            <a:r>
              <a:rPr sz="1050" b="0" i="0">
                <a:solidFill>
                  <a:srgbClr val="E8F4F8"/>
                </a:solidFill>
              </a:rPr>
              <a:t/>
            </a:r>
          </a:p>
        </p:txBody>
      </p:sp>
      <p:sp>
        <p:nvSpPr>
          <p:cNvPr id="21" name="TextBox 20"/>
          <p:cNvSpPr txBox="1"/>
          <p:nvPr/>
        </p:nvSpPr>
        <p:spPr>
          <a:xfrm>
            <a:off x="438912" y="4041647"/>
            <a:ext cx="5074920" cy="256032"/>
          </a:xfrm>
          <a:prstGeom prst="rect">
            <a:avLst/>
          </a:prstGeom>
          <a:noFill/>
        </p:spPr>
        <p:txBody>
          <a:bodyPr wrap="square">
            <a:spAutoFit/>
          </a:bodyPr>
          <a:lstStyle/>
          <a:p>
            <a:pPr algn="l"/>
            <a:r>
              <a:rPr sz="1050" b="0" i="0">
                <a:solidFill>
                  <a:srgbClr val="E8F4F8"/>
                </a:solidFill>
              </a:rPr>
              <a:t>  Biological surveys — observe coral cover, bleaching extent,</a:t>
            </a:r>
          </a:p>
        </p:txBody>
      </p:sp>
      <p:sp>
        <p:nvSpPr>
          <p:cNvPr id="22" name="TextBox 21"/>
          <p:cNvSpPr txBox="1"/>
          <p:nvPr/>
        </p:nvSpPr>
        <p:spPr>
          <a:xfrm>
            <a:off x="438912" y="4279391"/>
            <a:ext cx="5074920" cy="256032"/>
          </a:xfrm>
          <a:prstGeom prst="rect">
            <a:avLst/>
          </a:prstGeom>
          <a:noFill/>
        </p:spPr>
        <p:txBody>
          <a:bodyPr wrap="square">
            <a:spAutoFit/>
          </a:bodyPr>
          <a:lstStyle/>
          <a:p>
            <a:pPr algn="l"/>
            <a:r>
              <a:rPr sz="1050" b="0" i="0">
                <a:solidFill>
                  <a:srgbClr val="E8F4F8"/>
                </a:solidFill>
              </a:rPr>
              <a:t>  and disease prevalence.</a:t>
            </a:r>
          </a:p>
        </p:txBody>
      </p:sp>
      <p:sp>
        <p:nvSpPr>
          <p:cNvPr id="23" name="TextBox 22"/>
          <p:cNvSpPr txBox="1"/>
          <p:nvPr/>
        </p:nvSpPr>
        <p:spPr>
          <a:xfrm>
            <a:off x="438912" y="4517135"/>
            <a:ext cx="5074920" cy="256032"/>
          </a:xfrm>
          <a:prstGeom prst="rect">
            <a:avLst/>
          </a:prstGeom>
          <a:noFill/>
        </p:spPr>
        <p:txBody>
          <a:bodyPr wrap="square">
            <a:spAutoFit/>
          </a:bodyPr>
          <a:lstStyle/>
          <a:p>
            <a:pPr algn="l"/>
            <a:r>
              <a:rPr sz="1050" b="0" i="0">
                <a:solidFill>
                  <a:srgbClr val="E8F4F8"/>
                </a:solidFill>
              </a:rPr>
              <a:t/>
            </a:r>
          </a:p>
        </p:txBody>
      </p:sp>
      <p:sp>
        <p:nvSpPr>
          <p:cNvPr id="24" name="TextBox 23"/>
          <p:cNvSpPr txBox="1"/>
          <p:nvPr/>
        </p:nvSpPr>
        <p:spPr>
          <a:xfrm>
            <a:off x="438912" y="4754879"/>
            <a:ext cx="5074920" cy="256032"/>
          </a:xfrm>
          <a:prstGeom prst="rect">
            <a:avLst/>
          </a:prstGeom>
          <a:noFill/>
        </p:spPr>
        <p:txBody>
          <a:bodyPr wrap="square">
            <a:spAutoFit/>
          </a:bodyPr>
          <a:lstStyle/>
          <a:p>
            <a:pPr algn="l"/>
            <a:r>
              <a:rPr sz="1050" b="0" i="0">
                <a:solidFill>
                  <a:srgbClr val="E8F4F8"/>
                </a:solidFill>
              </a:rPr>
              <a:t>Manual expert assessment at scale is costly and slow. A decision-</a:t>
            </a:r>
          </a:p>
        </p:txBody>
      </p:sp>
      <p:sp>
        <p:nvSpPr>
          <p:cNvPr id="25" name="TextBox 24"/>
          <p:cNvSpPr txBox="1"/>
          <p:nvPr/>
        </p:nvSpPr>
        <p:spPr>
          <a:xfrm>
            <a:off x="438912" y="4992623"/>
            <a:ext cx="5074920" cy="256032"/>
          </a:xfrm>
          <a:prstGeom prst="rect">
            <a:avLst/>
          </a:prstGeom>
          <a:noFill/>
        </p:spPr>
        <p:txBody>
          <a:bodyPr wrap="square">
            <a:spAutoFit/>
          </a:bodyPr>
          <a:lstStyle/>
          <a:p>
            <a:pPr algn="l"/>
            <a:r>
              <a:rPr sz="1050" b="0" i="0">
                <a:solidFill>
                  <a:srgbClr val="E8F4F8"/>
                </a:solidFill>
              </a:rPr>
              <a:t>support model can flag priority sites for human follow-up.</a:t>
            </a:r>
          </a:p>
        </p:txBody>
      </p:sp>
      <p:sp>
        <p:nvSpPr>
          <p:cNvPr id="26" name="Rectangle 25"/>
          <p:cNvSpPr/>
          <p:nvPr/>
        </p:nvSpPr>
        <p:spPr>
          <a:xfrm>
            <a:off x="5943600" y="1188720"/>
            <a:ext cx="5989320" cy="2331720"/>
          </a:xfrm>
          <a:prstGeom prst="rect">
            <a:avLst/>
          </a:prstGeom>
          <a:solidFill>
            <a:srgbClr val="122A4A"/>
          </a:solidFill>
          <a:ln w="1016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1261872"/>
            <a:ext cx="5669280" cy="347472"/>
          </a:xfrm>
          <a:prstGeom prst="rect">
            <a:avLst/>
          </a:prstGeom>
          <a:noFill/>
        </p:spPr>
        <p:txBody>
          <a:bodyPr wrap="square">
            <a:spAutoFit/>
          </a:bodyPr>
          <a:lstStyle/>
          <a:p>
            <a:pPr algn="l"/>
            <a:r>
              <a:rPr sz="1300" b="1" i="0">
                <a:solidFill>
                  <a:srgbClr val="00B4D8"/>
                </a:solidFill>
              </a:rPr>
              <a:t>Task 1 — Reef Health Classification</a:t>
            </a:r>
          </a:p>
        </p:txBody>
      </p:sp>
      <p:sp>
        <p:nvSpPr>
          <p:cNvPr id="28" name="TextBox 27"/>
          <p:cNvSpPr txBox="1"/>
          <p:nvPr/>
        </p:nvSpPr>
        <p:spPr>
          <a:xfrm>
            <a:off x="6108192" y="1673352"/>
            <a:ext cx="5669280" cy="256032"/>
          </a:xfrm>
          <a:prstGeom prst="rect">
            <a:avLst/>
          </a:prstGeom>
          <a:noFill/>
        </p:spPr>
        <p:txBody>
          <a:bodyPr wrap="square">
            <a:spAutoFit/>
          </a:bodyPr>
          <a:lstStyle/>
          <a:p>
            <a:pPr algn="l"/>
            <a:r>
              <a:rPr sz="1050" b="0" i="0">
                <a:solidFill>
                  <a:srgbClr val="E8F4F8"/>
                </a:solidFill>
              </a:rPr>
              <a:t>Classify each observation into one of four ordinal states:</a:t>
            </a:r>
          </a:p>
        </p:txBody>
      </p:sp>
      <p:sp>
        <p:nvSpPr>
          <p:cNvPr id="29" name="TextBox 28"/>
          <p:cNvSpPr txBox="1"/>
          <p:nvPr/>
        </p:nvSpPr>
        <p:spPr>
          <a:xfrm>
            <a:off x="6108192" y="1911095"/>
            <a:ext cx="5669280" cy="256032"/>
          </a:xfrm>
          <a:prstGeom prst="rect">
            <a:avLst/>
          </a:prstGeom>
          <a:noFill/>
        </p:spPr>
        <p:txBody>
          <a:bodyPr wrap="square">
            <a:spAutoFit/>
          </a:bodyPr>
          <a:lstStyle/>
          <a:p>
            <a:pPr algn="l"/>
            <a:r>
              <a:rPr sz="1050" b="0" i="0">
                <a:solidFill>
                  <a:srgbClr val="E8F4F8"/>
                </a:solidFill>
              </a:rPr>
              <a:t>  healthy  |  stressed  |  bleached  |  severely degraded</a:t>
            </a:r>
          </a:p>
        </p:txBody>
      </p:sp>
      <p:sp>
        <p:nvSpPr>
          <p:cNvPr id="30" name="TextBox 29"/>
          <p:cNvSpPr txBox="1"/>
          <p:nvPr/>
        </p:nvSpPr>
        <p:spPr>
          <a:xfrm>
            <a:off x="6108192" y="2148839"/>
            <a:ext cx="5669280" cy="256032"/>
          </a:xfrm>
          <a:prstGeom prst="rect">
            <a:avLst/>
          </a:prstGeom>
          <a:noFill/>
        </p:spPr>
        <p:txBody>
          <a:bodyPr wrap="square">
            <a:spAutoFit/>
          </a:bodyPr>
          <a:lstStyle/>
          <a:p>
            <a:pPr algn="l"/>
            <a:r>
              <a:rPr sz="1050" b="0" i="0">
                <a:solidFill>
                  <a:srgbClr val="E8F4F8"/>
                </a:solidFill>
              </a:rPr>
              <a:t/>
            </a:r>
          </a:p>
        </p:txBody>
      </p:sp>
      <p:sp>
        <p:nvSpPr>
          <p:cNvPr id="31" name="TextBox 30"/>
          <p:cNvSpPr txBox="1"/>
          <p:nvPr/>
        </p:nvSpPr>
        <p:spPr>
          <a:xfrm>
            <a:off x="6108192" y="2386583"/>
            <a:ext cx="5669280" cy="256032"/>
          </a:xfrm>
          <a:prstGeom prst="rect">
            <a:avLst/>
          </a:prstGeom>
          <a:noFill/>
        </p:spPr>
        <p:txBody>
          <a:bodyPr wrap="square">
            <a:spAutoFit/>
          </a:bodyPr>
          <a:lstStyle/>
          <a:p>
            <a:pPr algn="l"/>
            <a:r>
              <a:rPr sz="1050" b="0" i="0">
                <a:solidFill>
                  <a:srgbClr val="E8F4F8"/>
                </a:solidFill>
              </a:rPr>
              <a:t>Input: 16 sensor and survey features per observation.</a:t>
            </a:r>
          </a:p>
        </p:txBody>
      </p:sp>
      <p:sp>
        <p:nvSpPr>
          <p:cNvPr id="32" name="TextBox 31"/>
          <p:cNvSpPr txBox="1"/>
          <p:nvPr/>
        </p:nvSpPr>
        <p:spPr>
          <a:xfrm>
            <a:off x="6108192" y="2624327"/>
            <a:ext cx="5669280" cy="256032"/>
          </a:xfrm>
          <a:prstGeom prst="rect">
            <a:avLst/>
          </a:prstGeom>
          <a:noFill/>
        </p:spPr>
        <p:txBody>
          <a:bodyPr wrap="square">
            <a:spAutoFit/>
          </a:bodyPr>
          <a:lstStyle/>
          <a:p>
            <a:pPr algn="l"/>
            <a:r>
              <a:rPr sz="1050" b="0" i="0">
                <a:solidFill>
                  <a:srgbClr val="E8F4F8"/>
                </a:solidFill>
              </a:rPr>
              <a:t>Output: predicted reef health class + class probabilities.</a:t>
            </a:r>
          </a:p>
        </p:txBody>
      </p:sp>
      <p:sp>
        <p:nvSpPr>
          <p:cNvPr id="33" name="Rectangle 32"/>
          <p:cNvSpPr/>
          <p:nvPr/>
        </p:nvSpPr>
        <p:spPr>
          <a:xfrm>
            <a:off x="5943600" y="3703320"/>
            <a:ext cx="5989320" cy="2148840"/>
          </a:xfrm>
          <a:prstGeom prst="rect">
            <a:avLst/>
          </a:prstGeom>
          <a:solidFill>
            <a:srgbClr val="122A4A"/>
          </a:solidFill>
          <a:ln w="10160">
            <a:solidFill>
              <a:srgbClr val="1B8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26480" y="3776472"/>
            <a:ext cx="5669280" cy="347472"/>
          </a:xfrm>
          <a:prstGeom prst="rect">
            <a:avLst/>
          </a:prstGeom>
          <a:noFill/>
        </p:spPr>
        <p:txBody>
          <a:bodyPr wrap="square">
            <a:spAutoFit/>
          </a:bodyPr>
          <a:lstStyle/>
          <a:p>
            <a:pPr algn="l"/>
            <a:r>
              <a:rPr sz="1300" b="1" i="0">
                <a:solidFill>
                  <a:srgbClr val="1B8A8F"/>
                </a:solidFill>
              </a:rPr>
              <a:t>Task 2 — Restoration Suitability Classification</a:t>
            </a:r>
          </a:p>
        </p:txBody>
      </p:sp>
      <p:sp>
        <p:nvSpPr>
          <p:cNvPr id="35" name="TextBox 34"/>
          <p:cNvSpPr txBox="1"/>
          <p:nvPr/>
        </p:nvSpPr>
        <p:spPr>
          <a:xfrm>
            <a:off x="6108192" y="4178808"/>
            <a:ext cx="5669280" cy="256032"/>
          </a:xfrm>
          <a:prstGeom prst="rect">
            <a:avLst/>
          </a:prstGeom>
          <a:noFill/>
        </p:spPr>
        <p:txBody>
          <a:bodyPr wrap="square">
            <a:spAutoFit/>
          </a:bodyPr>
          <a:lstStyle/>
          <a:p>
            <a:pPr algn="l"/>
            <a:r>
              <a:rPr sz="1050" b="0" i="0">
                <a:solidFill>
                  <a:srgbClr val="E8F4F8"/>
                </a:solidFill>
              </a:rPr>
              <a:t>Classify each site into one of three restoration categories:</a:t>
            </a:r>
          </a:p>
        </p:txBody>
      </p:sp>
      <p:sp>
        <p:nvSpPr>
          <p:cNvPr id="36" name="TextBox 35"/>
          <p:cNvSpPr txBox="1"/>
          <p:nvPr/>
        </p:nvSpPr>
        <p:spPr>
          <a:xfrm>
            <a:off x="6108192" y="4416552"/>
            <a:ext cx="5669280" cy="256032"/>
          </a:xfrm>
          <a:prstGeom prst="rect">
            <a:avLst/>
          </a:prstGeom>
          <a:noFill/>
        </p:spPr>
        <p:txBody>
          <a:bodyPr wrap="square">
            <a:spAutoFit/>
          </a:bodyPr>
          <a:lstStyle/>
          <a:p>
            <a:pPr algn="l"/>
            <a:r>
              <a:rPr sz="1050" b="0" i="0">
                <a:solidFill>
                  <a:srgbClr val="E8F4F8"/>
                </a:solidFill>
              </a:rPr>
              <a:t>  suitable  |  moderately suitable  |  unsuitable</a:t>
            </a:r>
          </a:p>
        </p:txBody>
      </p:sp>
      <p:sp>
        <p:nvSpPr>
          <p:cNvPr id="37" name="TextBox 36"/>
          <p:cNvSpPr txBox="1"/>
          <p:nvPr/>
        </p:nvSpPr>
        <p:spPr>
          <a:xfrm>
            <a:off x="6108192" y="4654296"/>
            <a:ext cx="5669280" cy="256032"/>
          </a:xfrm>
          <a:prstGeom prst="rect">
            <a:avLst/>
          </a:prstGeom>
          <a:noFill/>
        </p:spPr>
        <p:txBody>
          <a:bodyPr wrap="square">
            <a:spAutoFit/>
          </a:bodyPr>
          <a:lstStyle/>
          <a:p>
            <a:pPr algn="l"/>
            <a:r>
              <a:rPr sz="1050" b="0" i="0">
                <a:solidFill>
                  <a:srgbClr val="E8F4F8"/>
                </a:solidFill>
              </a:rPr>
              <a:t/>
            </a:r>
          </a:p>
        </p:txBody>
      </p:sp>
      <p:sp>
        <p:nvSpPr>
          <p:cNvPr id="38" name="TextBox 37"/>
          <p:cNvSpPr txBox="1"/>
          <p:nvPr/>
        </p:nvSpPr>
        <p:spPr>
          <a:xfrm>
            <a:off x="6108192" y="4892040"/>
            <a:ext cx="5669280" cy="256032"/>
          </a:xfrm>
          <a:prstGeom prst="rect">
            <a:avLst/>
          </a:prstGeom>
          <a:noFill/>
        </p:spPr>
        <p:txBody>
          <a:bodyPr wrap="square">
            <a:spAutoFit/>
          </a:bodyPr>
          <a:lstStyle/>
          <a:p>
            <a:pPr algn="l"/>
            <a:r>
              <a:rPr sz="1050" b="0" i="0">
                <a:solidFill>
                  <a:srgbClr val="E8F4F8"/>
                </a:solidFill>
              </a:rPr>
              <a:t>Informed by substrate quality, temperature stability,</a:t>
            </a:r>
          </a:p>
        </p:txBody>
      </p:sp>
      <p:sp>
        <p:nvSpPr>
          <p:cNvPr id="39" name="TextBox 38"/>
          <p:cNvSpPr txBox="1"/>
          <p:nvPr/>
        </p:nvSpPr>
        <p:spPr>
          <a:xfrm>
            <a:off x="6108192" y="5129783"/>
            <a:ext cx="5669280" cy="256032"/>
          </a:xfrm>
          <a:prstGeom prst="rect">
            <a:avLst/>
          </a:prstGeom>
          <a:noFill/>
        </p:spPr>
        <p:txBody>
          <a:bodyPr wrap="square">
            <a:spAutoFit/>
          </a:bodyPr>
          <a:lstStyle/>
          <a:p>
            <a:pPr algn="l"/>
            <a:r>
              <a:rPr sz="1050" b="0" i="0">
                <a:solidFill>
                  <a:srgbClr val="E8F4F8"/>
                </a:solidFill>
              </a:rPr>
              <a:t>turbidity, depth, current, and existing coral proximity.</a:t>
            </a:r>
          </a:p>
        </p:txBody>
      </p:sp>
      <p:sp>
        <p:nvSpPr>
          <p:cNvPr id="40" name="Rectangle 39"/>
          <p:cNvSpPr/>
          <p:nvPr/>
        </p:nvSpPr>
        <p:spPr>
          <a:xfrm>
            <a:off x="5943600" y="5961888"/>
            <a:ext cx="5989320" cy="310896"/>
          </a:xfrm>
          <a:prstGeom prst="rect">
            <a:avLst/>
          </a:prstGeom>
          <a:solidFill>
            <a:srgbClr val="143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035040" y="5980176"/>
            <a:ext cx="5806440" cy="274320"/>
          </a:xfrm>
          <a:prstGeom prst="rect">
            <a:avLst/>
          </a:prstGeom>
          <a:noFill/>
        </p:spPr>
        <p:txBody>
          <a:bodyPr wrap="square">
            <a:spAutoFit/>
          </a:bodyPr>
          <a:lstStyle/>
          <a:p>
            <a:pPr algn="l"/>
            <a:r>
              <a:rPr sz="950" b="0" i="1">
                <a:solidFill>
                  <a:srgbClr val="F4A261"/>
                </a:solidFill>
              </a:rPr>
              <a:t>This is a decision-support prototype — outputs guide human experts, not automated conservation policy.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1224"/>
        </a:solidFill>
        <a:effectLst/>
      </p:bgPr>
    </p:bg>
    <p:spTree>
      <p:nvGrpSpPr>
        <p:cNvPr id="1" name=""/>
        <p:cNvGrpSpPr/>
        <p:nvPr/>
      </p:nvGrpSpPr>
      <p:grpSpPr/>
      <p:sp>
        <p:nvSpPr>
          <p:cNvPr id="2" name="Rectangle 1"/>
          <p:cNvSpPr/>
          <p:nvPr/>
        </p:nvSpPr>
        <p:spPr>
          <a:xfrm>
            <a:off x="0" y="0"/>
            <a:ext cx="12188952" cy="1024128"/>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37160"/>
            <a:ext cx="11430000" cy="594360"/>
          </a:xfrm>
          <a:prstGeom prst="rect">
            <a:avLst/>
          </a:prstGeom>
          <a:noFill/>
        </p:spPr>
        <p:txBody>
          <a:bodyPr wrap="square">
            <a:spAutoFit/>
          </a:bodyPr>
          <a:lstStyle/>
          <a:p>
            <a:pPr algn="l"/>
            <a:r>
              <a:rPr sz="2400" b="1" i="0">
                <a:solidFill>
                  <a:srgbClr val="00B4D8"/>
                </a:solidFill>
              </a:rPr>
              <a:t>Data Collection Strategy</a:t>
            </a:r>
          </a:p>
        </p:txBody>
      </p:sp>
      <p:sp>
        <p:nvSpPr>
          <p:cNvPr id="4" name="TextBox 3"/>
          <p:cNvSpPr txBox="1"/>
          <p:nvPr/>
        </p:nvSpPr>
        <p:spPr>
          <a:xfrm>
            <a:off x="320040" y="658368"/>
            <a:ext cx="11430000" cy="320040"/>
          </a:xfrm>
          <a:prstGeom prst="rect">
            <a:avLst/>
          </a:prstGeom>
          <a:noFill/>
        </p:spPr>
        <p:txBody>
          <a:bodyPr wrap="square">
            <a:spAutoFit/>
          </a:bodyPr>
          <a:lstStyle/>
          <a:p>
            <a:pPr algn="l"/>
            <a:r>
              <a:rPr sz="1200" b="0" i="0">
                <a:solidFill>
                  <a:srgbClr val="8AB4C8"/>
                </a:solidFill>
              </a:rPr>
              <a:t>Current prototype vs. proposed future deployment</a:t>
            </a:r>
          </a:p>
        </p:txBody>
      </p:sp>
      <p:sp>
        <p:nvSpPr>
          <p:cNvPr id="5" name="Rectangle 4"/>
          <p:cNvSpPr/>
          <p:nvPr/>
        </p:nvSpPr>
        <p:spPr>
          <a:xfrm>
            <a:off x="0" y="1024128"/>
            <a:ext cx="12188952" cy="27432"/>
          </a:xfrm>
          <a:prstGeom prst="rect">
            <a:avLst/>
          </a:prstGeom>
          <a:solidFill>
            <a:srgbClr val="1B8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65392"/>
            <a:ext cx="12188952" cy="36576"/>
          </a:xfrm>
          <a:prstGeom prst="rect">
            <a:avLst/>
          </a:prstGeom>
          <a:solidFill>
            <a:srgbClr val="1B8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01968"/>
            <a:ext cx="8229600" cy="228600"/>
          </a:xfrm>
          <a:prstGeom prst="rect">
            <a:avLst/>
          </a:prstGeom>
          <a:noFill/>
        </p:spPr>
        <p:txBody>
          <a:bodyPr wrap="square">
            <a:spAutoFit/>
          </a:bodyPr>
          <a:lstStyle/>
          <a:p>
            <a:pPr algn="l"/>
            <a:r>
              <a:rPr sz="900" b="0" i="0">
                <a:solidFill>
                  <a:srgbClr val="8AB4C8"/>
                </a:solidFill>
              </a:rPr>
              <a:t>Oceanographic Reef Prediction Framework</a:t>
            </a:r>
          </a:p>
        </p:txBody>
      </p:sp>
      <p:sp>
        <p:nvSpPr>
          <p:cNvPr id="8" name="TextBox 7"/>
          <p:cNvSpPr txBox="1"/>
          <p:nvPr/>
        </p:nvSpPr>
        <p:spPr>
          <a:xfrm>
            <a:off x="11247120" y="6601968"/>
            <a:ext cx="731520" cy="228600"/>
          </a:xfrm>
          <a:prstGeom prst="rect">
            <a:avLst/>
          </a:prstGeom>
          <a:noFill/>
        </p:spPr>
        <p:txBody>
          <a:bodyPr wrap="square">
            <a:spAutoFit/>
          </a:bodyPr>
          <a:lstStyle/>
          <a:p>
            <a:pPr algn="r"/>
            <a:r>
              <a:rPr sz="900" b="0" i="0">
                <a:solidFill>
                  <a:srgbClr val="8AB4C8"/>
                </a:solidFill>
              </a:rPr>
              <a:t>3</a:t>
            </a:r>
          </a:p>
        </p:txBody>
      </p:sp>
      <p:sp>
        <p:nvSpPr>
          <p:cNvPr id="9" name="Rectangle 8"/>
          <p:cNvSpPr/>
          <p:nvPr/>
        </p:nvSpPr>
        <p:spPr>
          <a:xfrm>
            <a:off x="274320" y="1188720"/>
            <a:ext cx="5440680" cy="5120640"/>
          </a:xfrm>
          <a:prstGeom prst="rect">
            <a:avLst/>
          </a:prstGeom>
          <a:solidFill>
            <a:srgbClr val="122A4A"/>
          </a:solidFill>
          <a:ln w="19050">
            <a:solidFill>
              <a:srgbClr val="F4A2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261872"/>
            <a:ext cx="5074920" cy="384048"/>
          </a:xfrm>
          <a:prstGeom prst="rect">
            <a:avLst/>
          </a:prstGeom>
          <a:noFill/>
        </p:spPr>
        <p:txBody>
          <a:bodyPr wrap="square">
            <a:spAutoFit/>
          </a:bodyPr>
          <a:lstStyle/>
          <a:p>
            <a:pPr algn="l"/>
            <a:r>
              <a:rPr sz="1300" b="1" i="0">
                <a:solidFill>
                  <a:srgbClr val="F4A261"/>
                </a:solidFill>
              </a:rPr>
              <a:t>Current: Synthetic Data Generation</a:t>
            </a:r>
          </a:p>
        </p:txBody>
      </p:sp>
      <p:sp>
        <p:nvSpPr>
          <p:cNvPr id="11" name="Rectangle 10"/>
          <p:cNvSpPr/>
          <p:nvPr/>
        </p:nvSpPr>
        <p:spPr>
          <a:xfrm>
            <a:off x="457200" y="1673352"/>
            <a:ext cx="5074920" cy="256032"/>
          </a:xfrm>
          <a:prstGeom prst="rect">
            <a:avLst/>
          </a:prstGeom>
          <a:solidFill>
            <a:srgbClr val="3A1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682496"/>
            <a:ext cx="5029200" cy="237744"/>
          </a:xfrm>
          <a:prstGeom prst="rect">
            <a:avLst/>
          </a:prstGeom>
          <a:noFill/>
        </p:spPr>
        <p:txBody>
          <a:bodyPr wrap="square">
            <a:spAutoFit/>
          </a:bodyPr>
          <a:lstStyle/>
          <a:p>
            <a:pPr algn="ctr"/>
            <a:r>
              <a:rPr sz="950" b="1" i="0">
                <a:solidFill>
                  <a:srgbClr val="F4A261"/>
                </a:solidFill>
              </a:rPr>
              <a:t>SYNTHETIC DATA — not real sensor readings</a:t>
            </a:r>
          </a:p>
        </p:txBody>
      </p:sp>
      <p:sp>
        <p:nvSpPr>
          <p:cNvPr id="13" name="TextBox 12"/>
          <p:cNvSpPr txBox="1"/>
          <p:nvPr/>
        </p:nvSpPr>
        <p:spPr>
          <a:xfrm>
            <a:off x="438912" y="1993392"/>
            <a:ext cx="5120640" cy="246888"/>
          </a:xfrm>
          <a:prstGeom prst="rect">
            <a:avLst/>
          </a:prstGeom>
          <a:noFill/>
        </p:spPr>
        <p:txBody>
          <a:bodyPr wrap="square">
            <a:spAutoFit/>
          </a:bodyPr>
          <a:lstStyle/>
          <a:p>
            <a:pPr algn="l"/>
            <a:r>
              <a:rPr sz="1000" b="1" i="0">
                <a:solidFill>
                  <a:srgbClr val="00B4D8"/>
                </a:solidFill>
              </a:rPr>
              <a:t>Why synthetic data was required:</a:t>
            </a:r>
          </a:p>
        </p:txBody>
      </p:sp>
      <p:sp>
        <p:nvSpPr>
          <p:cNvPr id="14" name="TextBox 13"/>
          <p:cNvSpPr txBox="1"/>
          <p:nvPr/>
        </p:nvSpPr>
        <p:spPr>
          <a:xfrm>
            <a:off x="438912" y="2235708"/>
            <a:ext cx="5120640" cy="246888"/>
          </a:xfrm>
          <a:prstGeom prst="rect">
            <a:avLst/>
          </a:prstGeom>
          <a:noFill/>
        </p:spPr>
        <p:txBody>
          <a:bodyPr wrap="square">
            <a:spAutoFit/>
          </a:bodyPr>
          <a:lstStyle/>
          <a:p>
            <a:pPr algn="l"/>
            <a:r>
              <a:rPr sz="1000" b="0" i="0">
                <a:solidFill>
                  <a:srgbClr val="E8F4F8"/>
                </a:solidFill>
              </a:rPr>
              <a:t/>
            </a:r>
          </a:p>
        </p:txBody>
      </p:sp>
      <p:sp>
        <p:nvSpPr>
          <p:cNvPr id="15" name="TextBox 14"/>
          <p:cNvSpPr txBox="1"/>
          <p:nvPr/>
        </p:nvSpPr>
        <p:spPr>
          <a:xfrm>
            <a:off x="438912" y="2478024"/>
            <a:ext cx="5120640" cy="246888"/>
          </a:xfrm>
          <a:prstGeom prst="rect">
            <a:avLst/>
          </a:prstGeom>
          <a:noFill/>
        </p:spPr>
        <p:txBody>
          <a:bodyPr wrap="square">
            <a:spAutoFit/>
          </a:bodyPr>
          <a:lstStyle/>
          <a:p>
            <a:pPr algn="l"/>
            <a:r>
              <a:rPr sz="1000" b="0" i="0">
                <a:solidFill>
                  <a:srgbClr val="E8F4F8"/>
                </a:solidFill>
              </a:rPr>
              <a:t>  Real sonar hardware and calibrated marine sensor</a:t>
            </a:r>
          </a:p>
        </p:txBody>
      </p:sp>
      <p:sp>
        <p:nvSpPr>
          <p:cNvPr id="16" name="TextBox 15"/>
          <p:cNvSpPr txBox="1"/>
          <p:nvPr/>
        </p:nvSpPr>
        <p:spPr>
          <a:xfrm>
            <a:off x="438912" y="2720340"/>
            <a:ext cx="5120640" cy="246888"/>
          </a:xfrm>
          <a:prstGeom prst="rect">
            <a:avLst/>
          </a:prstGeom>
          <a:noFill/>
        </p:spPr>
        <p:txBody>
          <a:bodyPr wrap="square">
            <a:spAutoFit/>
          </a:bodyPr>
          <a:lstStyle/>
          <a:p>
            <a:pPr algn="l"/>
            <a:r>
              <a:rPr sz="1000" b="0" i="0">
                <a:solidFill>
                  <a:srgbClr val="E8F4F8"/>
                </a:solidFill>
              </a:rPr>
              <a:t>  arrays have not yet been deployed for this project.</a:t>
            </a:r>
          </a:p>
        </p:txBody>
      </p:sp>
      <p:sp>
        <p:nvSpPr>
          <p:cNvPr id="17" name="TextBox 16"/>
          <p:cNvSpPr txBox="1"/>
          <p:nvPr/>
        </p:nvSpPr>
        <p:spPr>
          <a:xfrm>
            <a:off x="438912" y="2962656"/>
            <a:ext cx="5120640" cy="246888"/>
          </a:xfrm>
          <a:prstGeom prst="rect">
            <a:avLst/>
          </a:prstGeom>
          <a:noFill/>
        </p:spPr>
        <p:txBody>
          <a:bodyPr wrap="square">
            <a:spAutoFit/>
          </a:bodyPr>
          <a:lstStyle/>
          <a:p>
            <a:pPr algn="l"/>
            <a:r>
              <a:rPr sz="1000" b="0" i="0">
                <a:solidFill>
                  <a:srgbClr val="E8F4F8"/>
                </a:solidFill>
              </a:rPr>
              <a:t/>
            </a:r>
          </a:p>
        </p:txBody>
      </p:sp>
      <p:sp>
        <p:nvSpPr>
          <p:cNvPr id="18" name="TextBox 17"/>
          <p:cNvSpPr txBox="1"/>
          <p:nvPr/>
        </p:nvSpPr>
        <p:spPr>
          <a:xfrm>
            <a:off x="438912" y="3204972"/>
            <a:ext cx="5120640" cy="246888"/>
          </a:xfrm>
          <a:prstGeom prst="rect">
            <a:avLst/>
          </a:prstGeom>
          <a:noFill/>
        </p:spPr>
        <p:txBody>
          <a:bodyPr wrap="square">
            <a:spAutoFit/>
          </a:bodyPr>
          <a:lstStyle/>
          <a:p>
            <a:pPr algn="l"/>
            <a:r>
              <a:rPr sz="1000" b="0" i="0">
                <a:solidFill>
                  <a:srgbClr val="E8F4F8"/>
                </a:solidFill>
              </a:rPr>
              <a:t>  Expert-labelled field surveys take months to</a:t>
            </a:r>
          </a:p>
        </p:txBody>
      </p:sp>
      <p:sp>
        <p:nvSpPr>
          <p:cNvPr id="19" name="TextBox 18"/>
          <p:cNvSpPr txBox="1"/>
          <p:nvPr/>
        </p:nvSpPr>
        <p:spPr>
          <a:xfrm>
            <a:off x="438912" y="3447288"/>
            <a:ext cx="5120640" cy="246888"/>
          </a:xfrm>
          <a:prstGeom prst="rect">
            <a:avLst/>
          </a:prstGeom>
          <a:noFill/>
        </p:spPr>
        <p:txBody>
          <a:bodyPr wrap="square">
            <a:spAutoFit/>
          </a:bodyPr>
          <a:lstStyle/>
          <a:p>
            <a:pPr algn="l"/>
            <a:r>
              <a:rPr sz="1000" b="0" i="0">
                <a:solidFill>
                  <a:srgbClr val="E8F4F8"/>
                </a:solidFill>
              </a:rPr>
              <a:t>  collect across four remote Indian reef regions.</a:t>
            </a:r>
          </a:p>
        </p:txBody>
      </p:sp>
      <p:sp>
        <p:nvSpPr>
          <p:cNvPr id="20" name="TextBox 19"/>
          <p:cNvSpPr txBox="1"/>
          <p:nvPr/>
        </p:nvSpPr>
        <p:spPr>
          <a:xfrm>
            <a:off x="438912" y="3689604"/>
            <a:ext cx="5120640" cy="246888"/>
          </a:xfrm>
          <a:prstGeom prst="rect">
            <a:avLst/>
          </a:prstGeom>
          <a:noFill/>
        </p:spPr>
        <p:txBody>
          <a:bodyPr wrap="square">
            <a:spAutoFit/>
          </a:bodyPr>
          <a:lstStyle/>
          <a:p>
            <a:pPr algn="l"/>
            <a:r>
              <a:rPr sz="1000" b="0" i="0">
                <a:solidFill>
                  <a:srgbClr val="E8F4F8"/>
                </a:solidFill>
              </a:rPr>
              <a:t/>
            </a:r>
          </a:p>
        </p:txBody>
      </p:sp>
      <p:sp>
        <p:nvSpPr>
          <p:cNvPr id="21" name="TextBox 20"/>
          <p:cNvSpPr txBox="1"/>
          <p:nvPr/>
        </p:nvSpPr>
        <p:spPr>
          <a:xfrm>
            <a:off x="438912" y="3931920"/>
            <a:ext cx="5120640" cy="246888"/>
          </a:xfrm>
          <a:prstGeom prst="rect">
            <a:avLst/>
          </a:prstGeom>
          <a:noFill/>
        </p:spPr>
        <p:txBody>
          <a:bodyPr wrap="square">
            <a:spAutoFit/>
          </a:bodyPr>
          <a:lstStyle/>
          <a:p>
            <a:pPr algn="l"/>
            <a:r>
              <a:rPr sz="1000" b="0" i="0">
                <a:solidFill>
                  <a:srgbClr val="E8F4F8"/>
                </a:solidFill>
              </a:rPr>
              <a:t>  Synthetic data lets the full MLOps pipeline be</a:t>
            </a:r>
          </a:p>
        </p:txBody>
      </p:sp>
      <p:sp>
        <p:nvSpPr>
          <p:cNvPr id="22" name="TextBox 21"/>
          <p:cNvSpPr txBox="1"/>
          <p:nvPr/>
        </p:nvSpPr>
        <p:spPr>
          <a:xfrm>
            <a:off x="438912" y="4174236"/>
            <a:ext cx="5120640" cy="246888"/>
          </a:xfrm>
          <a:prstGeom prst="rect">
            <a:avLst/>
          </a:prstGeom>
          <a:noFill/>
        </p:spPr>
        <p:txBody>
          <a:bodyPr wrap="square">
            <a:spAutoFit/>
          </a:bodyPr>
          <a:lstStyle/>
          <a:p>
            <a:pPr algn="l"/>
            <a:r>
              <a:rPr sz="1000" b="0" i="0">
                <a:solidFill>
                  <a:srgbClr val="E8F4F8"/>
                </a:solidFill>
              </a:rPr>
              <a:t>  built, tested, and validated before physical</a:t>
            </a:r>
          </a:p>
        </p:txBody>
      </p:sp>
      <p:sp>
        <p:nvSpPr>
          <p:cNvPr id="23" name="TextBox 22"/>
          <p:cNvSpPr txBox="1"/>
          <p:nvPr/>
        </p:nvSpPr>
        <p:spPr>
          <a:xfrm>
            <a:off x="438912" y="4416552"/>
            <a:ext cx="5120640" cy="246888"/>
          </a:xfrm>
          <a:prstGeom prst="rect">
            <a:avLst/>
          </a:prstGeom>
          <a:noFill/>
        </p:spPr>
        <p:txBody>
          <a:bodyPr wrap="square">
            <a:spAutoFit/>
          </a:bodyPr>
          <a:lstStyle/>
          <a:p>
            <a:pPr algn="l"/>
            <a:r>
              <a:rPr sz="1000" b="0" i="0">
                <a:solidFill>
                  <a:srgbClr val="E8F4F8"/>
                </a:solidFill>
              </a:rPr>
              <a:t>  hardware is available.</a:t>
            </a:r>
          </a:p>
        </p:txBody>
      </p:sp>
      <p:sp>
        <p:nvSpPr>
          <p:cNvPr id="24" name="TextBox 23"/>
          <p:cNvSpPr txBox="1"/>
          <p:nvPr/>
        </p:nvSpPr>
        <p:spPr>
          <a:xfrm>
            <a:off x="438912" y="4658868"/>
            <a:ext cx="5120640" cy="246888"/>
          </a:xfrm>
          <a:prstGeom prst="rect">
            <a:avLst/>
          </a:prstGeom>
          <a:noFill/>
        </p:spPr>
        <p:txBody>
          <a:bodyPr wrap="square">
            <a:spAutoFit/>
          </a:bodyPr>
          <a:lstStyle/>
          <a:p>
            <a:pPr algn="l"/>
            <a:r>
              <a:rPr sz="1000" b="0" i="0">
                <a:solidFill>
                  <a:srgbClr val="E8F4F8"/>
                </a:solidFill>
              </a:rPr>
              <a:t/>
            </a:r>
          </a:p>
        </p:txBody>
      </p:sp>
      <p:sp>
        <p:nvSpPr>
          <p:cNvPr id="25" name="TextBox 24"/>
          <p:cNvSpPr txBox="1"/>
          <p:nvPr/>
        </p:nvSpPr>
        <p:spPr>
          <a:xfrm>
            <a:off x="438912" y="4901183"/>
            <a:ext cx="5120640" cy="246888"/>
          </a:xfrm>
          <a:prstGeom prst="rect">
            <a:avLst/>
          </a:prstGeom>
          <a:noFill/>
        </p:spPr>
        <p:txBody>
          <a:bodyPr wrap="square">
            <a:spAutoFit/>
          </a:bodyPr>
          <a:lstStyle/>
          <a:p>
            <a:pPr algn="l"/>
            <a:r>
              <a:rPr sz="1000" b="1" i="0">
                <a:solidFill>
                  <a:srgbClr val="00B4D8"/>
                </a:solidFill>
              </a:rPr>
              <a:t>How it was generated:</a:t>
            </a:r>
          </a:p>
        </p:txBody>
      </p:sp>
      <p:sp>
        <p:nvSpPr>
          <p:cNvPr id="26" name="TextBox 25"/>
          <p:cNvSpPr txBox="1"/>
          <p:nvPr/>
        </p:nvSpPr>
        <p:spPr>
          <a:xfrm>
            <a:off x="438912" y="5143499"/>
            <a:ext cx="5120640" cy="246888"/>
          </a:xfrm>
          <a:prstGeom prst="rect">
            <a:avLst/>
          </a:prstGeom>
          <a:noFill/>
        </p:spPr>
        <p:txBody>
          <a:bodyPr wrap="square">
            <a:spAutoFit/>
          </a:bodyPr>
          <a:lstStyle/>
          <a:p>
            <a:pPr algn="l"/>
            <a:r>
              <a:rPr sz="1000" b="0" i="0">
                <a:solidFill>
                  <a:srgbClr val="E8F4F8"/>
                </a:solidFill>
              </a:rPr>
              <a:t>  15,000 observations generated by src/data/generate_data.py</a:t>
            </a:r>
          </a:p>
        </p:txBody>
      </p:sp>
      <p:sp>
        <p:nvSpPr>
          <p:cNvPr id="27" name="TextBox 26"/>
          <p:cNvSpPr txBox="1"/>
          <p:nvPr/>
        </p:nvSpPr>
        <p:spPr>
          <a:xfrm>
            <a:off x="438912" y="5385815"/>
            <a:ext cx="5120640" cy="246888"/>
          </a:xfrm>
          <a:prstGeom prst="rect">
            <a:avLst/>
          </a:prstGeom>
          <a:noFill/>
        </p:spPr>
        <p:txBody>
          <a:bodyPr wrap="square">
            <a:spAutoFit/>
          </a:bodyPr>
          <a:lstStyle/>
          <a:p>
            <a:pPr algn="l"/>
            <a:r>
              <a:rPr sz="1000" b="0" i="0">
                <a:solidFill>
                  <a:srgbClr val="E8F4F8"/>
                </a:solidFill>
              </a:rPr>
              <a:t>  Statistical rules from published Indian reef literature</a:t>
            </a:r>
          </a:p>
        </p:txBody>
      </p:sp>
      <p:sp>
        <p:nvSpPr>
          <p:cNvPr id="28" name="TextBox 27"/>
          <p:cNvSpPr txBox="1"/>
          <p:nvPr/>
        </p:nvSpPr>
        <p:spPr>
          <a:xfrm>
            <a:off x="438912" y="5628131"/>
            <a:ext cx="5120640" cy="246888"/>
          </a:xfrm>
          <a:prstGeom prst="rect">
            <a:avLst/>
          </a:prstGeom>
          <a:noFill/>
        </p:spPr>
        <p:txBody>
          <a:bodyPr wrap="square">
            <a:spAutoFit/>
          </a:bodyPr>
          <a:lstStyle/>
          <a:p>
            <a:pPr algn="l"/>
            <a:r>
              <a:rPr sz="1000" b="0" i="0">
                <a:solidFill>
                  <a:srgbClr val="E8F4F8"/>
                </a:solidFill>
              </a:rPr>
              <a:t>  (Hughes et al. 2017; Venkataraman et al. 2011)</a:t>
            </a:r>
          </a:p>
        </p:txBody>
      </p:sp>
      <p:sp>
        <p:nvSpPr>
          <p:cNvPr id="29" name="TextBox 28"/>
          <p:cNvSpPr txBox="1"/>
          <p:nvPr/>
        </p:nvSpPr>
        <p:spPr>
          <a:xfrm>
            <a:off x="438912" y="5870447"/>
            <a:ext cx="5120640" cy="246888"/>
          </a:xfrm>
          <a:prstGeom prst="rect">
            <a:avLst/>
          </a:prstGeom>
          <a:noFill/>
        </p:spPr>
        <p:txBody>
          <a:bodyPr wrap="square">
            <a:spAutoFit/>
          </a:bodyPr>
          <a:lstStyle/>
          <a:p>
            <a:pPr algn="l"/>
            <a:r>
              <a:rPr sz="1000" b="0" i="0">
                <a:solidFill>
                  <a:srgbClr val="E8F4F8"/>
                </a:solidFill>
              </a:rPr>
              <a:t>  Gaussian noise (scale=0.15) prevents perfect separability</a:t>
            </a:r>
          </a:p>
        </p:txBody>
      </p:sp>
      <p:sp>
        <p:nvSpPr>
          <p:cNvPr id="30" name="TextBox 29"/>
          <p:cNvSpPr txBox="1"/>
          <p:nvPr/>
        </p:nvSpPr>
        <p:spPr>
          <a:xfrm>
            <a:off x="438912" y="6112763"/>
            <a:ext cx="5120640" cy="246888"/>
          </a:xfrm>
          <a:prstGeom prst="rect">
            <a:avLst/>
          </a:prstGeom>
          <a:noFill/>
        </p:spPr>
        <p:txBody>
          <a:bodyPr wrap="square">
            <a:spAutoFit/>
          </a:bodyPr>
          <a:lstStyle/>
          <a:p>
            <a:pPr algn="l"/>
            <a:r>
              <a:rPr sz="1000" b="0" i="0">
                <a:solidFill>
                  <a:srgbClr val="E8F4F8"/>
                </a:solidFill>
              </a:rPr>
              <a:t>  Fixed random seed 42 — fully reproducible</a:t>
            </a:r>
          </a:p>
        </p:txBody>
      </p:sp>
      <p:sp>
        <p:nvSpPr>
          <p:cNvPr id="31" name="Rectangle 30"/>
          <p:cNvSpPr/>
          <p:nvPr/>
        </p:nvSpPr>
        <p:spPr>
          <a:xfrm>
            <a:off x="5989320" y="1188720"/>
            <a:ext cx="5897880" cy="5120640"/>
          </a:xfrm>
          <a:prstGeom prst="rect">
            <a:avLst/>
          </a:prstGeom>
          <a:solidFill>
            <a:srgbClr val="122A4A"/>
          </a:solidFill>
          <a:ln w="12700">
            <a:solidFill>
              <a:srgbClr val="1B8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72200" y="1261872"/>
            <a:ext cx="5577840" cy="384048"/>
          </a:xfrm>
          <a:prstGeom prst="rect">
            <a:avLst/>
          </a:prstGeom>
          <a:noFill/>
        </p:spPr>
        <p:txBody>
          <a:bodyPr wrap="square">
            <a:spAutoFit/>
          </a:bodyPr>
          <a:lstStyle/>
          <a:p>
            <a:pPr algn="l"/>
            <a:r>
              <a:rPr sz="1300" b="1" i="0">
                <a:solidFill>
                  <a:srgbClr val="1B8A8F"/>
                </a:solidFill>
              </a:rPr>
              <a:t>Proposed Future: Real Field Collection</a:t>
            </a:r>
          </a:p>
        </p:txBody>
      </p:sp>
      <p:sp>
        <p:nvSpPr>
          <p:cNvPr id="33" name="TextBox 32"/>
          <p:cNvSpPr txBox="1"/>
          <p:nvPr/>
        </p:nvSpPr>
        <p:spPr>
          <a:xfrm>
            <a:off x="6153912" y="1691640"/>
            <a:ext cx="5577840" cy="274320"/>
          </a:xfrm>
          <a:prstGeom prst="rect">
            <a:avLst/>
          </a:prstGeom>
          <a:noFill/>
        </p:spPr>
        <p:txBody>
          <a:bodyPr wrap="square">
            <a:spAutoFit/>
          </a:bodyPr>
          <a:lstStyle/>
          <a:p>
            <a:pPr algn="l"/>
            <a:r>
              <a:rPr sz="1100" b="1" i="0">
                <a:solidFill>
                  <a:srgbClr val="00B4D8"/>
                </a:solidFill>
              </a:rPr>
              <a:t>Acoustic Surveys</a:t>
            </a:r>
          </a:p>
        </p:txBody>
      </p:sp>
      <p:sp>
        <p:nvSpPr>
          <p:cNvPr id="34" name="TextBox 33"/>
          <p:cNvSpPr txBox="1"/>
          <p:nvPr/>
        </p:nvSpPr>
        <p:spPr>
          <a:xfrm>
            <a:off x="6309360" y="1984248"/>
            <a:ext cx="5394960" cy="237744"/>
          </a:xfrm>
          <a:prstGeom prst="rect">
            <a:avLst/>
          </a:prstGeom>
          <a:noFill/>
        </p:spPr>
        <p:txBody>
          <a:bodyPr wrap="square">
            <a:spAutoFit/>
          </a:bodyPr>
          <a:lstStyle/>
          <a:p>
            <a:pPr algn="l"/>
            <a:r>
              <a:rPr sz="1000" b="0" i="0">
                <a:solidFill>
                  <a:srgbClr val="E8F4F8"/>
                </a:solidFill>
              </a:rPr>
              <a:t>Multi-beam sonar deployed from survey vessels</a:t>
            </a:r>
          </a:p>
        </p:txBody>
      </p:sp>
      <p:sp>
        <p:nvSpPr>
          <p:cNvPr id="35" name="TextBox 34"/>
          <p:cNvSpPr txBox="1"/>
          <p:nvPr/>
        </p:nvSpPr>
        <p:spPr>
          <a:xfrm>
            <a:off x="6309360" y="2217420"/>
            <a:ext cx="5394960" cy="237744"/>
          </a:xfrm>
          <a:prstGeom prst="rect">
            <a:avLst/>
          </a:prstGeom>
          <a:noFill/>
        </p:spPr>
        <p:txBody>
          <a:bodyPr wrap="square">
            <a:spAutoFit/>
          </a:bodyPr>
          <a:lstStyle/>
          <a:p>
            <a:pPr algn="l"/>
            <a:r>
              <a:rPr sz="1000" b="0" i="0">
                <a:solidFill>
                  <a:srgbClr val="E8F4F8"/>
                </a:solidFill>
              </a:rPr>
              <a:t>Measures bathymetric rugosity and backscatter</a:t>
            </a:r>
          </a:p>
        </p:txBody>
      </p:sp>
      <p:sp>
        <p:nvSpPr>
          <p:cNvPr id="36" name="TextBox 35"/>
          <p:cNvSpPr txBox="1"/>
          <p:nvPr/>
        </p:nvSpPr>
        <p:spPr>
          <a:xfrm>
            <a:off x="6309360" y="2450591"/>
            <a:ext cx="5394960" cy="237744"/>
          </a:xfrm>
          <a:prstGeom prst="rect">
            <a:avLst/>
          </a:prstGeom>
          <a:noFill/>
        </p:spPr>
        <p:txBody>
          <a:bodyPr wrap="square">
            <a:spAutoFit/>
          </a:bodyPr>
          <a:lstStyle/>
          <a:p>
            <a:pPr algn="l"/>
            <a:r>
              <a:rPr sz="1000" b="0" i="0">
                <a:solidFill>
                  <a:srgbClr val="E8F4F8"/>
                </a:solidFill>
              </a:rPr>
              <a:t>Autonomous Underwater Vehicles (AUVs) for</a:t>
            </a:r>
          </a:p>
        </p:txBody>
      </p:sp>
      <p:sp>
        <p:nvSpPr>
          <p:cNvPr id="37" name="TextBox 36"/>
          <p:cNvSpPr txBox="1"/>
          <p:nvPr/>
        </p:nvSpPr>
        <p:spPr>
          <a:xfrm>
            <a:off x="6309360" y="2683763"/>
            <a:ext cx="5394960" cy="237744"/>
          </a:xfrm>
          <a:prstGeom prst="rect">
            <a:avLst/>
          </a:prstGeom>
          <a:noFill/>
        </p:spPr>
        <p:txBody>
          <a:bodyPr wrap="square">
            <a:spAutoFit/>
          </a:bodyPr>
          <a:lstStyle/>
          <a:p>
            <a:pPr algn="l"/>
            <a:r>
              <a:rPr sz="1000" b="0" i="0">
                <a:solidFill>
                  <a:srgbClr val="E8F4F8"/>
                </a:solidFill>
              </a:rPr>
              <a:t>deep transects and consistent coverage</a:t>
            </a:r>
          </a:p>
        </p:txBody>
      </p:sp>
      <p:sp>
        <p:nvSpPr>
          <p:cNvPr id="38" name="TextBox 37"/>
          <p:cNvSpPr txBox="1"/>
          <p:nvPr/>
        </p:nvSpPr>
        <p:spPr>
          <a:xfrm>
            <a:off x="6153912" y="3026663"/>
            <a:ext cx="5577840" cy="274320"/>
          </a:xfrm>
          <a:prstGeom prst="rect">
            <a:avLst/>
          </a:prstGeom>
          <a:noFill/>
        </p:spPr>
        <p:txBody>
          <a:bodyPr wrap="square">
            <a:spAutoFit/>
          </a:bodyPr>
          <a:lstStyle/>
          <a:p>
            <a:pPr algn="l"/>
            <a:r>
              <a:rPr sz="1100" b="1" i="0">
                <a:solidFill>
                  <a:srgbClr val="1B8A8F"/>
                </a:solidFill>
              </a:rPr>
              <a:t>Environmental Sensors</a:t>
            </a:r>
          </a:p>
        </p:txBody>
      </p:sp>
      <p:sp>
        <p:nvSpPr>
          <p:cNvPr id="39" name="TextBox 38"/>
          <p:cNvSpPr txBox="1"/>
          <p:nvPr/>
        </p:nvSpPr>
        <p:spPr>
          <a:xfrm>
            <a:off x="6309360" y="3319271"/>
            <a:ext cx="5394960" cy="237744"/>
          </a:xfrm>
          <a:prstGeom prst="rect">
            <a:avLst/>
          </a:prstGeom>
          <a:noFill/>
        </p:spPr>
        <p:txBody>
          <a:bodyPr wrap="square">
            <a:spAutoFit/>
          </a:bodyPr>
          <a:lstStyle/>
          <a:p>
            <a:pPr algn="l"/>
            <a:r>
              <a:rPr sz="1000" b="0" i="0">
                <a:solidFill>
                  <a:srgbClr val="E8F4F8"/>
                </a:solidFill>
              </a:rPr>
              <a:t>Fixed buoy arrays for temperature, pH,</a:t>
            </a:r>
          </a:p>
        </p:txBody>
      </p:sp>
      <p:sp>
        <p:nvSpPr>
          <p:cNvPr id="40" name="TextBox 39"/>
          <p:cNvSpPr txBox="1"/>
          <p:nvPr/>
        </p:nvSpPr>
        <p:spPr>
          <a:xfrm>
            <a:off x="6309360" y="3552443"/>
            <a:ext cx="5394960" cy="237744"/>
          </a:xfrm>
          <a:prstGeom prst="rect">
            <a:avLst/>
          </a:prstGeom>
          <a:noFill/>
        </p:spPr>
        <p:txBody>
          <a:bodyPr wrap="square">
            <a:spAutoFit/>
          </a:bodyPr>
          <a:lstStyle/>
          <a:p>
            <a:pPr algn="l"/>
            <a:r>
              <a:rPr sz="1000" b="0" i="0">
                <a:solidFill>
                  <a:srgbClr val="E8F4F8"/>
                </a:solidFill>
              </a:rPr>
              <a:t>dissolved oxygen, turbidity, salinity</a:t>
            </a:r>
          </a:p>
        </p:txBody>
      </p:sp>
      <p:sp>
        <p:nvSpPr>
          <p:cNvPr id="41" name="TextBox 40"/>
          <p:cNvSpPr txBox="1"/>
          <p:nvPr/>
        </p:nvSpPr>
        <p:spPr>
          <a:xfrm>
            <a:off x="6309360" y="3785615"/>
            <a:ext cx="5394960" cy="237744"/>
          </a:xfrm>
          <a:prstGeom prst="rect">
            <a:avLst/>
          </a:prstGeom>
          <a:noFill/>
        </p:spPr>
        <p:txBody>
          <a:bodyPr wrap="square">
            <a:spAutoFit/>
          </a:bodyPr>
          <a:lstStyle/>
          <a:p>
            <a:pPr algn="l"/>
            <a:r>
              <a:rPr sz="1000" b="0" i="0">
                <a:solidFill>
                  <a:srgbClr val="E8F4F8"/>
                </a:solidFill>
              </a:rPr>
              <a:t>Remotely Operated Vehicles (ROVs) for</a:t>
            </a:r>
          </a:p>
        </p:txBody>
      </p:sp>
      <p:sp>
        <p:nvSpPr>
          <p:cNvPr id="42" name="TextBox 41"/>
          <p:cNvSpPr txBox="1"/>
          <p:nvPr/>
        </p:nvSpPr>
        <p:spPr>
          <a:xfrm>
            <a:off x="6309360" y="4018787"/>
            <a:ext cx="5394960" cy="237744"/>
          </a:xfrm>
          <a:prstGeom prst="rect">
            <a:avLst/>
          </a:prstGeom>
          <a:noFill/>
        </p:spPr>
        <p:txBody>
          <a:bodyPr wrap="square">
            <a:spAutoFit/>
          </a:bodyPr>
          <a:lstStyle/>
          <a:p>
            <a:pPr algn="l"/>
            <a:r>
              <a:rPr sz="1000" b="0" i="0">
                <a:solidFill>
                  <a:srgbClr val="E8F4F8"/>
                </a:solidFill>
              </a:rPr>
              <a:t>depth-stratified profiles</a:t>
            </a:r>
          </a:p>
        </p:txBody>
      </p:sp>
      <p:sp>
        <p:nvSpPr>
          <p:cNvPr id="43" name="TextBox 42"/>
          <p:cNvSpPr txBox="1"/>
          <p:nvPr/>
        </p:nvSpPr>
        <p:spPr>
          <a:xfrm>
            <a:off x="6153912" y="4361688"/>
            <a:ext cx="5577840" cy="274320"/>
          </a:xfrm>
          <a:prstGeom prst="rect">
            <a:avLst/>
          </a:prstGeom>
          <a:noFill/>
        </p:spPr>
        <p:txBody>
          <a:bodyPr wrap="square">
            <a:spAutoFit/>
          </a:bodyPr>
          <a:lstStyle/>
          <a:p>
            <a:pPr algn="l"/>
            <a:r>
              <a:rPr sz="1100" b="1" i="0">
                <a:solidFill>
                  <a:srgbClr val="2EC4B6"/>
                </a:solidFill>
              </a:rPr>
              <a:t>Biological Surveys</a:t>
            </a:r>
          </a:p>
        </p:txBody>
      </p:sp>
      <p:sp>
        <p:nvSpPr>
          <p:cNvPr id="44" name="TextBox 43"/>
          <p:cNvSpPr txBox="1"/>
          <p:nvPr/>
        </p:nvSpPr>
        <p:spPr>
          <a:xfrm>
            <a:off x="6309360" y="4654296"/>
            <a:ext cx="5394960" cy="237744"/>
          </a:xfrm>
          <a:prstGeom prst="rect">
            <a:avLst/>
          </a:prstGeom>
          <a:noFill/>
        </p:spPr>
        <p:txBody>
          <a:bodyPr wrap="square">
            <a:spAutoFit/>
          </a:bodyPr>
          <a:lstStyle/>
          <a:p>
            <a:pPr algn="l"/>
            <a:r>
              <a:rPr sz="1000" b="0" i="0">
                <a:solidFill>
                  <a:srgbClr val="E8F4F8"/>
                </a:solidFill>
              </a:rPr>
              <a:t>Expert diver transects for coral cover,</a:t>
            </a:r>
          </a:p>
        </p:txBody>
      </p:sp>
      <p:sp>
        <p:nvSpPr>
          <p:cNvPr id="45" name="TextBox 44"/>
          <p:cNvSpPr txBox="1"/>
          <p:nvPr/>
        </p:nvSpPr>
        <p:spPr>
          <a:xfrm>
            <a:off x="6309360" y="4887468"/>
            <a:ext cx="5394960" cy="237744"/>
          </a:xfrm>
          <a:prstGeom prst="rect">
            <a:avLst/>
          </a:prstGeom>
          <a:noFill/>
        </p:spPr>
        <p:txBody>
          <a:bodyPr wrap="square">
            <a:spAutoFit/>
          </a:bodyPr>
          <a:lstStyle/>
          <a:p>
            <a:pPr algn="l"/>
            <a:r>
              <a:rPr sz="1000" b="0" i="0">
                <a:solidFill>
                  <a:srgbClr val="E8F4F8"/>
                </a:solidFill>
              </a:rPr>
              <a:t>bleaching extent, and disease prevalence</a:t>
            </a:r>
          </a:p>
        </p:txBody>
      </p:sp>
      <p:sp>
        <p:nvSpPr>
          <p:cNvPr id="46" name="TextBox 45"/>
          <p:cNvSpPr txBox="1"/>
          <p:nvPr/>
        </p:nvSpPr>
        <p:spPr>
          <a:xfrm>
            <a:off x="6309360" y="5120640"/>
            <a:ext cx="5394960" cy="237744"/>
          </a:xfrm>
          <a:prstGeom prst="rect">
            <a:avLst/>
          </a:prstGeom>
          <a:noFill/>
        </p:spPr>
        <p:txBody>
          <a:bodyPr wrap="square">
            <a:spAutoFit/>
          </a:bodyPr>
          <a:lstStyle/>
          <a:p>
            <a:pPr algn="l"/>
            <a:r>
              <a:rPr sz="1000" b="0" i="0">
                <a:solidFill>
                  <a:srgbClr val="E8F4F8"/>
                </a:solidFill>
              </a:rPr>
              <a:t>Photographic and video records for</a:t>
            </a:r>
          </a:p>
        </p:txBody>
      </p:sp>
      <p:sp>
        <p:nvSpPr>
          <p:cNvPr id="47" name="TextBox 46"/>
          <p:cNvSpPr txBox="1"/>
          <p:nvPr/>
        </p:nvSpPr>
        <p:spPr>
          <a:xfrm>
            <a:off x="6309360" y="5353812"/>
            <a:ext cx="5394960" cy="237744"/>
          </a:xfrm>
          <a:prstGeom prst="rect">
            <a:avLst/>
          </a:prstGeom>
          <a:noFill/>
        </p:spPr>
        <p:txBody>
          <a:bodyPr wrap="square">
            <a:spAutoFit/>
          </a:bodyPr>
          <a:lstStyle/>
          <a:p>
            <a:pPr algn="l"/>
            <a:r>
              <a:rPr sz="1000" b="0" i="0">
                <a:solidFill>
                  <a:srgbClr val="E8F4F8"/>
                </a:solidFill>
              </a:rPr>
              <a:t>systematic label assignment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1224"/>
        </a:solidFill>
        <a:effectLst/>
      </p:bgPr>
    </p:bg>
    <p:spTree>
      <p:nvGrpSpPr>
        <p:cNvPr id="1" name=""/>
        <p:cNvGrpSpPr/>
        <p:nvPr/>
      </p:nvGrpSpPr>
      <p:grpSpPr/>
      <p:sp>
        <p:nvSpPr>
          <p:cNvPr id="2" name="Rectangle 1"/>
          <p:cNvSpPr/>
          <p:nvPr/>
        </p:nvSpPr>
        <p:spPr>
          <a:xfrm>
            <a:off x="0" y="0"/>
            <a:ext cx="12188952" cy="1024128"/>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37160"/>
            <a:ext cx="11430000" cy="594360"/>
          </a:xfrm>
          <a:prstGeom prst="rect">
            <a:avLst/>
          </a:prstGeom>
          <a:noFill/>
        </p:spPr>
        <p:txBody>
          <a:bodyPr wrap="square">
            <a:spAutoFit/>
          </a:bodyPr>
          <a:lstStyle/>
          <a:p>
            <a:pPr algn="l"/>
            <a:r>
              <a:rPr sz="2400" b="1" i="0">
                <a:solidFill>
                  <a:srgbClr val="00B4D8"/>
                </a:solidFill>
              </a:rPr>
              <a:t>Data Sources and Feature Groups</a:t>
            </a:r>
          </a:p>
        </p:txBody>
      </p:sp>
      <p:sp>
        <p:nvSpPr>
          <p:cNvPr id="4" name="TextBox 3"/>
          <p:cNvSpPr txBox="1"/>
          <p:nvPr/>
        </p:nvSpPr>
        <p:spPr>
          <a:xfrm>
            <a:off x="320040" y="658368"/>
            <a:ext cx="11430000" cy="320040"/>
          </a:xfrm>
          <a:prstGeom prst="rect">
            <a:avLst/>
          </a:prstGeom>
          <a:noFill/>
        </p:spPr>
        <p:txBody>
          <a:bodyPr wrap="square">
            <a:spAutoFit/>
          </a:bodyPr>
          <a:lstStyle/>
          <a:p>
            <a:pPr algn="l"/>
            <a:r>
              <a:rPr sz="1200" b="0" i="0">
                <a:solidFill>
                  <a:srgbClr val="8AB4C8"/>
                </a:solidFill>
              </a:rPr>
              <a:t>21 columns across five categories — synthetic prototype</a:t>
            </a:r>
          </a:p>
        </p:txBody>
      </p:sp>
      <p:sp>
        <p:nvSpPr>
          <p:cNvPr id="5" name="Rectangle 4"/>
          <p:cNvSpPr/>
          <p:nvPr/>
        </p:nvSpPr>
        <p:spPr>
          <a:xfrm>
            <a:off x="0" y="1024128"/>
            <a:ext cx="12188952" cy="27432"/>
          </a:xfrm>
          <a:prstGeom prst="rect">
            <a:avLst/>
          </a:prstGeom>
          <a:solidFill>
            <a:srgbClr val="1B8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65392"/>
            <a:ext cx="12188952" cy="36576"/>
          </a:xfrm>
          <a:prstGeom prst="rect">
            <a:avLst/>
          </a:prstGeom>
          <a:solidFill>
            <a:srgbClr val="1B8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01968"/>
            <a:ext cx="8229600" cy="228600"/>
          </a:xfrm>
          <a:prstGeom prst="rect">
            <a:avLst/>
          </a:prstGeom>
          <a:noFill/>
        </p:spPr>
        <p:txBody>
          <a:bodyPr wrap="square">
            <a:spAutoFit/>
          </a:bodyPr>
          <a:lstStyle/>
          <a:p>
            <a:pPr algn="l"/>
            <a:r>
              <a:rPr sz="900" b="0" i="0">
                <a:solidFill>
                  <a:srgbClr val="8AB4C8"/>
                </a:solidFill>
              </a:rPr>
              <a:t>Oceanographic Reef Prediction Framework</a:t>
            </a:r>
          </a:p>
        </p:txBody>
      </p:sp>
      <p:sp>
        <p:nvSpPr>
          <p:cNvPr id="8" name="TextBox 7"/>
          <p:cNvSpPr txBox="1"/>
          <p:nvPr/>
        </p:nvSpPr>
        <p:spPr>
          <a:xfrm>
            <a:off x="11247120" y="6601968"/>
            <a:ext cx="731520" cy="228600"/>
          </a:xfrm>
          <a:prstGeom prst="rect">
            <a:avLst/>
          </a:prstGeom>
          <a:noFill/>
        </p:spPr>
        <p:txBody>
          <a:bodyPr wrap="square">
            <a:spAutoFit/>
          </a:bodyPr>
          <a:lstStyle/>
          <a:p>
            <a:pPr algn="r"/>
            <a:r>
              <a:rPr sz="900" b="0" i="0">
                <a:solidFill>
                  <a:srgbClr val="8AB4C8"/>
                </a:solidFill>
              </a:rPr>
              <a:t>4</a:t>
            </a:r>
          </a:p>
        </p:txBody>
      </p:sp>
      <p:sp>
        <p:nvSpPr>
          <p:cNvPr id="9" name="Rectangle 8"/>
          <p:cNvSpPr/>
          <p:nvPr/>
        </p:nvSpPr>
        <p:spPr>
          <a:xfrm>
            <a:off x="256032" y="1143000"/>
            <a:ext cx="2240280" cy="5138928"/>
          </a:xfrm>
          <a:prstGeom prst="rect">
            <a:avLst/>
          </a:prstGeom>
          <a:solidFill>
            <a:srgbClr val="122A4A"/>
          </a:solidFill>
          <a:ln w="15240">
            <a:solidFill>
              <a:srgbClr val="8AB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 y="1143000"/>
            <a:ext cx="2240280" cy="384048"/>
          </a:xfrm>
          <a:prstGeom prst="rect">
            <a:avLst/>
          </a:prstGeom>
          <a:solidFill>
            <a:srgbClr val="8AB4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0896" y="1161288"/>
            <a:ext cx="2167128" cy="347472"/>
          </a:xfrm>
          <a:prstGeom prst="rect">
            <a:avLst/>
          </a:prstGeom>
          <a:noFill/>
        </p:spPr>
        <p:txBody>
          <a:bodyPr wrap="square">
            <a:spAutoFit/>
          </a:bodyPr>
          <a:lstStyle/>
          <a:p>
            <a:pPr algn="ctr"/>
            <a:r>
              <a:rPr sz="950" b="1" i="0">
                <a:solidFill>
                  <a:srgbClr val="081224"/>
                </a:solidFill>
              </a:rPr>
              <a:t>Geographic &amp; Observation Metadata</a:t>
            </a:r>
          </a:p>
        </p:txBody>
      </p:sp>
      <p:sp>
        <p:nvSpPr>
          <p:cNvPr id="12" name="TextBox 11"/>
          <p:cNvSpPr txBox="1"/>
          <p:nvPr/>
        </p:nvSpPr>
        <p:spPr>
          <a:xfrm>
            <a:off x="347472" y="1618488"/>
            <a:ext cx="2093976" cy="292608"/>
          </a:xfrm>
          <a:prstGeom prst="rect">
            <a:avLst/>
          </a:prstGeom>
          <a:noFill/>
        </p:spPr>
        <p:txBody>
          <a:bodyPr wrap="square">
            <a:spAutoFit/>
          </a:bodyPr>
          <a:lstStyle/>
          <a:p>
            <a:pPr algn="l"/>
            <a:r>
              <a:rPr sz="950" b="0" i="0">
                <a:solidFill>
                  <a:srgbClr val="E8F4F8"/>
                </a:solidFill>
              </a:rPr>
              <a:t>timestamp</a:t>
            </a:r>
          </a:p>
        </p:txBody>
      </p:sp>
      <p:sp>
        <p:nvSpPr>
          <p:cNvPr id="13" name="TextBox 12"/>
          <p:cNvSpPr txBox="1"/>
          <p:nvPr/>
        </p:nvSpPr>
        <p:spPr>
          <a:xfrm>
            <a:off x="347472" y="1920240"/>
            <a:ext cx="2093976" cy="292608"/>
          </a:xfrm>
          <a:prstGeom prst="rect">
            <a:avLst/>
          </a:prstGeom>
          <a:noFill/>
        </p:spPr>
        <p:txBody>
          <a:bodyPr wrap="square">
            <a:spAutoFit/>
          </a:bodyPr>
          <a:lstStyle/>
          <a:p>
            <a:pPr algn="l"/>
            <a:r>
              <a:rPr sz="950" b="0" i="0">
                <a:solidFill>
                  <a:srgbClr val="E8F4F8"/>
                </a:solidFill>
              </a:rPr>
              <a:t>latitude</a:t>
            </a:r>
          </a:p>
        </p:txBody>
      </p:sp>
      <p:sp>
        <p:nvSpPr>
          <p:cNvPr id="14" name="TextBox 13"/>
          <p:cNvSpPr txBox="1"/>
          <p:nvPr/>
        </p:nvSpPr>
        <p:spPr>
          <a:xfrm>
            <a:off x="347472" y="2221992"/>
            <a:ext cx="2093976" cy="292608"/>
          </a:xfrm>
          <a:prstGeom prst="rect">
            <a:avLst/>
          </a:prstGeom>
          <a:noFill/>
        </p:spPr>
        <p:txBody>
          <a:bodyPr wrap="square">
            <a:spAutoFit/>
          </a:bodyPr>
          <a:lstStyle/>
          <a:p>
            <a:pPr algn="l"/>
            <a:r>
              <a:rPr sz="950" b="0" i="0">
                <a:solidFill>
                  <a:srgbClr val="E8F4F8"/>
                </a:solidFill>
              </a:rPr>
              <a:t>longitude</a:t>
            </a:r>
          </a:p>
        </p:txBody>
      </p:sp>
      <p:sp>
        <p:nvSpPr>
          <p:cNvPr id="15" name="TextBox 14"/>
          <p:cNvSpPr txBox="1"/>
          <p:nvPr/>
        </p:nvSpPr>
        <p:spPr>
          <a:xfrm>
            <a:off x="347472" y="2523744"/>
            <a:ext cx="2093976" cy="292608"/>
          </a:xfrm>
          <a:prstGeom prst="rect">
            <a:avLst/>
          </a:prstGeom>
          <a:noFill/>
        </p:spPr>
        <p:txBody>
          <a:bodyPr wrap="square">
            <a:spAutoFit/>
          </a:bodyPr>
          <a:lstStyle/>
          <a:p>
            <a:pPr algn="l"/>
            <a:r>
              <a:rPr sz="950" b="0" i="0">
                <a:solidFill>
                  <a:srgbClr val="E8F4F8"/>
                </a:solidFill>
              </a:rPr>
              <a:t>region</a:t>
            </a:r>
          </a:p>
        </p:txBody>
      </p:sp>
      <p:sp>
        <p:nvSpPr>
          <p:cNvPr id="16" name="Rectangle 15"/>
          <p:cNvSpPr/>
          <p:nvPr/>
        </p:nvSpPr>
        <p:spPr>
          <a:xfrm>
            <a:off x="310896" y="5806440"/>
            <a:ext cx="2130552" cy="402336"/>
          </a:xfrm>
          <a:prstGeom prst="rect">
            <a:avLst/>
          </a:prstGeom>
          <a:solidFill>
            <a:srgbClr val="143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9184" y="5824728"/>
            <a:ext cx="2112264" cy="384048"/>
          </a:xfrm>
          <a:prstGeom prst="rect">
            <a:avLst/>
          </a:prstGeom>
          <a:noFill/>
        </p:spPr>
        <p:txBody>
          <a:bodyPr wrap="square">
            <a:spAutoFit/>
          </a:bodyPr>
          <a:lstStyle/>
          <a:p>
            <a:pPr algn="l"/>
            <a:r>
              <a:rPr sz="819" b="0" i="1">
                <a:solidFill>
                  <a:srgbClr val="8AB4C8"/>
                </a:solidFill>
              </a:rPr>
              <a:t>4 reef regions in Indian waters</a:t>
            </a:r>
          </a:p>
        </p:txBody>
      </p:sp>
      <p:sp>
        <p:nvSpPr>
          <p:cNvPr id="18" name="Rectangle 17"/>
          <p:cNvSpPr/>
          <p:nvPr/>
        </p:nvSpPr>
        <p:spPr>
          <a:xfrm>
            <a:off x="2633472" y="1143000"/>
            <a:ext cx="2377440" cy="5138928"/>
          </a:xfrm>
          <a:prstGeom prst="rect">
            <a:avLst/>
          </a:prstGeom>
          <a:solidFill>
            <a:srgbClr val="122A4A"/>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633472" y="1143000"/>
            <a:ext cx="2377440" cy="3840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88336" y="1161288"/>
            <a:ext cx="2304288" cy="347472"/>
          </a:xfrm>
          <a:prstGeom prst="rect">
            <a:avLst/>
          </a:prstGeom>
          <a:noFill/>
        </p:spPr>
        <p:txBody>
          <a:bodyPr wrap="square">
            <a:spAutoFit/>
          </a:bodyPr>
          <a:lstStyle/>
          <a:p>
            <a:pPr algn="ctr"/>
            <a:r>
              <a:rPr sz="950" b="1" i="0">
                <a:solidFill>
                  <a:srgbClr val="081224"/>
                </a:solidFill>
              </a:rPr>
              <a:t>Sonar-Derived Structural Features</a:t>
            </a:r>
          </a:p>
        </p:txBody>
      </p:sp>
      <p:sp>
        <p:nvSpPr>
          <p:cNvPr id="21" name="TextBox 20"/>
          <p:cNvSpPr txBox="1"/>
          <p:nvPr/>
        </p:nvSpPr>
        <p:spPr>
          <a:xfrm>
            <a:off x="2724912" y="1618488"/>
            <a:ext cx="2231136" cy="292608"/>
          </a:xfrm>
          <a:prstGeom prst="rect">
            <a:avLst/>
          </a:prstGeom>
          <a:noFill/>
        </p:spPr>
        <p:txBody>
          <a:bodyPr wrap="square">
            <a:spAutoFit/>
          </a:bodyPr>
          <a:lstStyle/>
          <a:p>
            <a:pPr algn="l"/>
            <a:r>
              <a:rPr sz="950" b="0" i="0">
                <a:solidFill>
                  <a:srgbClr val="E8F4F8"/>
                </a:solidFill>
              </a:rPr>
              <a:t>sonar_backscatter (dB)</a:t>
            </a:r>
          </a:p>
        </p:txBody>
      </p:sp>
      <p:sp>
        <p:nvSpPr>
          <p:cNvPr id="22" name="TextBox 21"/>
          <p:cNvSpPr txBox="1"/>
          <p:nvPr/>
        </p:nvSpPr>
        <p:spPr>
          <a:xfrm>
            <a:off x="2724912" y="1920240"/>
            <a:ext cx="2231136" cy="292608"/>
          </a:xfrm>
          <a:prstGeom prst="rect">
            <a:avLst/>
          </a:prstGeom>
          <a:noFill/>
        </p:spPr>
        <p:txBody>
          <a:bodyPr wrap="square">
            <a:spAutoFit/>
          </a:bodyPr>
          <a:lstStyle/>
          <a:p>
            <a:pPr algn="l"/>
            <a:r>
              <a:rPr sz="950" b="0" i="0">
                <a:solidFill>
                  <a:srgbClr val="E8F4F8"/>
                </a:solidFill>
              </a:rPr>
              <a:t>rugosity_index</a:t>
            </a:r>
          </a:p>
        </p:txBody>
      </p:sp>
      <p:sp>
        <p:nvSpPr>
          <p:cNvPr id="23" name="TextBox 22"/>
          <p:cNvSpPr txBox="1"/>
          <p:nvPr/>
        </p:nvSpPr>
        <p:spPr>
          <a:xfrm>
            <a:off x="2724912" y="2221992"/>
            <a:ext cx="2231136" cy="292608"/>
          </a:xfrm>
          <a:prstGeom prst="rect">
            <a:avLst/>
          </a:prstGeom>
          <a:noFill/>
        </p:spPr>
        <p:txBody>
          <a:bodyPr wrap="square">
            <a:spAutoFit/>
          </a:bodyPr>
          <a:lstStyle/>
          <a:p>
            <a:pPr algn="l"/>
            <a:r>
              <a:rPr sz="950" b="0" i="0">
                <a:solidFill>
                  <a:srgbClr val="E8F4F8"/>
                </a:solidFill>
              </a:rPr>
              <a:t>hard_substrate_percentage (%)</a:t>
            </a:r>
          </a:p>
        </p:txBody>
      </p:sp>
      <p:sp>
        <p:nvSpPr>
          <p:cNvPr id="24" name="TextBox 23"/>
          <p:cNvSpPr txBox="1"/>
          <p:nvPr/>
        </p:nvSpPr>
        <p:spPr>
          <a:xfrm>
            <a:off x="2724912" y="2523744"/>
            <a:ext cx="2231136" cy="292608"/>
          </a:xfrm>
          <a:prstGeom prst="rect">
            <a:avLst/>
          </a:prstGeom>
          <a:noFill/>
        </p:spPr>
        <p:txBody>
          <a:bodyPr wrap="square">
            <a:spAutoFit/>
          </a:bodyPr>
          <a:lstStyle/>
          <a:p>
            <a:pPr algn="l"/>
            <a:r>
              <a:rPr sz="950" b="0" i="0">
                <a:solidFill>
                  <a:srgbClr val="E8F4F8"/>
                </a:solidFill>
              </a:rPr>
              <a:t>acoustic_complexity_index</a:t>
            </a:r>
          </a:p>
        </p:txBody>
      </p:sp>
      <p:sp>
        <p:nvSpPr>
          <p:cNvPr id="25" name="Rectangle 24"/>
          <p:cNvSpPr/>
          <p:nvPr/>
        </p:nvSpPr>
        <p:spPr>
          <a:xfrm>
            <a:off x="2688336" y="5806440"/>
            <a:ext cx="2267712" cy="402336"/>
          </a:xfrm>
          <a:prstGeom prst="rect">
            <a:avLst/>
          </a:prstGeom>
          <a:solidFill>
            <a:srgbClr val="143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06624" y="5824728"/>
            <a:ext cx="2249424" cy="384048"/>
          </a:xfrm>
          <a:prstGeom prst="rect">
            <a:avLst/>
          </a:prstGeom>
          <a:noFill/>
        </p:spPr>
        <p:txBody>
          <a:bodyPr wrap="square">
            <a:spAutoFit/>
          </a:bodyPr>
          <a:lstStyle/>
          <a:p>
            <a:pPr algn="l"/>
            <a:r>
              <a:rPr sz="819" b="0" i="1">
                <a:solidFill>
                  <a:srgbClr val="00B4D8"/>
                </a:solidFill>
              </a:rPr>
              <a:t>Sonar measures structure — NOT bleaching or coral cover</a:t>
            </a:r>
          </a:p>
        </p:txBody>
      </p:sp>
      <p:sp>
        <p:nvSpPr>
          <p:cNvPr id="27" name="Rectangle 26"/>
          <p:cNvSpPr/>
          <p:nvPr/>
        </p:nvSpPr>
        <p:spPr>
          <a:xfrm>
            <a:off x="5138928" y="1143000"/>
            <a:ext cx="2468880" cy="5138928"/>
          </a:xfrm>
          <a:prstGeom prst="rect">
            <a:avLst/>
          </a:prstGeom>
          <a:solidFill>
            <a:srgbClr val="122A4A"/>
          </a:solidFill>
          <a:ln w="15240">
            <a:solidFill>
              <a:srgbClr val="1B8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138928" y="1143000"/>
            <a:ext cx="2468880" cy="384048"/>
          </a:xfrm>
          <a:prstGeom prst="rect">
            <a:avLst/>
          </a:prstGeom>
          <a:solidFill>
            <a:srgbClr val="1B8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93792" y="1161288"/>
            <a:ext cx="2395728" cy="347472"/>
          </a:xfrm>
          <a:prstGeom prst="rect">
            <a:avLst/>
          </a:prstGeom>
          <a:noFill/>
        </p:spPr>
        <p:txBody>
          <a:bodyPr wrap="square">
            <a:spAutoFit/>
          </a:bodyPr>
          <a:lstStyle/>
          <a:p>
            <a:pPr algn="ctr"/>
            <a:r>
              <a:rPr sz="950" b="1" i="0">
                <a:solidFill>
                  <a:srgbClr val="081224"/>
                </a:solidFill>
              </a:rPr>
              <a:t>Environmental Sensor Features</a:t>
            </a:r>
          </a:p>
        </p:txBody>
      </p:sp>
      <p:sp>
        <p:nvSpPr>
          <p:cNvPr id="30" name="TextBox 29"/>
          <p:cNvSpPr txBox="1"/>
          <p:nvPr/>
        </p:nvSpPr>
        <p:spPr>
          <a:xfrm>
            <a:off x="5230368" y="1618488"/>
            <a:ext cx="2322576" cy="292608"/>
          </a:xfrm>
          <a:prstGeom prst="rect">
            <a:avLst/>
          </a:prstGeom>
          <a:noFill/>
        </p:spPr>
        <p:txBody>
          <a:bodyPr wrap="square">
            <a:spAutoFit/>
          </a:bodyPr>
          <a:lstStyle/>
          <a:p>
            <a:pPr algn="l"/>
            <a:r>
              <a:rPr sz="950" b="0" i="0">
                <a:solidFill>
                  <a:srgbClr val="E8F4F8"/>
                </a:solidFill>
              </a:rPr>
              <a:t>water_temperature_c</a:t>
            </a:r>
          </a:p>
        </p:txBody>
      </p:sp>
      <p:sp>
        <p:nvSpPr>
          <p:cNvPr id="31" name="TextBox 30"/>
          <p:cNvSpPr txBox="1"/>
          <p:nvPr/>
        </p:nvSpPr>
        <p:spPr>
          <a:xfrm>
            <a:off x="5230368" y="1920240"/>
            <a:ext cx="2322576" cy="292608"/>
          </a:xfrm>
          <a:prstGeom prst="rect">
            <a:avLst/>
          </a:prstGeom>
          <a:noFill/>
        </p:spPr>
        <p:txBody>
          <a:bodyPr wrap="square">
            <a:spAutoFit/>
          </a:bodyPr>
          <a:lstStyle/>
          <a:p>
            <a:pPr algn="l"/>
            <a:r>
              <a:rPr sz="950" b="0" i="0">
                <a:solidFill>
                  <a:srgbClr val="E8F4F8"/>
                </a:solidFill>
              </a:rPr>
              <a:t>ph</a:t>
            </a:r>
          </a:p>
        </p:txBody>
      </p:sp>
      <p:sp>
        <p:nvSpPr>
          <p:cNvPr id="32" name="TextBox 31"/>
          <p:cNvSpPr txBox="1"/>
          <p:nvPr/>
        </p:nvSpPr>
        <p:spPr>
          <a:xfrm>
            <a:off x="5230368" y="2221992"/>
            <a:ext cx="2322576" cy="292608"/>
          </a:xfrm>
          <a:prstGeom prst="rect">
            <a:avLst/>
          </a:prstGeom>
          <a:noFill/>
        </p:spPr>
        <p:txBody>
          <a:bodyPr wrap="square">
            <a:spAutoFit/>
          </a:bodyPr>
          <a:lstStyle/>
          <a:p>
            <a:pPr algn="l"/>
            <a:r>
              <a:rPr sz="950" b="0" i="0">
                <a:solidFill>
                  <a:srgbClr val="E8F4F8"/>
                </a:solidFill>
              </a:rPr>
              <a:t>salinity_ppt</a:t>
            </a:r>
          </a:p>
        </p:txBody>
      </p:sp>
      <p:sp>
        <p:nvSpPr>
          <p:cNvPr id="33" name="TextBox 32"/>
          <p:cNvSpPr txBox="1"/>
          <p:nvPr/>
        </p:nvSpPr>
        <p:spPr>
          <a:xfrm>
            <a:off x="5230368" y="2523744"/>
            <a:ext cx="2322576" cy="292608"/>
          </a:xfrm>
          <a:prstGeom prst="rect">
            <a:avLst/>
          </a:prstGeom>
          <a:noFill/>
        </p:spPr>
        <p:txBody>
          <a:bodyPr wrap="square">
            <a:spAutoFit/>
          </a:bodyPr>
          <a:lstStyle/>
          <a:p>
            <a:pPr algn="l"/>
            <a:r>
              <a:rPr sz="950" b="0" i="0">
                <a:solidFill>
                  <a:srgbClr val="E8F4F8"/>
                </a:solidFill>
              </a:rPr>
              <a:t>dissolved_oxygen_mg_l</a:t>
            </a:r>
          </a:p>
        </p:txBody>
      </p:sp>
      <p:sp>
        <p:nvSpPr>
          <p:cNvPr id="34" name="TextBox 33"/>
          <p:cNvSpPr txBox="1"/>
          <p:nvPr/>
        </p:nvSpPr>
        <p:spPr>
          <a:xfrm>
            <a:off x="5230368" y="2825496"/>
            <a:ext cx="2322576" cy="292608"/>
          </a:xfrm>
          <a:prstGeom prst="rect">
            <a:avLst/>
          </a:prstGeom>
          <a:noFill/>
        </p:spPr>
        <p:txBody>
          <a:bodyPr wrap="square">
            <a:spAutoFit/>
          </a:bodyPr>
          <a:lstStyle/>
          <a:p>
            <a:pPr algn="l"/>
            <a:r>
              <a:rPr sz="950" b="0" i="0">
                <a:solidFill>
                  <a:srgbClr val="E8F4F8"/>
                </a:solidFill>
              </a:rPr>
              <a:t>turbidity_ntu</a:t>
            </a:r>
          </a:p>
        </p:txBody>
      </p:sp>
      <p:sp>
        <p:nvSpPr>
          <p:cNvPr id="35" name="TextBox 34"/>
          <p:cNvSpPr txBox="1"/>
          <p:nvPr/>
        </p:nvSpPr>
        <p:spPr>
          <a:xfrm>
            <a:off x="5230368" y="3127248"/>
            <a:ext cx="2322576" cy="292608"/>
          </a:xfrm>
          <a:prstGeom prst="rect">
            <a:avLst/>
          </a:prstGeom>
          <a:noFill/>
        </p:spPr>
        <p:txBody>
          <a:bodyPr wrap="square">
            <a:spAutoFit/>
          </a:bodyPr>
          <a:lstStyle/>
          <a:p>
            <a:pPr algn="l"/>
            <a:r>
              <a:rPr sz="950" b="0" i="0">
                <a:solidFill>
                  <a:srgbClr val="E8F4F8"/>
                </a:solidFill>
              </a:rPr>
              <a:t>light_intensity (PAR)</a:t>
            </a:r>
          </a:p>
        </p:txBody>
      </p:sp>
      <p:sp>
        <p:nvSpPr>
          <p:cNvPr id="36" name="TextBox 35"/>
          <p:cNvSpPr txBox="1"/>
          <p:nvPr/>
        </p:nvSpPr>
        <p:spPr>
          <a:xfrm>
            <a:off x="5230368" y="3429000"/>
            <a:ext cx="2322576" cy="292608"/>
          </a:xfrm>
          <a:prstGeom prst="rect">
            <a:avLst/>
          </a:prstGeom>
          <a:noFill/>
        </p:spPr>
        <p:txBody>
          <a:bodyPr wrap="square">
            <a:spAutoFit/>
          </a:bodyPr>
          <a:lstStyle/>
          <a:p>
            <a:pPr algn="l"/>
            <a:r>
              <a:rPr sz="950" b="0" i="0">
                <a:solidFill>
                  <a:srgbClr val="E8F4F8"/>
                </a:solidFill>
              </a:rPr>
              <a:t>current_speed_m_s</a:t>
            </a:r>
          </a:p>
        </p:txBody>
      </p:sp>
      <p:sp>
        <p:nvSpPr>
          <p:cNvPr id="37" name="TextBox 36"/>
          <p:cNvSpPr txBox="1"/>
          <p:nvPr/>
        </p:nvSpPr>
        <p:spPr>
          <a:xfrm>
            <a:off x="5230368" y="3730752"/>
            <a:ext cx="2322576" cy="292608"/>
          </a:xfrm>
          <a:prstGeom prst="rect">
            <a:avLst/>
          </a:prstGeom>
          <a:noFill/>
        </p:spPr>
        <p:txBody>
          <a:bodyPr wrap="square">
            <a:spAutoFit/>
          </a:bodyPr>
          <a:lstStyle/>
          <a:p>
            <a:pPr algn="l"/>
            <a:r>
              <a:rPr sz="950" b="0" i="0">
                <a:solidFill>
                  <a:srgbClr val="E8F4F8"/>
                </a:solidFill>
              </a:rPr>
              <a:t>depth_m</a:t>
            </a:r>
          </a:p>
        </p:txBody>
      </p:sp>
      <p:sp>
        <p:nvSpPr>
          <p:cNvPr id="38" name="Rectangle 37"/>
          <p:cNvSpPr/>
          <p:nvPr/>
        </p:nvSpPr>
        <p:spPr>
          <a:xfrm>
            <a:off x="5193792" y="5806440"/>
            <a:ext cx="2359152" cy="402336"/>
          </a:xfrm>
          <a:prstGeom prst="rect">
            <a:avLst/>
          </a:prstGeom>
          <a:solidFill>
            <a:srgbClr val="143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212080" y="5824728"/>
            <a:ext cx="2340864" cy="384048"/>
          </a:xfrm>
          <a:prstGeom prst="rect">
            <a:avLst/>
          </a:prstGeom>
          <a:noFill/>
        </p:spPr>
        <p:txBody>
          <a:bodyPr wrap="square">
            <a:spAutoFit/>
          </a:bodyPr>
          <a:lstStyle/>
          <a:p>
            <a:pPr algn="l"/>
            <a:r>
              <a:rPr sz="819" b="0" i="1">
                <a:solidFill>
                  <a:srgbClr val="1B8A8F"/>
                </a:solidFill>
              </a:rPr>
              <a:t>Physical oceanographic conditions</a:t>
            </a:r>
          </a:p>
        </p:txBody>
      </p:sp>
      <p:sp>
        <p:nvSpPr>
          <p:cNvPr id="40" name="Rectangle 39"/>
          <p:cNvSpPr/>
          <p:nvPr/>
        </p:nvSpPr>
        <p:spPr>
          <a:xfrm>
            <a:off x="7726679" y="1143000"/>
            <a:ext cx="2423160" cy="5138928"/>
          </a:xfrm>
          <a:prstGeom prst="rect">
            <a:avLst/>
          </a:prstGeom>
          <a:solidFill>
            <a:srgbClr val="122A4A"/>
          </a:solidFill>
          <a:ln w="15240">
            <a:solidFill>
              <a:srgbClr val="2EC4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26679" y="1143000"/>
            <a:ext cx="2423160" cy="384048"/>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81544" y="1161288"/>
            <a:ext cx="2350008" cy="347472"/>
          </a:xfrm>
          <a:prstGeom prst="rect">
            <a:avLst/>
          </a:prstGeom>
          <a:noFill/>
        </p:spPr>
        <p:txBody>
          <a:bodyPr wrap="square">
            <a:spAutoFit/>
          </a:bodyPr>
          <a:lstStyle/>
          <a:p>
            <a:pPr algn="ctr"/>
            <a:r>
              <a:rPr sz="950" b="1" i="0">
                <a:solidFill>
                  <a:srgbClr val="081224"/>
                </a:solidFill>
              </a:rPr>
              <a:t>Reef-Condition Observations</a:t>
            </a:r>
          </a:p>
        </p:txBody>
      </p:sp>
      <p:sp>
        <p:nvSpPr>
          <p:cNvPr id="43" name="TextBox 42"/>
          <p:cNvSpPr txBox="1"/>
          <p:nvPr/>
        </p:nvSpPr>
        <p:spPr>
          <a:xfrm>
            <a:off x="7818119" y="1618488"/>
            <a:ext cx="2276856" cy="292608"/>
          </a:xfrm>
          <a:prstGeom prst="rect">
            <a:avLst/>
          </a:prstGeom>
          <a:noFill/>
        </p:spPr>
        <p:txBody>
          <a:bodyPr wrap="square">
            <a:spAutoFit/>
          </a:bodyPr>
          <a:lstStyle/>
          <a:p>
            <a:pPr algn="l"/>
            <a:r>
              <a:rPr sz="950" b="0" i="0">
                <a:solidFill>
                  <a:srgbClr val="E8F4F8"/>
                </a:solidFill>
              </a:rPr>
              <a:t>coral_cover_percentage (%)</a:t>
            </a:r>
          </a:p>
        </p:txBody>
      </p:sp>
      <p:sp>
        <p:nvSpPr>
          <p:cNvPr id="44" name="TextBox 43"/>
          <p:cNvSpPr txBox="1"/>
          <p:nvPr/>
        </p:nvSpPr>
        <p:spPr>
          <a:xfrm>
            <a:off x="7818119" y="1920240"/>
            <a:ext cx="2276856" cy="292608"/>
          </a:xfrm>
          <a:prstGeom prst="rect">
            <a:avLst/>
          </a:prstGeom>
          <a:noFill/>
        </p:spPr>
        <p:txBody>
          <a:bodyPr wrap="square">
            <a:spAutoFit/>
          </a:bodyPr>
          <a:lstStyle/>
          <a:p>
            <a:pPr algn="l"/>
            <a:r>
              <a:rPr sz="950" b="0" i="0">
                <a:solidFill>
                  <a:srgbClr val="E8F4F8"/>
                </a:solidFill>
              </a:rPr>
              <a:t>bleaching_percentage (%)</a:t>
            </a:r>
          </a:p>
        </p:txBody>
      </p:sp>
      <p:sp>
        <p:nvSpPr>
          <p:cNvPr id="45" name="TextBox 44"/>
          <p:cNvSpPr txBox="1"/>
          <p:nvPr/>
        </p:nvSpPr>
        <p:spPr>
          <a:xfrm>
            <a:off x="7818119" y="2221992"/>
            <a:ext cx="2276856" cy="292608"/>
          </a:xfrm>
          <a:prstGeom prst="rect">
            <a:avLst/>
          </a:prstGeom>
          <a:noFill/>
        </p:spPr>
        <p:txBody>
          <a:bodyPr wrap="square">
            <a:spAutoFit/>
          </a:bodyPr>
          <a:lstStyle/>
          <a:p>
            <a:pPr algn="l"/>
            <a:r>
              <a:rPr sz="950" b="0" i="0">
                <a:solidFill>
                  <a:srgbClr val="E8F4F8"/>
                </a:solidFill>
              </a:rPr>
              <a:t>disease_percentage (%)</a:t>
            </a:r>
          </a:p>
        </p:txBody>
      </p:sp>
      <p:sp>
        <p:nvSpPr>
          <p:cNvPr id="46" name="Rectangle 45"/>
          <p:cNvSpPr/>
          <p:nvPr/>
        </p:nvSpPr>
        <p:spPr>
          <a:xfrm>
            <a:off x="7781544" y="5806440"/>
            <a:ext cx="2313432" cy="402336"/>
          </a:xfrm>
          <a:prstGeom prst="rect">
            <a:avLst/>
          </a:prstGeom>
          <a:solidFill>
            <a:srgbClr val="143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799831" y="5824728"/>
            <a:ext cx="2295144" cy="384048"/>
          </a:xfrm>
          <a:prstGeom prst="rect">
            <a:avLst/>
          </a:prstGeom>
          <a:noFill/>
        </p:spPr>
        <p:txBody>
          <a:bodyPr wrap="square">
            <a:spAutoFit/>
          </a:bodyPr>
          <a:lstStyle/>
          <a:p>
            <a:pPr algn="l"/>
            <a:r>
              <a:rPr sz="819" b="0" i="1">
                <a:solidFill>
                  <a:srgbClr val="2EC4B6"/>
                </a:solidFill>
              </a:rPr>
              <a:t>Biological survey observations</a:t>
            </a:r>
          </a:p>
        </p:txBody>
      </p:sp>
      <p:sp>
        <p:nvSpPr>
          <p:cNvPr id="48" name="Rectangle 47"/>
          <p:cNvSpPr/>
          <p:nvPr/>
        </p:nvSpPr>
        <p:spPr>
          <a:xfrm>
            <a:off x="10259568" y="1143000"/>
            <a:ext cx="1719072" cy="5138928"/>
          </a:xfrm>
          <a:prstGeom prst="rect">
            <a:avLst/>
          </a:prstGeom>
          <a:solidFill>
            <a:srgbClr val="122A4A"/>
          </a:solidFill>
          <a:ln w="1524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0259568" y="1143000"/>
            <a:ext cx="1719072" cy="38404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314432" y="1161288"/>
            <a:ext cx="1645919" cy="347472"/>
          </a:xfrm>
          <a:prstGeom prst="rect">
            <a:avLst/>
          </a:prstGeom>
          <a:noFill/>
        </p:spPr>
        <p:txBody>
          <a:bodyPr wrap="square">
            <a:spAutoFit/>
          </a:bodyPr>
          <a:lstStyle/>
          <a:p>
            <a:pPr algn="ctr"/>
            <a:r>
              <a:rPr sz="950" b="1" i="0">
                <a:solidFill>
                  <a:srgbClr val="081224"/>
                </a:solidFill>
              </a:rPr>
              <a:t>Target Labels</a:t>
            </a:r>
          </a:p>
        </p:txBody>
      </p:sp>
      <p:sp>
        <p:nvSpPr>
          <p:cNvPr id="51" name="TextBox 50"/>
          <p:cNvSpPr txBox="1"/>
          <p:nvPr/>
        </p:nvSpPr>
        <p:spPr>
          <a:xfrm>
            <a:off x="10351008" y="1618488"/>
            <a:ext cx="1572768" cy="292608"/>
          </a:xfrm>
          <a:prstGeom prst="rect">
            <a:avLst/>
          </a:prstGeom>
          <a:noFill/>
        </p:spPr>
        <p:txBody>
          <a:bodyPr wrap="square">
            <a:spAutoFit/>
          </a:bodyPr>
          <a:lstStyle/>
          <a:p>
            <a:pPr algn="l"/>
            <a:r>
              <a:rPr sz="950" b="0" i="0">
                <a:solidFill>
                  <a:srgbClr val="E8F4F8"/>
                </a:solidFill>
              </a:rPr>
              <a:t>reef_health (4 classes)</a:t>
            </a:r>
          </a:p>
        </p:txBody>
      </p:sp>
      <p:sp>
        <p:nvSpPr>
          <p:cNvPr id="52" name="TextBox 51"/>
          <p:cNvSpPr txBox="1"/>
          <p:nvPr/>
        </p:nvSpPr>
        <p:spPr>
          <a:xfrm>
            <a:off x="10351008" y="1920240"/>
            <a:ext cx="1572768" cy="292608"/>
          </a:xfrm>
          <a:prstGeom prst="rect">
            <a:avLst/>
          </a:prstGeom>
          <a:noFill/>
        </p:spPr>
        <p:txBody>
          <a:bodyPr wrap="square">
            <a:spAutoFit/>
          </a:bodyPr>
          <a:lstStyle/>
          <a:p>
            <a:pPr algn="l"/>
            <a:r>
              <a:rPr sz="950" b="0" i="0">
                <a:solidFill>
                  <a:srgbClr val="E8F4F8"/>
                </a:solidFill>
              </a:rPr>
              <a:t>restoration_suitability (3 classes)</a:t>
            </a:r>
          </a:p>
        </p:txBody>
      </p:sp>
      <p:sp>
        <p:nvSpPr>
          <p:cNvPr id="53" name="Rectangle 52"/>
          <p:cNvSpPr/>
          <p:nvPr/>
        </p:nvSpPr>
        <p:spPr>
          <a:xfrm>
            <a:off x="10314432" y="5806440"/>
            <a:ext cx="1609343" cy="402336"/>
          </a:xfrm>
          <a:prstGeom prst="rect">
            <a:avLst/>
          </a:prstGeom>
          <a:solidFill>
            <a:srgbClr val="143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332720" y="5824728"/>
            <a:ext cx="1591055" cy="384048"/>
          </a:xfrm>
          <a:prstGeom prst="rect">
            <a:avLst/>
          </a:prstGeom>
          <a:noFill/>
        </p:spPr>
        <p:txBody>
          <a:bodyPr wrap="square">
            <a:spAutoFit/>
          </a:bodyPr>
          <a:lstStyle/>
          <a:p>
            <a:pPr algn="l"/>
            <a:r>
              <a:rPr sz="819" b="0" i="1">
                <a:solidFill>
                  <a:srgbClr val="FF6B35"/>
                </a:solidFill>
              </a:rPr>
              <a:t>Supervised learning targets</a:t>
            </a:r>
          </a:p>
        </p:txBody>
      </p:sp>
      <p:sp>
        <p:nvSpPr>
          <p:cNvPr id="55" name="Rectangle 54"/>
          <p:cNvSpPr/>
          <p:nvPr/>
        </p:nvSpPr>
        <p:spPr>
          <a:xfrm>
            <a:off x="256032" y="6355080"/>
            <a:ext cx="11722608" cy="320040"/>
          </a:xfrm>
          <a:prstGeom prst="rect">
            <a:avLst/>
          </a:prstGeom>
          <a:solidFill>
            <a:srgbClr val="2A0A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20040" y="6364224"/>
            <a:ext cx="11612880" cy="292608"/>
          </a:xfrm>
          <a:prstGeom prst="rect">
            <a:avLst/>
          </a:prstGeom>
          <a:noFill/>
        </p:spPr>
        <p:txBody>
          <a:bodyPr wrap="square">
            <a:spAutoFit/>
          </a:bodyPr>
          <a:lstStyle/>
          <a:p>
            <a:pPr algn="l"/>
            <a:r>
              <a:rPr sz="950" b="0" i="1">
                <a:solidFill>
                  <a:srgbClr val="FF6B35"/>
                </a:solidFill>
              </a:rPr>
              <a:t>Scientific limit: Sonar measures habitat structure (depth, backscatter, rugosity). It does NOT directly measure coral bleaching, coral cover, or water chemistry.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1224"/>
        </a:solidFill>
        <a:effectLst/>
      </p:bgPr>
    </p:bg>
    <p:spTree>
      <p:nvGrpSpPr>
        <p:cNvPr id="1" name=""/>
        <p:cNvGrpSpPr/>
        <p:nvPr/>
      </p:nvGrpSpPr>
      <p:grpSpPr/>
      <p:sp>
        <p:nvSpPr>
          <p:cNvPr id="2" name="Rectangle 1"/>
          <p:cNvSpPr/>
          <p:nvPr/>
        </p:nvSpPr>
        <p:spPr>
          <a:xfrm>
            <a:off x="0" y="0"/>
            <a:ext cx="12188952" cy="1024128"/>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37160"/>
            <a:ext cx="11430000" cy="594360"/>
          </a:xfrm>
          <a:prstGeom prst="rect">
            <a:avLst/>
          </a:prstGeom>
          <a:noFill/>
        </p:spPr>
        <p:txBody>
          <a:bodyPr wrap="square">
            <a:spAutoFit/>
          </a:bodyPr>
          <a:lstStyle/>
          <a:p>
            <a:pPr algn="l"/>
            <a:r>
              <a:rPr sz="2400" b="1" i="0">
                <a:solidFill>
                  <a:srgbClr val="00B4D8"/>
                </a:solidFill>
              </a:rPr>
              <a:t>Dataset Description</a:t>
            </a:r>
          </a:p>
        </p:txBody>
      </p:sp>
      <p:sp>
        <p:nvSpPr>
          <p:cNvPr id="4" name="TextBox 3"/>
          <p:cNvSpPr txBox="1"/>
          <p:nvPr/>
        </p:nvSpPr>
        <p:spPr>
          <a:xfrm>
            <a:off x="320040" y="658368"/>
            <a:ext cx="11430000" cy="320040"/>
          </a:xfrm>
          <a:prstGeom prst="rect">
            <a:avLst/>
          </a:prstGeom>
          <a:noFill/>
        </p:spPr>
        <p:txBody>
          <a:bodyPr wrap="square">
            <a:spAutoFit/>
          </a:bodyPr>
          <a:lstStyle/>
          <a:p>
            <a:pPr algn="l"/>
            <a:r>
              <a:rPr sz="1200" b="0" i="0">
                <a:solidFill>
                  <a:srgbClr val="8AB4C8"/>
                </a:solidFill>
              </a:rPr>
              <a:t>15,000 synthetic observations — confirmed from data/raw/observations.csv</a:t>
            </a:r>
          </a:p>
        </p:txBody>
      </p:sp>
      <p:sp>
        <p:nvSpPr>
          <p:cNvPr id="5" name="Rectangle 4"/>
          <p:cNvSpPr/>
          <p:nvPr/>
        </p:nvSpPr>
        <p:spPr>
          <a:xfrm>
            <a:off x="0" y="1024128"/>
            <a:ext cx="12188952" cy="27432"/>
          </a:xfrm>
          <a:prstGeom prst="rect">
            <a:avLst/>
          </a:prstGeom>
          <a:solidFill>
            <a:srgbClr val="1B8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65392"/>
            <a:ext cx="12188952" cy="36576"/>
          </a:xfrm>
          <a:prstGeom prst="rect">
            <a:avLst/>
          </a:prstGeom>
          <a:solidFill>
            <a:srgbClr val="1B8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01968"/>
            <a:ext cx="8229600" cy="228600"/>
          </a:xfrm>
          <a:prstGeom prst="rect">
            <a:avLst/>
          </a:prstGeom>
          <a:noFill/>
        </p:spPr>
        <p:txBody>
          <a:bodyPr wrap="square">
            <a:spAutoFit/>
          </a:bodyPr>
          <a:lstStyle/>
          <a:p>
            <a:pPr algn="l"/>
            <a:r>
              <a:rPr sz="900" b="0" i="0">
                <a:solidFill>
                  <a:srgbClr val="8AB4C8"/>
                </a:solidFill>
              </a:rPr>
              <a:t>Oceanographic Reef Prediction Framework</a:t>
            </a:r>
          </a:p>
        </p:txBody>
      </p:sp>
      <p:sp>
        <p:nvSpPr>
          <p:cNvPr id="8" name="TextBox 7"/>
          <p:cNvSpPr txBox="1"/>
          <p:nvPr/>
        </p:nvSpPr>
        <p:spPr>
          <a:xfrm>
            <a:off x="11247120" y="6601968"/>
            <a:ext cx="731520" cy="228600"/>
          </a:xfrm>
          <a:prstGeom prst="rect">
            <a:avLst/>
          </a:prstGeom>
          <a:noFill/>
        </p:spPr>
        <p:txBody>
          <a:bodyPr wrap="square">
            <a:spAutoFit/>
          </a:bodyPr>
          <a:lstStyle/>
          <a:p>
            <a:pPr algn="r"/>
            <a:r>
              <a:rPr sz="900" b="0" i="0">
                <a:solidFill>
                  <a:srgbClr val="8AB4C8"/>
                </a:solidFill>
              </a:rPr>
              <a:t>5</a:t>
            </a:r>
          </a:p>
        </p:txBody>
      </p:sp>
      <p:sp>
        <p:nvSpPr>
          <p:cNvPr id="9" name="Rectangle 8"/>
          <p:cNvSpPr/>
          <p:nvPr/>
        </p:nvSpPr>
        <p:spPr>
          <a:xfrm>
            <a:off x="274320" y="1170432"/>
            <a:ext cx="3840480" cy="5166360"/>
          </a:xfrm>
          <a:prstGeom prst="rect">
            <a:avLst/>
          </a:prstGeom>
          <a:solidFill>
            <a:srgbClr val="122A4A"/>
          </a:solidFill>
          <a:ln w="10160">
            <a:solidFill>
              <a:srgbClr val="1B8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243584"/>
            <a:ext cx="3474720" cy="347472"/>
          </a:xfrm>
          <a:prstGeom prst="rect">
            <a:avLst/>
          </a:prstGeom>
          <a:noFill/>
        </p:spPr>
        <p:txBody>
          <a:bodyPr wrap="square">
            <a:spAutoFit/>
          </a:bodyPr>
          <a:lstStyle/>
          <a:p>
            <a:pPr algn="l"/>
            <a:r>
              <a:rPr sz="1300" b="1" i="0">
                <a:solidFill>
                  <a:srgbClr val="00B4D8"/>
                </a:solidFill>
              </a:rPr>
              <a:t>Dataset Statistics</a:t>
            </a:r>
          </a:p>
        </p:txBody>
      </p:sp>
      <p:sp>
        <p:nvSpPr>
          <p:cNvPr id="11" name="TextBox 10"/>
          <p:cNvSpPr txBox="1"/>
          <p:nvPr/>
        </p:nvSpPr>
        <p:spPr>
          <a:xfrm>
            <a:off x="411480" y="1673352"/>
            <a:ext cx="1828800" cy="246888"/>
          </a:xfrm>
          <a:prstGeom prst="rect">
            <a:avLst/>
          </a:prstGeom>
          <a:noFill/>
        </p:spPr>
        <p:txBody>
          <a:bodyPr wrap="square">
            <a:spAutoFit/>
          </a:bodyPr>
          <a:lstStyle/>
          <a:p>
            <a:pPr algn="l"/>
            <a:r>
              <a:rPr sz="950" b="0" i="0">
                <a:solidFill>
                  <a:srgbClr val="8AB4C8"/>
                </a:solidFill>
              </a:rPr>
              <a:t>Total observations</a:t>
            </a:r>
          </a:p>
        </p:txBody>
      </p:sp>
      <p:sp>
        <p:nvSpPr>
          <p:cNvPr id="12" name="TextBox 11"/>
          <p:cNvSpPr txBox="1"/>
          <p:nvPr/>
        </p:nvSpPr>
        <p:spPr>
          <a:xfrm>
            <a:off x="2286000" y="1673352"/>
            <a:ext cx="1737360" cy="246888"/>
          </a:xfrm>
          <a:prstGeom prst="rect">
            <a:avLst/>
          </a:prstGeom>
          <a:noFill/>
        </p:spPr>
        <p:txBody>
          <a:bodyPr wrap="square">
            <a:spAutoFit/>
          </a:bodyPr>
          <a:lstStyle/>
          <a:p>
            <a:pPr algn="l"/>
            <a:r>
              <a:rPr sz="950" b="1" i="0">
                <a:solidFill>
                  <a:srgbClr val="E8F4F8"/>
                </a:solidFill>
              </a:rPr>
              <a:t>15,000</a:t>
            </a:r>
          </a:p>
        </p:txBody>
      </p:sp>
      <p:sp>
        <p:nvSpPr>
          <p:cNvPr id="13" name="TextBox 12"/>
          <p:cNvSpPr txBox="1"/>
          <p:nvPr/>
        </p:nvSpPr>
        <p:spPr>
          <a:xfrm>
            <a:off x="411480" y="1938528"/>
            <a:ext cx="1828800" cy="246888"/>
          </a:xfrm>
          <a:prstGeom prst="rect">
            <a:avLst/>
          </a:prstGeom>
          <a:noFill/>
        </p:spPr>
        <p:txBody>
          <a:bodyPr wrap="square">
            <a:spAutoFit/>
          </a:bodyPr>
          <a:lstStyle/>
          <a:p>
            <a:pPr algn="l"/>
            <a:r>
              <a:rPr sz="950" b="0" i="0">
                <a:solidFill>
                  <a:srgbClr val="8AB4C8"/>
                </a:solidFill>
              </a:rPr>
              <a:t>CSV columns</a:t>
            </a:r>
          </a:p>
        </p:txBody>
      </p:sp>
      <p:sp>
        <p:nvSpPr>
          <p:cNvPr id="14" name="TextBox 13"/>
          <p:cNvSpPr txBox="1"/>
          <p:nvPr/>
        </p:nvSpPr>
        <p:spPr>
          <a:xfrm>
            <a:off x="2286000" y="1938528"/>
            <a:ext cx="1737360" cy="246888"/>
          </a:xfrm>
          <a:prstGeom prst="rect">
            <a:avLst/>
          </a:prstGeom>
          <a:noFill/>
        </p:spPr>
        <p:txBody>
          <a:bodyPr wrap="square">
            <a:spAutoFit/>
          </a:bodyPr>
          <a:lstStyle/>
          <a:p>
            <a:pPr algn="l"/>
            <a:r>
              <a:rPr sz="950" b="1" i="0">
                <a:solidFill>
                  <a:srgbClr val="E8F4F8"/>
                </a:solidFill>
              </a:rPr>
              <a:t>21</a:t>
            </a:r>
          </a:p>
        </p:txBody>
      </p:sp>
      <p:sp>
        <p:nvSpPr>
          <p:cNvPr id="15" name="TextBox 14"/>
          <p:cNvSpPr txBox="1"/>
          <p:nvPr/>
        </p:nvSpPr>
        <p:spPr>
          <a:xfrm>
            <a:off x="411480" y="2203704"/>
            <a:ext cx="1828800" cy="246888"/>
          </a:xfrm>
          <a:prstGeom prst="rect">
            <a:avLst/>
          </a:prstGeom>
          <a:noFill/>
        </p:spPr>
        <p:txBody>
          <a:bodyPr wrap="square">
            <a:spAutoFit/>
          </a:bodyPr>
          <a:lstStyle/>
          <a:p>
            <a:pPr algn="l"/>
            <a:r>
              <a:rPr sz="950" b="0" i="0">
                <a:solidFill>
                  <a:srgbClr val="8AB4C8"/>
                </a:solidFill>
              </a:rPr>
              <a:t>Training rows (80%)</a:t>
            </a:r>
          </a:p>
        </p:txBody>
      </p:sp>
      <p:sp>
        <p:nvSpPr>
          <p:cNvPr id="16" name="TextBox 15"/>
          <p:cNvSpPr txBox="1"/>
          <p:nvPr/>
        </p:nvSpPr>
        <p:spPr>
          <a:xfrm>
            <a:off x="2286000" y="2203704"/>
            <a:ext cx="1737360" cy="246888"/>
          </a:xfrm>
          <a:prstGeom prst="rect">
            <a:avLst/>
          </a:prstGeom>
          <a:noFill/>
        </p:spPr>
        <p:txBody>
          <a:bodyPr wrap="square">
            <a:spAutoFit/>
          </a:bodyPr>
          <a:lstStyle/>
          <a:p>
            <a:pPr algn="l"/>
            <a:r>
              <a:rPr sz="950" b="1" i="0">
                <a:solidFill>
                  <a:srgbClr val="E8F4F8"/>
                </a:solidFill>
              </a:rPr>
              <a:t>12,000</a:t>
            </a:r>
          </a:p>
        </p:txBody>
      </p:sp>
      <p:sp>
        <p:nvSpPr>
          <p:cNvPr id="17" name="TextBox 16"/>
          <p:cNvSpPr txBox="1"/>
          <p:nvPr/>
        </p:nvSpPr>
        <p:spPr>
          <a:xfrm>
            <a:off x="411480" y="2468880"/>
            <a:ext cx="1828800" cy="246888"/>
          </a:xfrm>
          <a:prstGeom prst="rect">
            <a:avLst/>
          </a:prstGeom>
          <a:noFill/>
        </p:spPr>
        <p:txBody>
          <a:bodyPr wrap="square">
            <a:spAutoFit/>
          </a:bodyPr>
          <a:lstStyle/>
          <a:p>
            <a:pPr algn="l"/>
            <a:r>
              <a:rPr sz="950" b="0" i="0">
                <a:solidFill>
                  <a:srgbClr val="8AB4C8"/>
                </a:solidFill>
              </a:rPr>
              <a:t>Test rows (20%)</a:t>
            </a:r>
          </a:p>
        </p:txBody>
      </p:sp>
      <p:sp>
        <p:nvSpPr>
          <p:cNvPr id="18" name="TextBox 17"/>
          <p:cNvSpPr txBox="1"/>
          <p:nvPr/>
        </p:nvSpPr>
        <p:spPr>
          <a:xfrm>
            <a:off x="2286000" y="2468880"/>
            <a:ext cx="1737360" cy="246888"/>
          </a:xfrm>
          <a:prstGeom prst="rect">
            <a:avLst/>
          </a:prstGeom>
          <a:noFill/>
        </p:spPr>
        <p:txBody>
          <a:bodyPr wrap="square">
            <a:spAutoFit/>
          </a:bodyPr>
          <a:lstStyle/>
          <a:p>
            <a:pPr algn="l"/>
            <a:r>
              <a:rPr sz="950" b="1" i="0">
                <a:solidFill>
                  <a:srgbClr val="E8F4F8"/>
                </a:solidFill>
              </a:rPr>
              <a:t>3,000</a:t>
            </a:r>
          </a:p>
        </p:txBody>
      </p:sp>
      <p:sp>
        <p:nvSpPr>
          <p:cNvPr id="19" name="TextBox 18"/>
          <p:cNvSpPr txBox="1"/>
          <p:nvPr/>
        </p:nvSpPr>
        <p:spPr>
          <a:xfrm>
            <a:off x="411480" y="2734056"/>
            <a:ext cx="1828800" cy="246888"/>
          </a:xfrm>
          <a:prstGeom prst="rect">
            <a:avLst/>
          </a:prstGeom>
          <a:noFill/>
        </p:spPr>
        <p:txBody>
          <a:bodyPr wrap="square">
            <a:spAutoFit/>
          </a:bodyPr>
          <a:lstStyle/>
          <a:p>
            <a:pPr algn="l"/>
            <a:r>
              <a:rPr sz="950" b="0" i="0">
                <a:solidFill>
                  <a:srgbClr val="8AB4C8"/>
                </a:solidFill>
              </a:rPr>
              <a:t>Missing values</a:t>
            </a:r>
          </a:p>
        </p:txBody>
      </p:sp>
      <p:sp>
        <p:nvSpPr>
          <p:cNvPr id="20" name="TextBox 19"/>
          <p:cNvSpPr txBox="1"/>
          <p:nvPr/>
        </p:nvSpPr>
        <p:spPr>
          <a:xfrm>
            <a:off x="2286000" y="2734056"/>
            <a:ext cx="1737360" cy="246888"/>
          </a:xfrm>
          <a:prstGeom prst="rect">
            <a:avLst/>
          </a:prstGeom>
          <a:noFill/>
        </p:spPr>
        <p:txBody>
          <a:bodyPr wrap="square">
            <a:spAutoFit/>
          </a:bodyPr>
          <a:lstStyle/>
          <a:p>
            <a:pPr algn="l"/>
            <a:r>
              <a:rPr sz="950" b="1" i="0">
                <a:solidFill>
                  <a:srgbClr val="E8F4F8"/>
                </a:solidFill>
              </a:rPr>
              <a:t>0  (all required)</a:t>
            </a:r>
          </a:p>
        </p:txBody>
      </p:sp>
      <p:sp>
        <p:nvSpPr>
          <p:cNvPr id="21" name="TextBox 20"/>
          <p:cNvSpPr txBox="1"/>
          <p:nvPr/>
        </p:nvSpPr>
        <p:spPr>
          <a:xfrm>
            <a:off x="411480" y="2999232"/>
            <a:ext cx="1828800" cy="246888"/>
          </a:xfrm>
          <a:prstGeom prst="rect">
            <a:avLst/>
          </a:prstGeom>
          <a:noFill/>
        </p:spPr>
        <p:txBody>
          <a:bodyPr wrap="square">
            <a:spAutoFit/>
          </a:bodyPr>
          <a:lstStyle/>
          <a:p>
            <a:pPr algn="l"/>
            <a:r>
              <a:rPr sz="950" b="0" i="0">
                <a:solidFill>
                  <a:srgbClr val="8AB4C8"/>
                </a:solidFill>
              </a:rPr>
              <a:t>Duplicate rows</a:t>
            </a:r>
          </a:p>
        </p:txBody>
      </p:sp>
      <p:sp>
        <p:nvSpPr>
          <p:cNvPr id="22" name="TextBox 21"/>
          <p:cNvSpPr txBox="1"/>
          <p:nvPr/>
        </p:nvSpPr>
        <p:spPr>
          <a:xfrm>
            <a:off x="2286000" y="2999232"/>
            <a:ext cx="1737360" cy="246888"/>
          </a:xfrm>
          <a:prstGeom prst="rect">
            <a:avLst/>
          </a:prstGeom>
          <a:noFill/>
        </p:spPr>
        <p:txBody>
          <a:bodyPr wrap="square">
            <a:spAutoFit/>
          </a:bodyPr>
          <a:lstStyle/>
          <a:p>
            <a:pPr algn="l"/>
            <a:r>
              <a:rPr sz="950" b="1" i="0">
                <a:solidFill>
                  <a:srgbClr val="E8F4F8"/>
                </a:solidFill>
              </a:rPr>
              <a:t>None in generated data</a:t>
            </a:r>
          </a:p>
        </p:txBody>
      </p:sp>
      <p:sp>
        <p:nvSpPr>
          <p:cNvPr id="23" name="TextBox 22"/>
          <p:cNvSpPr txBox="1"/>
          <p:nvPr/>
        </p:nvSpPr>
        <p:spPr>
          <a:xfrm>
            <a:off x="411480" y="3264408"/>
            <a:ext cx="1828800" cy="246888"/>
          </a:xfrm>
          <a:prstGeom prst="rect">
            <a:avLst/>
          </a:prstGeom>
          <a:noFill/>
        </p:spPr>
        <p:txBody>
          <a:bodyPr wrap="square">
            <a:spAutoFit/>
          </a:bodyPr>
          <a:lstStyle/>
          <a:p>
            <a:pPr algn="l"/>
            <a:r>
              <a:rPr sz="950" b="0" i="0">
                <a:solidFill>
                  <a:srgbClr val="8AB4C8"/>
                </a:solidFill>
              </a:rPr>
              <a:t>Temporal range</a:t>
            </a:r>
          </a:p>
        </p:txBody>
      </p:sp>
      <p:sp>
        <p:nvSpPr>
          <p:cNvPr id="24" name="TextBox 23"/>
          <p:cNvSpPr txBox="1"/>
          <p:nvPr/>
        </p:nvSpPr>
        <p:spPr>
          <a:xfrm>
            <a:off x="2286000" y="3264408"/>
            <a:ext cx="1737360" cy="246888"/>
          </a:xfrm>
          <a:prstGeom prst="rect">
            <a:avLst/>
          </a:prstGeom>
          <a:noFill/>
        </p:spPr>
        <p:txBody>
          <a:bodyPr wrap="square">
            <a:spAutoFit/>
          </a:bodyPr>
          <a:lstStyle/>
          <a:p>
            <a:pPr algn="l"/>
            <a:r>
              <a:rPr sz="950" b="1" i="0">
                <a:solidFill>
                  <a:srgbClr val="E8F4F8"/>
                </a:solidFill>
              </a:rPr>
              <a:t>2018-01-01 to 2024-12-31</a:t>
            </a:r>
          </a:p>
        </p:txBody>
      </p:sp>
      <p:sp>
        <p:nvSpPr>
          <p:cNvPr id="25" name="TextBox 24"/>
          <p:cNvSpPr txBox="1"/>
          <p:nvPr/>
        </p:nvSpPr>
        <p:spPr>
          <a:xfrm>
            <a:off x="411480" y="3529584"/>
            <a:ext cx="1828800" cy="246888"/>
          </a:xfrm>
          <a:prstGeom prst="rect">
            <a:avLst/>
          </a:prstGeom>
          <a:noFill/>
        </p:spPr>
        <p:txBody>
          <a:bodyPr wrap="square">
            <a:spAutoFit/>
          </a:bodyPr>
          <a:lstStyle/>
          <a:p>
            <a:pPr algn="l"/>
            <a:r>
              <a:rPr sz="950" b="0" i="0">
                <a:solidFill>
                  <a:srgbClr val="8AB4C8"/>
                </a:solidFill>
              </a:rPr>
              <a:t>Random seed</a:t>
            </a:r>
          </a:p>
        </p:txBody>
      </p:sp>
      <p:sp>
        <p:nvSpPr>
          <p:cNvPr id="26" name="TextBox 25"/>
          <p:cNvSpPr txBox="1"/>
          <p:nvPr/>
        </p:nvSpPr>
        <p:spPr>
          <a:xfrm>
            <a:off x="2286000" y="3529584"/>
            <a:ext cx="1737360" cy="246888"/>
          </a:xfrm>
          <a:prstGeom prst="rect">
            <a:avLst/>
          </a:prstGeom>
          <a:noFill/>
        </p:spPr>
        <p:txBody>
          <a:bodyPr wrap="square">
            <a:spAutoFit/>
          </a:bodyPr>
          <a:lstStyle/>
          <a:p>
            <a:pPr algn="l"/>
            <a:r>
              <a:rPr sz="950" b="1" i="0">
                <a:solidFill>
                  <a:srgbClr val="E8F4F8"/>
                </a:solidFill>
              </a:rPr>
              <a:t>42  (reproducible)</a:t>
            </a:r>
          </a:p>
        </p:txBody>
      </p:sp>
      <p:sp>
        <p:nvSpPr>
          <p:cNvPr id="27" name="TextBox 26"/>
          <p:cNvSpPr txBox="1"/>
          <p:nvPr/>
        </p:nvSpPr>
        <p:spPr>
          <a:xfrm>
            <a:off x="411480" y="3794760"/>
            <a:ext cx="1828800" cy="246888"/>
          </a:xfrm>
          <a:prstGeom prst="rect">
            <a:avLst/>
          </a:prstGeom>
          <a:noFill/>
        </p:spPr>
        <p:txBody>
          <a:bodyPr wrap="square">
            <a:spAutoFit/>
          </a:bodyPr>
          <a:lstStyle/>
          <a:p>
            <a:pPr algn="l"/>
            <a:r>
              <a:rPr sz="950" b="0" i="0">
                <a:solidFill>
                  <a:srgbClr val="8AB4C8"/>
                </a:solidFill>
              </a:rPr>
              <a:t>Noise scale</a:t>
            </a:r>
          </a:p>
        </p:txBody>
      </p:sp>
      <p:sp>
        <p:nvSpPr>
          <p:cNvPr id="28" name="TextBox 27"/>
          <p:cNvSpPr txBox="1"/>
          <p:nvPr/>
        </p:nvSpPr>
        <p:spPr>
          <a:xfrm>
            <a:off x="2286000" y="3794760"/>
            <a:ext cx="1737360" cy="246888"/>
          </a:xfrm>
          <a:prstGeom prst="rect">
            <a:avLst/>
          </a:prstGeom>
          <a:noFill/>
        </p:spPr>
        <p:txBody>
          <a:bodyPr wrap="square">
            <a:spAutoFit/>
          </a:bodyPr>
          <a:lstStyle/>
          <a:p>
            <a:pPr algn="l"/>
            <a:r>
              <a:rPr sz="950" b="1" i="0">
                <a:solidFill>
                  <a:srgbClr val="E8F4F8"/>
                </a:solidFill>
              </a:rPr>
              <a:t>0.15  (prevents perfect accuracy)</a:t>
            </a:r>
          </a:p>
        </p:txBody>
      </p:sp>
      <p:sp>
        <p:nvSpPr>
          <p:cNvPr id="29" name="TextBox 28"/>
          <p:cNvSpPr txBox="1"/>
          <p:nvPr/>
        </p:nvSpPr>
        <p:spPr>
          <a:xfrm>
            <a:off x="411480" y="4059936"/>
            <a:ext cx="1828800" cy="246888"/>
          </a:xfrm>
          <a:prstGeom prst="rect">
            <a:avLst/>
          </a:prstGeom>
          <a:noFill/>
        </p:spPr>
        <p:txBody>
          <a:bodyPr wrap="square">
            <a:spAutoFit/>
          </a:bodyPr>
          <a:lstStyle/>
          <a:p>
            <a:pPr algn="l"/>
            <a:r>
              <a:rPr sz="950" b="0" i="0">
                <a:solidFill>
                  <a:srgbClr val="8AB4C8"/>
                </a:solidFill>
              </a:rPr>
              <a:t>CV folds</a:t>
            </a:r>
          </a:p>
        </p:txBody>
      </p:sp>
      <p:sp>
        <p:nvSpPr>
          <p:cNvPr id="30" name="TextBox 29"/>
          <p:cNvSpPr txBox="1"/>
          <p:nvPr/>
        </p:nvSpPr>
        <p:spPr>
          <a:xfrm>
            <a:off x="2286000" y="4059936"/>
            <a:ext cx="1737360" cy="246888"/>
          </a:xfrm>
          <a:prstGeom prst="rect">
            <a:avLst/>
          </a:prstGeom>
          <a:noFill/>
        </p:spPr>
        <p:txBody>
          <a:bodyPr wrap="square">
            <a:spAutoFit/>
          </a:bodyPr>
          <a:lstStyle/>
          <a:p>
            <a:pPr algn="l"/>
            <a:r>
              <a:rPr sz="950" b="1" i="0">
                <a:solidFill>
                  <a:srgbClr val="E8F4F8"/>
                </a:solidFill>
              </a:rPr>
              <a:t>5  (stratified)</a:t>
            </a:r>
          </a:p>
        </p:txBody>
      </p:sp>
      <p:sp>
        <p:nvSpPr>
          <p:cNvPr id="31" name="TextBox 30"/>
          <p:cNvSpPr txBox="1"/>
          <p:nvPr/>
        </p:nvSpPr>
        <p:spPr>
          <a:xfrm>
            <a:off x="411480" y="4325112"/>
            <a:ext cx="1828800" cy="246888"/>
          </a:xfrm>
          <a:prstGeom prst="rect">
            <a:avLst/>
          </a:prstGeom>
          <a:noFill/>
        </p:spPr>
        <p:txBody>
          <a:bodyPr wrap="square">
            <a:spAutoFit/>
          </a:bodyPr>
          <a:lstStyle/>
          <a:p>
            <a:pPr algn="l"/>
            <a:r>
              <a:rPr sz="950" b="0" i="0">
                <a:solidFill>
                  <a:srgbClr val="8AB4C8"/>
                </a:solidFill>
              </a:rPr>
              <a:t>Reef regions</a:t>
            </a:r>
          </a:p>
        </p:txBody>
      </p:sp>
      <p:sp>
        <p:nvSpPr>
          <p:cNvPr id="32" name="TextBox 31"/>
          <p:cNvSpPr txBox="1"/>
          <p:nvPr/>
        </p:nvSpPr>
        <p:spPr>
          <a:xfrm>
            <a:off x="2286000" y="4325112"/>
            <a:ext cx="1737360" cy="246888"/>
          </a:xfrm>
          <a:prstGeom prst="rect">
            <a:avLst/>
          </a:prstGeom>
          <a:noFill/>
        </p:spPr>
        <p:txBody>
          <a:bodyPr wrap="square">
            <a:spAutoFit/>
          </a:bodyPr>
          <a:lstStyle/>
          <a:p>
            <a:pPr algn="l"/>
            <a:r>
              <a:rPr sz="950" b="1" i="0">
                <a:solidFill>
                  <a:srgbClr val="E8F4F8"/>
                </a:solidFill>
              </a:rPr>
              <a:t>4  (Indian waters)</a:t>
            </a:r>
          </a:p>
        </p:txBody>
      </p:sp>
      <p:sp>
        <p:nvSpPr>
          <p:cNvPr id="33" name="TextBox 32"/>
          <p:cNvSpPr txBox="1"/>
          <p:nvPr/>
        </p:nvSpPr>
        <p:spPr>
          <a:xfrm>
            <a:off x="411480" y="4590288"/>
            <a:ext cx="1828800" cy="246888"/>
          </a:xfrm>
          <a:prstGeom prst="rect">
            <a:avLst/>
          </a:prstGeom>
          <a:noFill/>
        </p:spPr>
        <p:txBody>
          <a:bodyPr wrap="square">
            <a:spAutoFit/>
          </a:bodyPr>
          <a:lstStyle/>
          <a:p>
            <a:pPr algn="l"/>
            <a:r>
              <a:rPr sz="950" b="0" i="0">
                <a:solidFill>
                  <a:srgbClr val="8AB4C8"/>
                </a:solidFill>
              </a:rPr>
              <a:t>Health classes</a:t>
            </a:r>
          </a:p>
        </p:txBody>
      </p:sp>
      <p:sp>
        <p:nvSpPr>
          <p:cNvPr id="34" name="TextBox 33"/>
          <p:cNvSpPr txBox="1"/>
          <p:nvPr/>
        </p:nvSpPr>
        <p:spPr>
          <a:xfrm>
            <a:off x="2286000" y="4590288"/>
            <a:ext cx="1737360" cy="246888"/>
          </a:xfrm>
          <a:prstGeom prst="rect">
            <a:avLst/>
          </a:prstGeom>
          <a:noFill/>
        </p:spPr>
        <p:txBody>
          <a:bodyPr wrap="square">
            <a:spAutoFit/>
          </a:bodyPr>
          <a:lstStyle/>
          <a:p>
            <a:pPr algn="l"/>
            <a:r>
              <a:rPr sz="950" b="1" i="0">
                <a:solidFill>
                  <a:srgbClr val="E8F4F8"/>
                </a:solidFill>
              </a:rPr>
              <a:t>4</a:t>
            </a:r>
          </a:p>
        </p:txBody>
      </p:sp>
      <p:sp>
        <p:nvSpPr>
          <p:cNvPr id="35" name="TextBox 34"/>
          <p:cNvSpPr txBox="1"/>
          <p:nvPr/>
        </p:nvSpPr>
        <p:spPr>
          <a:xfrm>
            <a:off x="411480" y="4855464"/>
            <a:ext cx="1828800" cy="246888"/>
          </a:xfrm>
          <a:prstGeom prst="rect">
            <a:avLst/>
          </a:prstGeom>
          <a:noFill/>
        </p:spPr>
        <p:txBody>
          <a:bodyPr wrap="square">
            <a:spAutoFit/>
          </a:bodyPr>
          <a:lstStyle/>
          <a:p>
            <a:pPr algn="l"/>
            <a:r>
              <a:rPr sz="950" b="0" i="0">
                <a:solidFill>
                  <a:srgbClr val="8AB4C8"/>
                </a:solidFill>
              </a:rPr>
              <a:t>Restoration classes</a:t>
            </a:r>
          </a:p>
        </p:txBody>
      </p:sp>
      <p:sp>
        <p:nvSpPr>
          <p:cNvPr id="36" name="TextBox 35"/>
          <p:cNvSpPr txBox="1"/>
          <p:nvPr/>
        </p:nvSpPr>
        <p:spPr>
          <a:xfrm>
            <a:off x="2286000" y="4855464"/>
            <a:ext cx="1737360" cy="246888"/>
          </a:xfrm>
          <a:prstGeom prst="rect">
            <a:avLst/>
          </a:prstGeom>
          <a:noFill/>
        </p:spPr>
        <p:txBody>
          <a:bodyPr wrap="square">
            <a:spAutoFit/>
          </a:bodyPr>
          <a:lstStyle/>
          <a:p>
            <a:pPr algn="l"/>
            <a:r>
              <a:rPr sz="950" b="1" i="0">
                <a:solidFill>
                  <a:srgbClr val="E8F4F8"/>
                </a:solidFill>
              </a:rPr>
              <a:t>3</a:t>
            </a:r>
          </a:p>
        </p:txBody>
      </p:sp>
      <p:sp>
        <p:nvSpPr>
          <p:cNvPr id="37" name="TextBox 36"/>
          <p:cNvSpPr txBox="1"/>
          <p:nvPr/>
        </p:nvSpPr>
        <p:spPr>
          <a:xfrm>
            <a:off x="411480" y="5120640"/>
            <a:ext cx="1828800" cy="246888"/>
          </a:xfrm>
          <a:prstGeom prst="rect">
            <a:avLst/>
          </a:prstGeom>
          <a:noFill/>
        </p:spPr>
        <p:txBody>
          <a:bodyPr wrap="square">
            <a:spAutoFit/>
          </a:bodyPr>
          <a:lstStyle/>
          <a:p>
            <a:pPr algn="l"/>
            <a:r>
              <a:rPr sz="950" b="0" i="0">
                <a:solidFill>
                  <a:srgbClr val="8AB4C8"/>
                </a:solidFill>
              </a:rPr>
              <a:t>Numeric features</a:t>
            </a:r>
          </a:p>
        </p:txBody>
      </p:sp>
      <p:sp>
        <p:nvSpPr>
          <p:cNvPr id="38" name="TextBox 37"/>
          <p:cNvSpPr txBox="1"/>
          <p:nvPr/>
        </p:nvSpPr>
        <p:spPr>
          <a:xfrm>
            <a:off x="2286000" y="5120640"/>
            <a:ext cx="1737360" cy="246888"/>
          </a:xfrm>
          <a:prstGeom prst="rect">
            <a:avLst/>
          </a:prstGeom>
          <a:noFill/>
        </p:spPr>
        <p:txBody>
          <a:bodyPr wrap="square">
            <a:spAutoFit/>
          </a:bodyPr>
          <a:lstStyle/>
          <a:p>
            <a:pPr algn="l"/>
            <a:r>
              <a:rPr sz="950" b="1" i="0">
                <a:solidFill>
                  <a:srgbClr val="E8F4F8"/>
                </a:solidFill>
              </a:rPr>
              <a:t>15</a:t>
            </a:r>
          </a:p>
        </p:txBody>
      </p:sp>
      <p:sp>
        <p:nvSpPr>
          <p:cNvPr id="39" name="TextBox 38"/>
          <p:cNvSpPr txBox="1"/>
          <p:nvPr/>
        </p:nvSpPr>
        <p:spPr>
          <a:xfrm>
            <a:off x="411480" y="5385816"/>
            <a:ext cx="1828800" cy="246888"/>
          </a:xfrm>
          <a:prstGeom prst="rect">
            <a:avLst/>
          </a:prstGeom>
          <a:noFill/>
        </p:spPr>
        <p:txBody>
          <a:bodyPr wrap="square">
            <a:spAutoFit/>
          </a:bodyPr>
          <a:lstStyle/>
          <a:p>
            <a:pPr algn="l"/>
            <a:r>
              <a:rPr sz="950" b="0" i="0">
                <a:solidFill>
                  <a:srgbClr val="8AB4C8"/>
                </a:solidFill>
              </a:rPr>
              <a:t>Categorical features</a:t>
            </a:r>
          </a:p>
        </p:txBody>
      </p:sp>
      <p:sp>
        <p:nvSpPr>
          <p:cNvPr id="40" name="TextBox 39"/>
          <p:cNvSpPr txBox="1"/>
          <p:nvPr/>
        </p:nvSpPr>
        <p:spPr>
          <a:xfrm>
            <a:off x="2286000" y="5385816"/>
            <a:ext cx="1737360" cy="246888"/>
          </a:xfrm>
          <a:prstGeom prst="rect">
            <a:avLst/>
          </a:prstGeom>
          <a:noFill/>
        </p:spPr>
        <p:txBody>
          <a:bodyPr wrap="square">
            <a:spAutoFit/>
          </a:bodyPr>
          <a:lstStyle/>
          <a:p>
            <a:pPr algn="l"/>
            <a:r>
              <a:rPr sz="950" b="1" i="0">
                <a:solidFill>
                  <a:srgbClr val="E8F4F8"/>
                </a:solidFill>
              </a:rPr>
              <a:t>1  (region)</a:t>
            </a:r>
          </a:p>
        </p:txBody>
      </p:sp>
      <p:sp>
        <p:nvSpPr>
          <p:cNvPr id="41" name="TextBox 40"/>
          <p:cNvSpPr txBox="1"/>
          <p:nvPr/>
        </p:nvSpPr>
        <p:spPr>
          <a:xfrm>
            <a:off x="411480" y="5650992"/>
            <a:ext cx="1828800" cy="246888"/>
          </a:xfrm>
          <a:prstGeom prst="rect">
            <a:avLst/>
          </a:prstGeom>
          <a:noFill/>
        </p:spPr>
        <p:txBody>
          <a:bodyPr wrap="square">
            <a:spAutoFit/>
          </a:bodyPr>
          <a:lstStyle/>
          <a:p>
            <a:pPr algn="l"/>
            <a:r>
              <a:rPr sz="950" b="0" i="0">
                <a:solidFill>
                  <a:srgbClr val="8AB4C8"/>
                </a:solidFill>
              </a:rPr>
              <a:t>Derived features</a:t>
            </a:r>
          </a:p>
        </p:txBody>
      </p:sp>
      <p:sp>
        <p:nvSpPr>
          <p:cNvPr id="42" name="TextBox 41"/>
          <p:cNvSpPr txBox="1"/>
          <p:nvPr/>
        </p:nvSpPr>
        <p:spPr>
          <a:xfrm>
            <a:off x="2286000" y="5650992"/>
            <a:ext cx="1737360" cy="246888"/>
          </a:xfrm>
          <a:prstGeom prst="rect">
            <a:avLst/>
          </a:prstGeom>
          <a:noFill/>
        </p:spPr>
        <p:txBody>
          <a:bodyPr wrap="square">
            <a:spAutoFit/>
          </a:bodyPr>
          <a:lstStyle/>
          <a:p>
            <a:pPr algn="l"/>
            <a:r>
              <a:rPr sz="950" b="1" i="0">
                <a:solidFill>
                  <a:srgbClr val="E8F4F8"/>
                </a:solidFill>
              </a:rPr>
              <a:t>6  (engineered)</a:t>
            </a:r>
          </a:p>
        </p:txBody>
      </p:sp>
      <p:sp>
        <p:nvSpPr>
          <p:cNvPr id="43" name="Rectangle 42"/>
          <p:cNvSpPr/>
          <p:nvPr/>
        </p:nvSpPr>
        <p:spPr>
          <a:xfrm>
            <a:off x="4297680" y="1170432"/>
            <a:ext cx="3657600" cy="2468880"/>
          </a:xfrm>
          <a:prstGeom prst="rect">
            <a:avLst/>
          </a:prstGeom>
          <a:solidFill>
            <a:srgbClr val="122A4A"/>
          </a:solidFill>
          <a:ln w="1016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480560" y="1243584"/>
            <a:ext cx="3383280" cy="347472"/>
          </a:xfrm>
          <a:prstGeom prst="rect">
            <a:avLst/>
          </a:prstGeom>
          <a:noFill/>
        </p:spPr>
        <p:txBody>
          <a:bodyPr wrap="square">
            <a:spAutoFit/>
          </a:bodyPr>
          <a:lstStyle/>
          <a:p>
            <a:pPr algn="l"/>
            <a:r>
              <a:rPr sz="1200" b="1" i="0">
                <a:solidFill>
                  <a:srgbClr val="00B4D8"/>
                </a:solidFill>
              </a:rPr>
              <a:t>Reef Health Classes (4)</a:t>
            </a:r>
          </a:p>
        </p:txBody>
      </p:sp>
      <p:sp>
        <p:nvSpPr>
          <p:cNvPr id="45" name="Rectangle 44"/>
          <p:cNvSpPr/>
          <p:nvPr/>
        </p:nvSpPr>
        <p:spPr>
          <a:xfrm>
            <a:off x="4434840" y="1709928"/>
            <a:ext cx="128016" cy="164592"/>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617720" y="1673352"/>
            <a:ext cx="3200400" cy="256032"/>
          </a:xfrm>
          <a:prstGeom prst="rect">
            <a:avLst/>
          </a:prstGeom>
          <a:noFill/>
        </p:spPr>
        <p:txBody>
          <a:bodyPr wrap="square">
            <a:spAutoFit/>
          </a:bodyPr>
          <a:lstStyle/>
          <a:p>
            <a:pPr algn="l"/>
            <a:r>
              <a:rPr sz="1100" b="0" i="0">
                <a:solidFill>
                  <a:srgbClr val="E8F4F8"/>
                </a:solidFill>
              </a:rPr>
              <a:t>healthy</a:t>
            </a:r>
          </a:p>
        </p:txBody>
      </p:sp>
      <p:sp>
        <p:nvSpPr>
          <p:cNvPr id="47" name="Rectangle 46"/>
          <p:cNvSpPr/>
          <p:nvPr/>
        </p:nvSpPr>
        <p:spPr>
          <a:xfrm>
            <a:off x="4434840" y="2057400"/>
            <a:ext cx="128016" cy="164592"/>
          </a:xfrm>
          <a:prstGeom prst="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617720" y="2020824"/>
            <a:ext cx="3200400" cy="256032"/>
          </a:xfrm>
          <a:prstGeom prst="rect">
            <a:avLst/>
          </a:prstGeom>
          <a:noFill/>
        </p:spPr>
        <p:txBody>
          <a:bodyPr wrap="square">
            <a:spAutoFit/>
          </a:bodyPr>
          <a:lstStyle/>
          <a:p>
            <a:pPr algn="l"/>
            <a:r>
              <a:rPr sz="1100" b="0" i="0">
                <a:solidFill>
                  <a:srgbClr val="E8F4F8"/>
                </a:solidFill>
              </a:rPr>
              <a:t>stressed</a:t>
            </a:r>
          </a:p>
        </p:txBody>
      </p:sp>
      <p:sp>
        <p:nvSpPr>
          <p:cNvPr id="49" name="Rectangle 48"/>
          <p:cNvSpPr/>
          <p:nvPr/>
        </p:nvSpPr>
        <p:spPr>
          <a:xfrm>
            <a:off x="4434840" y="2404872"/>
            <a:ext cx="128016" cy="16459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617720" y="2368296"/>
            <a:ext cx="3200400" cy="256032"/>
          </a:xfrm>
          <a:prstGeom prst="rect">
            <a:avLst/>
          </a:prstGeom>
          <a:noFill/>
        </p:spPr>
        <p:txBody>
          <a:bodyPr wrap="square">
            <a:spAutoFit/>
          </a:bodyPr>
          <a:lstStyle/>
          <a:p>
            <a:pPr algn="l"/>
            <a:r>
              <a:rPr sz="1100" b="0" i="0">
                <a:solidFill>
                  <a:srgbClr val="E8F4F8"/>
                </a:solidFill>
              </a:rPr>
              <a:t>bleached</a:t>
            </a:r>
          </a:p>
        </p:txBody>
      </p:sp>
      <p:sp>
        <p:nvSpPr>
          <p:cNvPr id="51" name="Rectangle 50"/>
          <p:cNvSpPr/>
          <p:nvPr/>
        </p:nvSpPr>
        <p:spPr>
          <a:xfrm>
            <a:off x="4434840" y="2752344"/>
            <a:ext cx="128016" cy="164592"/>
          </a:xfrm>
          <a:prstGeom prst="rect">
            <a:avLst/>
          </a:prstGeom>
          <a:solidFill>
            <a:srgbClr val="C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617720" y="2715768"/>
            <a:ext cx="3200400" cy="256032"/>
          </a:xfrm>
          <a:prstGeom prst="rect">
            <a:avLst/>
          </a:prstGeom>
          <a:noFill/>
        </p:spPr>
        <p:txBody>
          <a:bodyPr wrap="square">
            <a:spAutoFit/>
          </a:bodyPr>
          <a:lstStyle/>
          <a:p>
            <a:pPr algn="l"/>
            <a:r>
              <a:rPr sz="1100" b="0" i="0">
                <a:solidFill>
                  <a:srgbClr val="E8F4F8"/>
                </a:solidFill>
              </a:rPr>
              <a:t>severely_degraded</a:t>
            </a:r>
          </a:p>
        </p:txBody>
      </p:sp>
      <p:sp>
        <p:nvSpPr>
          <p:cNvPr id="53" name="Rectangle 52"/>
          <p:cNvSpPr/>
          <p:nvPr/>
        </p:nvSpPr>
        <p:spPr>
          <a:xfrm>
            <a:off x="4297680" y="3767328"/>
            <a:ext cx="3657600" cy="2194560"/>
          </a:xfrm>
          <a:prstGeom prst="rect">
            <a:avLst/>
          </a:prstGeom>
          <a:solidFill>
            <a:srgbClr val="122A4A"/>
          </a:solidFill>
          <a:ln w="10160">
            <a:solidFill>
              <a:srgbClr val="1B8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480560" y="3840480"/>
            <a:ext cx="3383280" cy="347472"/>
          </a:xfrm>
          <a:prstGeom prst="rect">
            <a:avLst/>
          </a:prstGeom>
          <a:noFill/>
        </p:spPr>
        <p:txBody>
          <a:bodyPr wrap="square">
            <a:spAutoFit/>
          </a:bodyPr>
          <a:lstStyle/>
          <a:p>
            <a:pPr algn="l"/>
            <a:r>
              <a:rPr sz="1200" b="1" i="0">
                <a:solidFill>
                  <a:srgbClr val="1B8A8F"/>
                </a:solidFill>
              </a:rPr>
              <a:t>Restoration Suitability Classes (3)</a:t>
            </a:r>
          </a:p>
        </p:txBody>
      </p:sp>
      <p:sp>
        <p:nvSpPr>
          <p:cNvPr id="55" name="Rectangle 54"/>
          <p:cNvSpPr/>
          <p:nvPr/>
        </p:nvSpPr>
        <p:spPr>
          <a:xfrm>
            <a:off x="4434840" y="4288536"/>
            <a:ext cx="128016" cy="164592"/>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617720" y="4251960"/>
            <a:ext cx="3200400" cy="256032"/>
          </a:xfrm>
          <a:prstGeom prst="rect">
            <a:avLst/>
          </a:prstGeom>
          <a:noFill/>
        </p:spPr>
        <p:txBody>
          <a:bodyPr wrap="square">
            <a:spAutoFit/>
          </a:bodyPr>
          <a:lstStyle/>
          <a:p>
            <a:pPr algn="l"/>
            <a:r>
              <a:rPr sz="1100" b="0" i="0">
                <a:solidFill>
                  <a:srgbClr val="E8F4F8"/>
                </a:solidFill>
              </a:rPr>
              <a:t>suitable</a:t>
            </a:r>
          </a:p>
        </p:txBody>
      </p:sp>
      <p:sp>
        <p:nvSpPr>
          <p:cNvPr id="57" name="Rectangle 56"/>
          <p:cNvSpPr/>
          <p:nvPr/>
        </p:nvSpPr>
        <p:spPr>
          <a:xfrm>
            <a:off x="4434840" y="4636008"/>
            <a:ext cx="128016" cy="164592"/>
          </a:xfrm>
          <a:prstGeom prst="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617720" y="4599432"/>
            <a:ext cx="3200400" cy="256032"/>
          </a:xfrm>
          <a:prstGeom prst="rect">
            <a:avLst/>
          </a:prstGeom>
          <a:noFill/>
        </p:spPr>
        <p:txBody>
          <a:bodyPr wrap="square">
            <a:spAutoFit/>
          </a:bodyPr>
          <a:lstStyle/>
          <a:p>
            <a:pPr algn="l"/>
            <a:r>
              <a:rPr sz="1100" b="0" i="0">
                <a:solidFill>
                  <a:srgbClr val="E8F4F8"/>
                </a:solidFill>
              </a:rPr>
              <a:t>moderately_suitable</a:t>
            </a:r>
          </a:p>
        </p:txBody>
      </p:sp>
      <p:sp>
        <p:nvSpPr>
          <p:cNvPr id="59" name="Rectangle 58"/>
          <p:cNvSpPr/>
          <p:nvPr/>
        </p:nvSpPr>
        <p:spPr>
          <a:xfrm>
            <a:off x="4434840" y="4983480"/>
            <a:ext cx="128016" cy="16459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617720" y="4946904"/>
            <a:ext cx="3200400" cy="256032"/>
          </a:xfrm>
          <a:prstGeom prst="rect">
            <a:avLst/>
          </a:prstGeom>
          <a:noFill/>
        </p:spPr>
        <p:txBody>
          <a:bodyPr wrap="square">
            <a:spAutoFit/>
          </a:bodyPr>
          <a:lstStyle/>
          <a:p>
            <a:pPr algn="l"/>
            <a:r>
              <a:rPr sz="1100" b="0" i="0">
                <a:solidFill>
                  <a:srgbClr val="E8F4F8"/>
                </a:solidFill>
              </a:rPr>
              <a:t>unsuitable</a:t>
            </a:r>
          </a:p>
        </p:txBody>
      </p:sp>
      <p:pic>
        <p:nvPicPr>
          <p:cNvPr id="61" name="Picture 60" descr="image.png"/>
          <p:cNvPicPr>
            <a:picLocks noChangeAspect="1"/>
          </p:cNvPicPr>
          <p:nvPr/>
        </p:nvPicPr>
        <p:blipFill>
          <a:blip r:embed="rId2"/>
          <a:stretch>
            <a:fillRect/>
          </a:stretch>
        </p:blipFill>
        <p:spPr>
          <a:xfrm>
            <a:off x="8092440" y="1170432"/>
            <a:ext cx="3840480" cy="51663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1224"/>
        </a:solidFill>
        <a:effectLst/>
      </p:bgPr>
    </p:bg>
    <p:spTree>
      <p:nvGrpSpPr>
        <p:cNvPr id="1" name=""/>
        <p:cNvGrpSpPr/>
        <p:nvPr/>
      </p:nvGrpSpPr>
      <p:grpSpPr/>
      <p:sp>
        <p:nvSpPr>
          <p:cNvPr id="2" name="Rectangle 1"/>
          <p:cNvSpPr/>
          <p:nvPr/>
        </p:nvSpPr>
        <p:spPr>
          <a:xfrm>
            <a:off x="0" y="0"/>
            <a:ext cx="12188952" cy="1024128"/>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37160"/>
            <a:ext cx="11430000" cy="594360"/>
          </a:xfrm>
          <a:prstGeom prst="rect">
            <a:avLst/>
          </a:prstGeom>
          <a:noFill/>
        </p:spPr>
        <p:txBody>
          <a:bodyPr wrap="square">
            <a:spAutoFit/>
          </a:bodyPr>
          <a:lstStyle/>
          <a:p>
            <a:pPr algn="l"/>
            <a:r>
              <a:rPr sz="2400" b="1" i="0">
                <a:solidFill>
                  <a:srgbClr val="00B4D8"/>
                </a:solidFill>
              </a:rPr>
              <a:t>Data Quality and Validation</a:t>
            </a:r>
          </a:p>
        </p:txBody>
      </p:sp>
      <p:sp>
        <p:nvSpPr>
          <p:cNvPr id="4" name="TextBox 3"/>
          <p:cNvSpPr txBox="1"/>
          <p:nvPr/>
        </p:nvSpPr>
        <p:spPr>
          <a:xfrm>
            <a:off x="320040" y="658368"/>
            <a:ext cx="11430000" cy="320040"/>
          </a:xfrm>
          <a:prstGeom prst="rect">
            <a:avLst/>
          </a:prstGeom>
          <a:noFill/>
        </p:spPr>
        <p:txBody>
          <a:bodyPr wrap="square">
            <a:spAutoFit/>
          </a:bodyPr>
          <a:lstStyle/>
          <a:p>
            <a:pPr algn="l"/>
            <a:r>
              <a:rPr sz="1200" b="0" i="0">
                <a:solidFill>
                  <a:srgbClr val="8AB4C8"/>
                </a:solidFill>
              </a:rPr>
              <a:t>Pandera schema validation — pipeline gate before any modelling begins</a:t>
            </a:r>
          </a:p>
        </p:txBody>
      </p:sp>
      <p:sp>
        <p:nvSpPr>
          <p:cNvPr id="5" name="Rectangle 4"/>
          <p:cNvSpPr/>
          <p:nvPr/>
        </p:nvSpPr>
        <p:spPr>
          <a:xfrm>
            <a:off x="0" y="1024128"/>
            <a:ext cx="12188952" cy="27432"/>
          </a:xfrm>
          <a:prstGeom prst="rect">
            <a:avLst/>
          </a:prstGeom>
          <a:solidFill>
            <a:srgbClr val="1B8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65392"/>
            <a:ext cx="12188952" cy="36576"/>
          </a:xfrm>
          <a:prstGeom prst="rect">
            <a:avLst/>
          </a:prstGeom>
          <a:solidFill>
            <a:srgbClr val="1B8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01968"/>
            <a:ext cx="8229600" cy="228600"/>
          </a:xfrm>
          <a:prstGeom prst="rect">
            <a:avLst/>
          </a:prstGeom>
          <a:noFill/>
        </p:spPr>
        <p:txBody>
          <a:bodyPr wrap="square">
            <a:spAutoFit/>
          </a:bodyPr>
          <a:lstStyle/>
          <a:p>
            <a:pPr algn="l"/>
            <a:r>
              <a:rPr sz="900" b="0" i="0">
                <a:solidFill>
                  <a:srgbClr val="8AB4C8"/>
                </a:solidFill>
              </a:rPr>
              <a:t>Oceanographic Reef Prediction Framework</a:t>
            </a:r>
          </a:p>
        </p:txBody>
      </p:sp>
      <p:sp>
        <p:nvSpPr>
          <p:cNvPr id="8" name="TextBox 7"/>
          <p:cNvSpPr txBox="1"/>
          <p:nvPr/>
        </p:nvSpPr>
        <p:spPr>
          <a:xfrm>
            <a:off x="11247120" y="6601968"/>
            <a:ext cx="731520" cy="228600"/>
          </a:xfrm>
          <a:prstGeom prst="rect">
            <a:avLst/>
          </a:prstGeom>
          <a:noFill/>
        </p:spPr>
        <p:txBody>
          <a:bodyPr wrap="square">
            <a:spAutoFit/>
          </a:bodyPr>
          <a:lstStyle/>
          <a:p>
            <a:pPr algn="r"/>
            <a:r>
              <a:rPr sz="900" b="0" i="0">
                <a:solidFill>
                  <a:srgbClr val="8AB4C8"/>
                </a:solidFill>
              </a:rPr>
              <a:t>6</a:t>
            </a:r>
          </a:p>
        </p:txBody>
      </p:sp>
      <p:pic>
        <p:nvPicPr>
          <p:cNvPr id="9" name="Picture 8" descr="image.png"/>
          <p:cNvPicPr>
            <a:picLocks noChangeAspect="1"/>
          </p:cNvPicPr>
          <p:nvPr/>
        </p:nvPicPr>
        <p:blipFill>
          <a:blip r:embed="rId2"/>
          <a:stretch>
            <a:fillRect/>
          </a:stretch>
        </p:blipFill>
        <p:spPr>
          <a:xfrm>
            <a:off x="228600" y="1115568"/>
            <a:ext cx="11750040" cy="3200400"/>
          </a:xfrm>
          <a:prstGeom prst="rect">
            <a:avLst/>
          </a:prstGeom>
        </p:spPr>
      </p:pic>
      <p:sp>
        <p:nvSpPr>
          <p:cNvPr id="10" name="Rectangle 9"/>
          <p:cNvSpPr/>
          <p:nvPr/>
        </p:nvSpPr>
        <p:spPr>
          <a:xfrm>
            <a:off x="256032" y="4462272"/>
            <a:ext cx="11658600" cy="269748"/>
          </a:xfrm>
          <a:prstGeom prst="rect">
            <a:avLst/>
          </a:prstGeom>
          <a:solidFill>
            <a:srgbClr val="12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 y="4480559"/>
            <a:ext cx="2286000" cy="237744"/>
          </a:xfrm>
          <a:prstGeom prst="rect">
            <a:avLst/>
          </a:prstGeom>
          <a:noFill/>
        </p:spPr>
        <p:txBody>
          <a:bodyPr wrap="square">
            <a:spAutoFit/>
          </a:bodyPr>
          <a:lstStyle/>
          <a:p>
            <a:pPr algn="l"/>
            <a:r>
              <a:rPr sz="1000" b="1" i="0">
                <a:solidFill>
                  <a:srgbClr val="00B4D8"/>
                </a:solidFill>
              </a:rPr>
              <a:t>Required columns</a:t>
            </a:r>
          </a:p>
        </p:txBody>
      </p:sp>
      <p:sp>
        <p:nvSpPr>
          <p:cNvPr id="12" name="TextBox 11"/>
          <p:cNvSpPr txBox="1"/>
          <p:nvPr/>
        </p:nvSpPr>
        <p:spPr>
          <a:xfrm>
            <a:off x="2788920" y="4480559"/>
            <a:ext cx="8412480" cy="237744"/>
          </a:xfrm>
          <a:prstGeom prst="rect">
            <a:avLst/>
          </a:prstGeom>
          <a:noFill/>
        </p:spPr>
        <p:txBody>
          <a:bodyPr wrap="square">
            <a:spAutoFit/>
          </a:bodyPr>
          <a:lstStyle/>
          <a:p>
            <a:pPr algn="l"/>
            <a:r>
              <a:rPr sz="1000" b="0" i="0">
                <a:solidFill>
                  <a:srgbClr val="E8F4F8"/>
                </a:solidFill>
              </a:rPr>
              <a:t>All 21 columns must be present</a:t>
            </a:r>
          </a:p>
        </p:txBody>
      </p:sp>
      <p:sp>
        <p:nvSpPr>
          <p:cNvPr id="13" name="Rectangle 12"/>
          <p:cNvSpPr/>
          <p:nvPr/>
        </p:nvSpPr>
        <p:spPr>
          <a:xfrm>
            <a:off x="256032" y="4736592"/>
            <a:ext cx="11658600" cy="269748"/>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4754879"/>
            <a:ext cx="2286000" cy="237744"/>
          </a:xfrm>
          <a:prstGeom prst="rect">
            <a:avLst/>
          </a:prstGeom>
          <a:noFill/>
        </p:spPr>
        <p:txBody>
          <a:bodyPr wrap="square">
            <a:spAutoFit/>
          </a:bodyPr>
          <a:lstStyle/>
          <a:p>
            <a:pPr algn="l"/>
            <a:r>
              <a:rPr sz="1000" b="1" i="0">
                <a:solidFill>
                  <a:srgbClr val="00B4D8"/>
                </a:solidFill>
              </a:rPr>
              <a:t>Data types</a:t>
            </a:r>
          </a:p>
        </p:txBody>
      </p:sp>
      <p:sp>
        <p:nvSpPr>
          <p:cNvPr id="15" name="TextBox 14"/>
          <p:cNvSpPr txBox="1"/>
          <p:nvPr/>
        </p:nvSpPr>
        <p:spPr>
          <a:xfrm>
            <a:off x="2788920" y="4754879"/>
            <a:ext cx="8412480" cy="237744"/>
          </a:xfrm>
          <a:prstGeom prst="rect">
            <a:avLst/>
          </a:prstGeom>
          <a:noFill/>
        </p:spPr>
        <p:txBody>
          <a:bodyPr wrap="square">
            <a:spAutoFit/>
          </a:bodyPr>
          <a:lstStyle/>
          <a:p>
            <a:pPr algn="l"/>
            <a:r>
              <a:rPr sz="1000" b="0" i="0">
                <a:solidFill>
                  <a:srgbClr val="E8F4F8"/>
                </a:solidFill>
              </a:rPr>
              <a:t>Pandera coerces and enforces float64, datetime, str</a:t>
            </a:r>
          </a:p>
        </p:txBody>
      </p:sp>
      <p:sp>
        <p:nvSpPr>
          <p:cNvPr id="16" name="Rectangle 15"/>
          <p:cNvSpPr/>
          <p:nvPr/>
        </p:nvSpPr>
        <p:spPr>
          <a:xfrm>
            <a:off x="256032" y="5010912"/>
            <a:ext cx="11658600" cy="269748"/>
          </a:xfrm>
          <a:prstGeom prst="rect">
            <a:avLst/>
          </a:prstGeom>
          <a:solidFill>
            <a:srgbClr val="12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472" y="5029199"/>
            <a:ext cx="2286000" cy="237744"/>
          </a:xfrm>
          <a:prstGeom prst="rect">
            <a:avLst/>
          </a:prstGeom>
          <a:noFill/>
        </p:spPr>
        <p:txBody>
          <a:bodyPr wrap="square">
            <a:spAutoFit/>
          </a:bodyPr>
          <a:lstStyle/>
          <a:p>
            <a:pPr algn="l"/>
            <a:r>
              <a:rPr sz="1000" b="1" i="0">
                <a:solidFill>
                  <a:srgbClr val="00B4D8"/>
                </a:solidFill>
              </a:rPr>
              <a:t>Sensor bounds</a:t>
            </a:r>
          </a:p>
        </p:txBody>
      </p:sp>
      <p:sp>
        <p:nvSpPr>
          <p:cNvPr id="18" name="TextBox 17"/>
          <p:cNvSpPr txBox="1"/>
          <p:nvPr/>
        </p:nvSpPr>
        <p:spPr>
          <a:xfrm>
            <a:off x="2788920" y="5029199"/>
            <a:ext cx="8412480" cy="237744"/>
          </a:xfrm>
          <a:prstGeom prst="rect">
            <a:avLst/>
          </a:prstGeom>
          <a:noFill/>
        </p:spPr>
        <p:txBody>
          <a:bodyPr wrap="square">
            <a:spAutoFit/>
          </a:bodyPr>
          <a:lstStyle/>
          <a:p>
            <a:pPr algn="l"/>
            <a:r>
              <a:rPr sz="1000" b="0" i="0">
                <a:solidFill>
                  <a:srgbClr val="E8F4F8"/>
                </a:solidFill>
              </a:rPr>
              <a:t>e.g. temperature 10–42 °C, pH 7.0–9.0, depth 0–50 m</a:t>
            </a:r>
          </a:p>
        </p:txBody>
      </p:sp>
      <p:sp>
        <p:nvSpPr>
          <p:cNvPr id="19" name="Rectangle 18"/>
          <p:cNvSpPr/>
          <p:nvPr/>
        </p:nvSpPr>
        <p:spPr>
          <a:xfrm>
            <a:off x="256032" y="5285231"/>
            <a:ext cx="11658600" cy="269748"/>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 y="5303519"/>
            <a:ext cx="2286000" cy="237744"/>
          </a:xfrm>
          <a:prstGeom prst="rect">
            <a:avLst/>
          </a:prstGeom>
          <a:noFill/>
        </p:spPr>
        <p:txBody>
          <a:bodyPr wrap="square">
            <a:spAutoFit/>
          </a:bodyPr>
          <a:lstStyle/>
          <a:p>
            <a:pPr algn="l"/>
            <a:r>
              <a:rPr sz="1000" b="1" i="0">
                <a:solidFill>
                  <a:srgbClr val="00B4D8"/>
                </a:solidFill>
              </a:rPr>
              <a:t>Missing values</a:t>
            </a:r>
          </a:p>
        </p:txBody>
      </p:sp>
      <p:sp>
        <p:nvSpPr>
          <p:cNvPr id="21" name="TextBox 20"/>
          <p:cNvSpPr txBox="1"/>
          <p:nvPr/>
        </p:nvSpPr>
        <p:spPr>
          <a:xfrm>
            <a:off x="2788920" y="5303519"/>
            <a:ext cx="8412480" cy="237744"/>
          </a:xfrm>
          <a:prstGeom prst="rect">
            <a:avLst/>
          </a:prstGeom>
          <a:noFill/>
        </p:spPr>
        <p:txBody>
          <a:bodyPr wrap="square">
            <a:spAutoFit/>
          </a:bodyPr>
          <a:lstStyle/>
          <a:p>
            <a:pPr algn="l"/>
            <a:r>
              <a:rPr sz="1000" b="0" i="0">
                <a:solidFill>
                  <a:srgbClr val="E8F4F8"/>
                </a:solidFill>
              </a:rPr>
              <a:t>All fields nullable=False — any null row fails</a:t>
            </a:r>
          </a:p>
        </p:txBody>
      </p:sp>
      <p:sp>
        <p:nvSpPr>
          <p:cNvPr id="22" name="Rectangle 21"/>
          <p:cNvSpPr/>
          <p:nvPr/>
        </p:nvSpPr>
        <p:spPr>
          <a:xfrm>
            <a:off x="256032" y="5559551"/>
            <a:ext cx="11658600" cy="269748"/>
          </a:xfrm>
          <a:prstGeom prst="rect">
            <a:avLst/>
          </a:prstGeom>
          <a:solidFill>
            <a:srgbClr val="12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7472" y="5577839"/>
            <a:ext cx="2286000" cy="237744"/>
          </a:xfrm>
          <a:prstGeom prst="rect">
            <a:avLst/>
          </a:prstGeom>
          <a:noFill/>
        </p:spPr>
        <p:txBody>
          <a:bodyPr wrap="square">
            <a:spAutoFit/>
          </a:bodyPr>
          <a:lstStyle/>
          <a:p>
            <a:pPr algn="l"/>
            <a:r>
              <a:rPr sz="1000" b="1" i="0">
                <a:solidFill>
                  <a:srgbClr val="00B4D8"/>
                </a:solidFill>
              </a:rPr>
              <a:t>Duplicate rows</a:t>
            </a:r>
          </a:p>
        </p:txBody>
      </p:sp>
      <p:sp>
        <p:nvSpPr>
          <p:cNvPr id="24" name="TextBox 23"/>
          <p:cNvSpPr txBox="1"/>
          <p:nvPr/>
        </p:nvSpPr>
        <p:spPr>
          <a:xfrm>
            <a:off x="2788920" y="5577839"/>
            <a:ext cx="8412480" cy="237744"/>
          </a:xfrm>
          <a:prstGeom prst="rect">
            <a:avLst/>
          </a:prstGeom>
          <a:noFill/>
        </p:spPr>
        <p:txBody>
          <a:bodyPr wrap="square">
            <a:spAutoFit/>
          </a:bodyPr>
          <a:lstStyle/>
          <a:p>
            <a:pPr algn="l"/>
            <a:r>
              <a:rPr sz="1000" b="0" i="0">
                <a:solidFill>
                  <a:srgbClr val="E8F4F8"/>
                </a:solidFill>
              </a:rPr>
              <a:t>Cross-field check, prevents repeated identical obs.</a:t>
            </a:r>
          </a:p>
        </p:txBody>
      </p:sp>
      <p:sp>
        <p:nvSpPr>
          <p:cNvPr id="25" name="Rectangle 24"/>
          <p:cNvSpPr/>
          <p:nvPr/>
        </p:nvSpPr>
        <p:spPr>
          <a:xfrm>
            <a:off x="256032" y="5833871"/>
            <a:ext cx="11658600" cy="269748"/>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7472" y="5852159"/>
            <a:ext cx="2286000" cy="237744"/>
          </a:xfrm>
          <a:prstGeom prst="rect">
            <a:avLst/>
          </a:prstGeom>
          <a:noFill/>
        </p:spPr>
        <p:txBody>
          <a:bodyPr wrap="square">
            <a:spAutoFit/>
          </a:bodyPr>
          <a:lstStyle/>
          <a:p>
            <a:pPr algn="l"/>
            <a:r>
              <a:rPr sz="1000" b="1" i="0">
                <a:solidFill>
                  <a:srgbClr val="00B4D8"/>
                </a:solidFill>
              </a:rPr>
              <a:t>Coordinate bounds</a:t>
            </a:r>
          </a:p>
        </p:txBody>
      </p:sp>
      <p:sp>
        <p:nvSpPr>
          <p:cNvPr id="27" name="TextBox 26"/>
          <p:cNvSpPr txBox="1"/>
          <p:nvPr/>
        </p:nvSpPr>
        <p:spPr>
          <a:xfrm>
            <a:off x="2788920" y="5852159"/>
            <a:ext cx="8412480" cy="237744"/>
          </a:xfrm>
          <a:prstGeom prst="rect">
            <a:avLst/>
          </a:prstGeom>
          <a:noFill/>
        </p:spPr>
        <p:txBody>
          <a:bodyPr wrap="square">
            <a:spAutoFit/>
          </a:bodyPr>
          <a:lstStyle/>
          <a:p>
            <a:pPr algn="l"/>
            <a:r>
              <a:rPr sz="1000" b="0" i="0">
                <a:solidFill>
                  <a:srgbClr val="E8F4F8"/>
                </a:solidFill>
              </a:rPr>
              <a:t>Latitude/longitude must fall within the region bounding box</a:t>
            </a:r>
          </a:p>
        </p:txBody>
      </p:sp>
      <p:sp>
        <p:nvSpPr>
          <p:cNvPr id="28" name="Rectangle 27"/>
          <p:cNvSpPr/>
          <p:nvPr/>
        </p:nvSpPr>
        <p:spPr>
          <a:xfrm>
            <a:off x="256032" y="6108191"/>
            <a:ext cx="11658600" cy="269748"/>
          </a:xfrm>
          <a:prstGeom prst="rect">
            <a:avLst/>
          </a:prstGeom>
          <a:solidFill>
            <a:srgbClr val="12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7472" y="6126479"/>
            <a:ext cx="2286000" cy="237744"/>
          </a:xfrm>
          <a:prstGeom prst="rect">
            <a:avLst/>
          </a:prstGeom>
          <a:noFill/>
        </p:spPr>
        <p:txBody>
          <a:bodyPr wrap="square">
            <a:spAutoFit/>
          </a:bodyPr>
          <a:lstStyle/>
          <a:p>
            <a:pPr algn="l"/>
            <a:r>
              <a:rPr sz="1000" b="1" i="0">
                <a:solidFill>
                  <a:srgbClr val="00B4D8"/>
                </a:solidFill>
              </a:rPr>
              <a:t>Target labels</a:t>
            </a:r>
          </a:p>
        </p:txBody>
      </p:sp>
      <p:sp>
        <p:nvSpPr>
          <p:cNvPr id="30" name="TextBox 29"/>
          <p:cNvSpPr txBox="1"/>
          <p:nvPr/>
        </p:nvSpPr>
        <p:spPr>
          <a:xfrm>
            <a:off x="2788920" y="6126479"/>
            <a:ext cx="8412480" cy="237744"/>
          </a:xfrm>
          <a:prstGeom prst="rect">
            <a:avLst/>
          </a:prstGeom>
          <a:noFill/>
        </p:spPr>
        <p:txBody>
          <a:bodyPr wrap="square">
            <a:spAutoFit/>
          </a:bodyPr>
          <a:lstStyle/>
          <a:p>
            <a:pPr algn="l"/>
            <a:r>
              <a:rPr sz="1000" b="0" i="0">
                <a:solidFill>
                  <a:srgbClr val="E8F4F8"/>
                </a:solidFill>
              </a:rPr>
              <a:t>reef_health must be one of 4 valid classes; restoration one of 3</a:t>
            </a:r>
          </a:p>
        </p:txBody>
      </p:sp>
      <p:sp>
        <p:nvSpPr>
          <p:cNvPr id="31" name="Rectangle 30"/>
          <p:cNvSpPr/>
          <p:nvPr/>
        </p:nvSpPr>
        <p:spPr>
          <a:xfrm>
            <a:off x="256032" y="6382511"/>
            <a:ext cx="11658600" cy="269748"/>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7472" y="6400799"/>
            <a:ext cx="2286000" cy="237744"/>
          </a:xfrm>
          <a:prstGeom prst="rect">
            <a:avLst/>
          </a:prstGeom>
          <a:noFill/>
        </p:spPr>
        <p:txBody>
          <a:bodyPr wrap="square">
            <a:spAutoFit/>
          </a:bodyPr>
          <a:lstStyle/>
          <a:p>
            <a:pPr algn="l"/>
            <a:r>
              <a:rPr sz="1000" b="1" i="0">
                <a:solidFill>
                  <a:srgbClr val="00B4D8"/>
                </a:solidFill>
              </a:rPr>
              <a:t>Pipeline action</a:t>
            </a:r>
          </a:p>
        </p:txBody>
      </p:sp>
      <p:sp>
        <p:nvSpPr>
          <p:cNvPr id="33" name="TextBox 32"/>
          <p:cNvSpPr txBox="1"/>
          <p:nvPr/>
        </p:nvSpPr>
        <p:spPr>
          <a:xfrm>
            <a:off x="2788920" y="6400799"/>
            <a:ext cx="8412480" cy="237744"/>
          </a:xfrm>
          <a:prstGeom prst="rect">
            <a:avLst/>
          </a:prstGeom>
          <a:noFill/>
        </p:spPr>
        <p:txBody>
          <a:bodyPr wrap="square">
            <a:spAutoFit/>
          </a:bodyPr>
          <a:lstStyle/>
          <a:p>
            <a:pPr algn="l"/>
            <a:r>
              <a:rPr sz="1000" b="0" i="0">
                <a:solidFill>
                  <a:srgbClr val="E8F4F8"/>
                </a:solidFill>
              </a:rPr>
              <a:t>Validation failure stops the DVC pipeline — no training occurs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1224"/>
        </a:solidFill>
        <a:effectLst/>
      </p:bgPr>
    </p:bg>
    <p:spTree>
      <p:nvGrpSpPr>
        <p:cNvPr id="1" name=""/>
        <p:cNvGrpSpPr/>
        <p:nvPr/>
      </p:nvGrpSpPr>
      <p:grpSpPr/>
      <p:sp>
        <p:nvSpPr>
          <p:cNvPr id="2" name="Rectangle 1"/>
          <p:cNvSpPr/>
          <p:nvPr/>
        </p:nvSpPr>
        <p:spPr>
          <a:xfrm>
            <a:off x="0" y="0"/>
            <a:ext cx="12188952" cy="1024128"/>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37160"/>
            <a:ext cx="11430000" cy="594360"/>
          </a:xfrm>
          <a:prstGeom prst="rect">
            <a:avLst/>
          </a:prstGeom>
          <a:noFill/>
        </p:spPr>
        <p:txBody>
          <a:bodyPr wrap="square">
            <a:spAutoFit/>
          </a:bodyPr>
          <a:lstStyle/>
          <a:p>
            <a:pPr algn="l"/>
            <a:r>
              <a:rPr sz="2400" b="1" i="0">
                <a:solidFill>
                  <a:srgbClr val="00B4D8"/>
                </a:solidFill>
              </a:rPr>
              <a:t>Preprocessing and Feature Transformation</a:t>
            </a:r>
          </a:p>
        </p:txBody>
      </p:sp>
      <p:sp>
        <p:nvSpPr>
          <p:cNvPr id="4" name="TextBox 3"/>
          <p:cNvSpPr txBox="1"/>
          <p:nvPr/>
        </p:nvSpPr>
        <p:spPr>
          <a:xfrm>
            <a:off x="320040" y="658368"/>
            <a:ext cx="11430000" cy="320040"/>
          </a:xfrm>
          <a:prstGeom prst="rect">
            <a:avLst/>
          </a:prstGeom>
          <a:noFill/>
        </p:spPr>
        <p:txBody>
          <a:bodyPr wrap="square">
            <a:spAutoFit/>
          </a:bodyPr>
          <a:lstStyle/>
          <a:p>
            <a:pPr algn="l"/>
            <a:r>
              <a:rPr sz="1200" b="0" i="0">
                <a:solidFill>
                  <a:srgbClr val="8AB4C8"/>
                </a:solidFill>
              </a:rPr>
              <a:t>Training-only preprocessor fitting — preventing test-data leakage</a:t>
            </a:r>
          </a:p>
        </p:txBody>
      </p:sp>
      <p:sp>
        <p:nvSpPr>
          <p:cNvPr id="5" name="Rectangle 4"/>
          <p:cNvSpPr/>
          <p:nvPr/>
        </p:nvSpPr>
        <p:spPr>
          <a:xfrm>
            <a:off x="0" y="1024128"/>
            <a:ext cx="12188952" cy="27432"/>
          </a:xfrm>
          <a:prstGeom prst="rect">
            <a:avLst/>
          </a:prstGeom>
          <a:solidFill>
            <a:srgbClr val="1B8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65392"/>
            <a:ext cx="12188952" cy="36576"/>
          </a:xfrm>
          <a:prstGeom prst="rect">
            <a:avLst/>
          </a:prstGeom>
          <a:solidFill>
            <a:srgbClr val="1B8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01968"/>
            <a:ext cx="8229600" cy="228600"/>
          </a:xfrm>
          <a:prstGeom prst="rect">
            <a:avLst/>
          </a:prstGeom>
          <a:noFill/>
        </p:spPr>
        <p:txBody>
          <a:bodyPr wrap="square">
            <a:spAutoFit/>
          </a:bodyPr>
          <a:lstStyle/>
          <a:p>
            <a:pPr algn="l"/>
            <a:r>
              <a:rPr sz="900" b="0" i="0">
                <a:solidFill>
                  <a:srgbClr val="8AB4C8"/>
                </a:solidFill>
              </a:rPr>
              <a:t>Oceanographic Reef Prediction Framework</a:t>
            </a:r>
          </a:p>
        </p:txBody>
      </p:sp>
      <p:sp>
        <p:nvSpPr>
          <p:cNvPr id="8" name="TextBox 7"/>
          <p:cNvSpPr txBox="1"/>
          <p:nvPr/>
        </p:nvSpPr>
        <p:spPr>
          <a:xfrm>
            <a:off x="11247120" y="6601968"/>
            <a:ext cx="731520" cy="228600"/>
          </a:xfrm>
          <a:prstGeom prst="rect">
            <a:avLst/>
          </a:prstGeom>
          <a:noFill/>
        </p:spPr>
        <p:txBody>
          <a:bodyPr wrap="square">
            <a:spAutoFit/>
          </a:bodyPr>
          <a:lstStyle/>
          <a:p>
            <a:pPr algn="r"/>
            <a:r>
              <a:rPr sz="900" b="0" i="0">
                <a:solidFill>
                  <a:srgbClr val="8AB4C8"/>
                </a:solidFill>
              </a:rPr>
              <a:t>7</a:t>
            </a:r>
          </a:p>
        </p:txBody>
      </p:sp>
      <p:pic>
        <p:nvPicPr>
          <p:cNvPr id="9" name="Picture 8" descr="image.png"/>
          <p:cNvPicPr>
            <a:picLocks noChangeAspect="1"/>
          </p:cNvPicPr>
          <p:nvPr/>
        </p:nvPicPr>
        <p:blipFill>
          <a:blip r:embed="rId2"/>
          <a:stretch>
            <a:fillRect/>
          </a:stretch>
        </p:blipFill>
        <p:spPr>
          <a:xfrm>
            <a:off x="228600" y="1115568"/>
            <a:ext cx="11750040" cy="3474720"/>
          </a:xfrm>
          <a:prstGeom prst="rect">
            <a:avLst/>
          </a:prstGeom>
        </p:spPr>
      </p:pic>
      <p:sp>
        <p:nvSpPr>
          <p:cNvPr id="10" name="Rectangle 9"/>
          <p:cNvSpPr/>
          <p:nvPr/>
        </p:nvSpPr>
        <p:spPr>
          <a:xfrm>
            <a:off x="256032" y="4709160"/>
            <a:ext cx="5577840" cy="1536192"/>
          </a:xfrm>
          <a:prstGeom prst="rect">
            <a:avLst/>
          </a:prstGeom>
          <a:solidFill>
            <a:srgbClr val="122A4A"/>
          </a:solidFill>
          <a:ln w="1016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3192" y="4773168"/>
            <a:ext cx="5303520" cy="292608"/>
          </a:xfrm>
          <a:prstGeom prst="rect">
            <a:avLst/>
          </a:prstGeom>
          <a:noFill/>
        </p:spPr>
        <p:txBody>
          <a:bodyPr wrap="square">
            <a:spAutoFit/>
          </a:bodyPr>
          <a:lstStyle/>
          <a:p>
            <a:pPr algn="l"/>
            <a:r>
              <a:rPr sz="1100" b="1" i="0">
                <a:solidFill>
                  <a:srgbClr val="00B4D8"/>
                </a:solidFill>
              </a:rPr>
              <a:t>Numerical Pipeline (15 features)</a:t>
            </a:r>
          </a:p>
        </p:txBody>
      </p:sp>
      <p:sp>
        <p:nvSpPr>
          <p:cNvPr id="12" name="TextBox 11"/>
          <p:cNvSpPr txBox="1"/>
          <p:nvPr/>
        </p:nvSpPr>
        <p:spPr>
          <a:xfrm>
            <a:off x="393192" y="5102352"/>
            <a:ext cx="5303520" cy="237744"/>
          </a:xfrm>
          <a:prstGeom prst="rect">
            <a:avLst/>
          </a:prstGeom>
          <a:noFill/>
        </p:spPr>
        <p:txBody>
          <a:bodyPr wrap="square">
            <a:spAutoFit/>
          </a:bodyPr>
          <a:lstStyle/>
          <a:p>
            <a:pPr algn="l"/>
            <a:r>
              <a:rPr sz="950" b="0" i="0">
                <a:solidFill>
                  <a:srgbClr val="E8F4F8"/>
                </a:solidFill>
              </a:rPr>
              <a:t>1. SimpleImputer — median strategy (robust to skew)</a:t>
            </a:r>
          </a:p>
        </p:txBody>
      </p:sp>
      <p:sp>
        <p:nvSpPr>
          <p:cNvPr id="13" name="TextBox 12"/>
          <p:cNvSpPr txBox="1"/>
          <p:nvPr/>
        </p:nvSpPr>
        <p:spPr>
          <a:xfrm>
            <a:off x="393192" y="5335524"/>
            <a:ext cx="5303520" cy="237744"/>
          </a:xfrm>
          <a:prstGeom prst="rect">
            <a:avLst/>
          </a:prstGeom>
          <a:noFill/>
        </p:spPr>
        <p:txBody>
          <a:bodyPr wrap="square">
            <a:spAutoFit/>
          </a:bodyPr>
          <a:lstStyle/>
          <a:p>
            <a:pPr algn="l"/>
            <a:r>
              <a:rPr sz="950" b="0" i="0">
                <a:solidFill>
                  <a:srgbClr val="E8F4F8"/>
                </a:solidFill>
              </a:rPr>
              <a:t>2. StandardScaler — zero mean, unit variance</a:t>
            </a:r>
          </a:p>
        </p:txBody>
      </p:sp>
      <p:sp>
        <p:nvSpPr>
          <p:cNvPr id="14" name="TextBox 13"/>
          <p:cNvSpPr txBox="1"/>
          <p:nvPr/>
        </p:nvSpPr>
        <p:spPr>
          <a:xfrm>
            <a:off x="393192" y="5568696"/>
            <a:ext cx="5303520" cy="237744"/>
          </a:xfrm>
          <a:prstGeom prst="rect">
            <a:avLst/>
          </a:prstGeom>
          <a:noFill/>
        </p:spPr>
        <p:txBody>
          <a:bodyPr wrap="square">
            <a:spAutoFit/>
          </a:bodyPr>
          <a:lstStyle/>
          <a:p>
            <a:pPr algn="l"/>
            <a:r>
              <a:rPr sz="950" b="0" i="0">
                <a:solidFill>
                  <a:srgbClr val="E8F4F8"/>
                </a:solidFill>
              </a:rPr>
              <a:t>Handles: depth, temperature, pH, salinity, DO,</a:t>
            </a:r>
          </a:p>
        </p:txBody>
      </p:sp>
      <p:sp>
        <p:nvSpPr>
          <p:cNvPr id="15" name="TextBox 14"/>
          <p:cNvSpPr txBox="1"/>
          <p:nvPr/>
        </p:nvSpPr>
        <p:spPr>
          <a:xfrm>
            <a:off x="393192" y="5801868"/>
            <a:ext cx="5303520" cy="237744"/>
          </a:xfrm>
          <a:prstGeom prst="rect">
            <a:avLst/>
          </a:prstGeom>
          <a:noFill/>
        </p:spPr>
        <p:txBody>
          <a:bodyPr wrap="square">
            <a:spAutoFit/>
          </a:bodyPr>
          <a:lstStyle/>
          <a:p>
            <a:pPr algn="l"/>
            <a:r>
              <a:rPr sz="950" b="0" i="0">
                <a:solidFill>
                  <a:srgbClr val="E8F4F8"/>
                </a:solidFill>
              </a:rPr>
              <a:t>turbidity, light, current, sonar, rugosity,</a:t>
            </a:r>
          </a:p>
        </p:txBody>
      </p:sp>
      <p:sp>
        <p:nvSpPr>
          <p:cNvPr id="16" name="TextBox 15"/>
          <p:cNvSpPr txBox="1"/>
          <p:nvPr/>
        </p:nvSpPr>
        <p:spPr>
          <a:xfrm>
            <a:off x="393192" y="6035040"/>
            <a:ext cx="5303520" cy="237744"/>
          </a:xfrm>
          <a:prstGeom prst="rect">
            <a:avLst/>
          </a:prstGeom>
          <a:noFill/>
        </p:spPr>
        <p:txBody>
          <a:bodyPr wrap="square">
            <a:spAutoFit/>
          </a:bodyPr>
          <a:lstStyle/>
          <a:p>
            <a:pPr algn="l"/>
            <a:r>
              <a:rPr sz="950" b="0" i="0">
                <a:solidFill>
                  <a:srgbClr val="E8F4F8"/>
                </a:solidFill>
              </a:rPr>
              <a:t>hard_substrate, ACI, coral cover, bleaching, disease</a:t>
            </a:r>
          </a:p>
        </p:txBody>
      </p:sp>
      <p:sp>
        <p:nvSpPr>
          <p:cNvPr id="17" name="Rectangle 16"/>
          <p:cNvSpPr/>
          <p:nvPr/>
        </p:nvSpPr>
        <p:spPr>
          <a:xfrm>
            <a:off x="6080760" y="4709160"/>
            <a:ext cx="5577840" cy="1536192"/>
          </a:xfrm>
          <a:prstGeom prst="rect">
            <a:avLst/>
          </a:prstGeom>
          <a:solidFill>
            <a:srgbClr val="122A4A"/>
          </a:solidFill>
          <a:ln w="10160">
            <a:solidFill>
              <a:srgbClr val="1B8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0" y="4773168"/>
            <a:ext cx="5303520" cy="292608"/>
          </a:xfrm>
          <a:prstGeom prst="rect">
            <a:avLst/>
          </a:prstGeom>
          <a:noFill/>
        </p:spPr>
        <p:txBody>
          <a:bodyPr wrap="square">
            <a:spAutoFit/>
          </a:bodyPr>
          <a:lstStyle/>
          <a:p>
            <a:pPr algn="l"/>
            <a:r>
              <a:rPr sz="1100" b="1" i="0">
                <a:solidFill>
                  <a:srgbClr val="1B8A8F"/>
                </a:solidFill>
              </a:rPr>
              <a:t>Categorical Pipeline (1 feature: region)</a:t>
            </a:r>
          </a:p>
        </p:txBody>
      </p:sp>
      <p:sp>
        <p:nvSpPr>
          <p:cNvPr id="19" name="TextBox 18"/>
          <p:cNvSpPr txBox="1"/>
          <p:nvPr/>
        </p:nvSpPr>
        <p:spPr>
          <a:xfrm>
            <a:off x="6217920" y="5102352"/>
            <a:ext cx="5303520" cy="237744"/>
          </a:xfrm>
          <a:prstGeom prst="rect">
            <a:avLst/>
          </a:prstGeom>
          <a:noFill/>
        </p:spPr>
        <p:txBody>
          <a:bodyPr wrap="square">
            <a:spAutoFit/>
          </a:bodyPr>
          <a:lstStyle/>
          <a:p>
            <a:pPr algn="l"/>
            <a:r>
              <a:rPr sz="950" b="0" i="0">
                <a:solidFill>
                  <a:srgbClr val="E8F4F8"/>
                </a:solidFill>
              </a:rPr>
              <a:t>1. SimpleImputer — most_frequent strategy</a:t>
            </a:r>
          </a:p>
        </p:txBody>
      </p:sp>
      <p:sp>
        <p:nvSpPr>
          <p:cNvPr id="20" name="TextBox 19"/>
          <p:cNvSpPr txBox="1"/>
          <p:nvPr/>
        </p:nvSpPr>
        <p:spPr>
          <a:xfrm>
            <a:off x="6217920" y="5335524"/>
            <a:ext cx="5303520" cy="237744"/>
          </a:xfrm>
          <a:prstGeom prst="rect">
            <a:avLst/>
          </a:prstGeom>
          <a:noFill/>
        </p:spPr>
        <p:txBody>
          <a:bodyPr wrap="square">
            <a:spAutoFit/>
          </a:bodyPr>
          <a:lstStyle/>
          <a:p>
            <a:pPr algn="l"/>
            <a:r>
              <a:rPr sz="950" b="0" i="0">
                <a:solidFill>
                  <a:srgbClr val="E8F4F8"/>
                </a:solidFill>
              </a:rPr>
              <a:t>2. OneHotEncoder — 4 region values</a:t>
            </a:r>
          </a:p>
        </p:txBody>
      </p:sp>
      <p:sp>
        <p:nvSpPr>
          <p:cNvPr id="21" name="TextBox 20"/>
          <p:cNvSpPr txBox="1"/>
          <p:nvPr/>
        </p:nvSpPr>
        <p:spPr>
          <a:xfrm>
            <a:off x="6217920" y="5568696"/>
            <a:ext cx="5303520" cy="237744"/>
          </a:xfrm>
          <a:prstGeom prst="rect">
            <a:avLst/>
          </a:prstGeom>
          <a:noFill/>
        </p:spPr>
        <p:txBody>
          <a:bodyPr wrap="square">
            <a:spAutoFit/>
          </a:bodyPr>
          <a:lstStyle/>
          <a:p>
            <a:pPr algn="l"/>
            <a:r>
              <a:rPr sz="950" b="0" i="0">
                <a:solidFill>
                  <a:srgbClr val="E8F4F8"/>
                </a:solidFill>
              </a:rPr>
              <a:t>   Lakshadweep, Gulf of Mannar,</a:t>
            </a:r>
          </a:p>
        </p:txBody>
      </p:sp>
      <p:sp>
        <p:nvSpPr>
          <p:cNvPr id="22" name="TextBox 21"/>
          <p:cNvSpPr txBox="1"/>
          <p:nvPr/>
        </p:nvSpPr>
        <p:spPr>
          <a:xfrm>
            <a:off x="6217920" y="5801868"/>
            <a:ext cx="5303520" cy="237744"/>
          </a:xfrm>
          <a:prstGeom prst="rect">
            <a:avLst/>
          </a:prstGeom>
          <a:noFill/>
        </p:spPr>
        <p:txBody>
          <a:bodyPr wrap="square">
            <a:spAutoFit/>
          </a:bodyPr>
          <a:lstStyle/>
          <a:p>
            <a:pPr algn="l"/>
            <a:r>
              <a:rPr sz="950" b="0" i="0">
                <a:solidFill>
                  <a:srgbClr val="E8F4F8"/>
                </a:solidFill>
              </a:rPr>
              <a:t>   Gulf of Kutch, Andaman &amp; Nicobar Islands</a:t>
            </a:r>
          </a:p>
        </p:txBody>
      </p:sp>
      <p:sp>
        <p:nvSpPr>
          <p:cNvPr id="23" name="TextBox 22"/>
          <p:cNvSpPr txBox="1"/>
          <p:nvPr/>
        </p:nvSpPr>
        <p:spPr>
          <a:xfrm>
            <a:off x="6217920" y="6035040"/>
            <a:ext cx="5303520" cy="237744"/>
          </a:xfrm>
          <a:prstGeom prst="rect">
            <a:avLst/>
          </a:prstGeom>
          <a:noFill/>
        </p:spPr>
        <p:txBody>
          <a:bodyPr wrap="square">
            <a:spAutoFit/>
          </a:bodyPr>
          <a:lstStyle/>
          <a:p>
            <a:pPr algn="l"/>
            <a:r>
              <a:rPr sz="950" b="0" i="0">
                <a:solidFill>
                  <a:srgbClr val="E8F4F8"/>
                </a:solidFill>
              </a:rPr>
              <a:t>handle_unknown='ignore' for inference safety</a:t>
            </a:r>
          </a:p>
        </p:txBody>
      </p:sp>
      <p:sp>
        <p:nvSpPr>
          <p:cNvPr id="24" name="Rectangle 23"/>
          <p:cNvSpPr/>
          <p:nvPr/>
        </p:nvSpPr>
        <p:spPr>
          <a:xfrm>
            <a:off x="256032" y="6318504"/>
            <a:ext cx="11658600" cy="320040"/>
          </a:xfrm>
          <a:prstGeom prst="rect">
            <a:avLst/>
          </a:prstGeom>
          <a:solidFill>
            <a:srgbClr val="143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472" y="6336792"/>
            <a:ext cx="11475720" cy="274320"/>
          </a:xfrm>
          <a:prstGeom prst="rect">
            <a:avLst/>
          </a:prstGeom>
          <a:noFill/>
        </p:spPr>
        <p:txBody>
          <a:bodyPr wrap="square">
            <a:spAutoFit/>
          </a:bodyPr>
          <a:lstStyle/>
          <a:p>
            <a:pPr algn="l"/>
            <a:r>
              <a:rPr sz="1000" b="1" i="0">
                <a:solidFill>
                  <a:srgbClr val="FF6B35"/>
                </a:solidFill>
              </a:rPr>
              <a:t>Preprocessor fitted on training split ONLY — test data statistics never influence scaling parameters.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1224"/>
        </a:solidFill>
        <a:effectLst/>
      </p:bgPr>
    </p:bg>
    <p:spTree>
      <p:nvGrpSpPr>
        <p:cNvPr id="1" name=""/>
        <p:cNvGrpSpPr/>
        <p:nvPr/>
      </p:nvGrpSpPr>
      <p:grpSpPr/>
      <p:sp>
        <p:nvSpPr>
          <p:cNvPr id="2" name="Rectangle 1"/>
          <p:cNvSpPr/>
          <p:nvPr/>
        </p:nvSpPr>
        <p:spPr>
          <a:xfrm>
            <a:off x="0" y="0"/>
            <a:ext cx="12188952" cy="1024128"/>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37160"/>
            <a:ext cx="11430000" cy="594360"/>
          </a:xfrm>
          <a:prstGeom prst="rect">
            <a:avLst/>
          </a:prstGeom>
          <a:noFill/>
        </p:spPr>
        <p:txBody>
          <a:bodyPr wrap="square">
            <a:spAutoFit/>
          </a:bodyPr>
          <a:lstStyle/>
          <a:p>
            <a:pPr algn="l"/>
            <a:r>
              <a:rPr sz="2400" b="1" i="0">
                <a:solidFill>
                  <a:srgbClr val="00B4D8"/>
                </a:solidFill>
              </a:rPr>
              <a:t>Model Training Design</a:t>
            </a:r>
          </a:p>
        </p:txBody>
      </p:sp>
      <p:sp>
        <p:nvSpPr>
          <p:cNvPr id="4" name="TextBox 3"/>
          <p:cNvSpPr txBox="1"/>
          <p:nvPr/>
        </p:nvSpPr>
        <p:spPr>
          <a:xfrm>
            <a:off x="320040" y="658368"/>
            <a:ext cx="11430000" cy="320040"/>
          </a:xfrm>
          <a:prstGeom prst="rect">
            <a:avLst/>
          </a:prstGeom>
          <a:noFill/>
        </p:spPr>
        <p:txBody>
          <a:bodyPr wrap="square">
            <a:spAutoFit/>
          </a:bodyPr>
          <a:lstStyle/>
          <a:p>
            <a:pPr algn="l"/>
            <a:r>
              <a:rPr sz="1200" b="0" i="0">
                <a:solidFill>
                  <a:srgbClr val="8AB4C8"/>
                </a:solidFill>
              </a:rPr>
              <a:t>Three algorithms, two tasks, five-fold cross-validation — tracked in MLflow</a:t>
            </a:r>
          </a:p>
        </p:txBody>
      </p:sp>
      <p:sp>
        <p:nvSpPr>
          <p:cNvPr id="5" name="Rectangle 4"/>
          <p:cNvSpPr/>
          <p:nvPr/>
        </p:nvSpPr>
        <p:spPr>
          <a:xfrm>
            <a:off x="0" y="1024128"/>
            <a:ext cx="12188952" cy="27432"/>
          </a:xfrm>
          <a:prstGeom prst="rect">
            <a:avLst/>
          </a:prstGeom>
          <a:solidFill>
            <a:srgbClr val="1B8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65392"/>
            <a:ext cx="12188952" cy="36576"/>
          </a:xfrm>
          <a:prstGeom prst="rect">
            <a:avLst/>
          </a:prstGeom>
          <a:solidFill>
            <a:srgbClr val="1B8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01968"/>
            <a:ext cx="8229600" cy="228600"/>
          </a:xfrm>
          <a:prstGeom prst="rect">
            <a:avLst/>
          </a:prstGeom>
          <a:noFill/>
        </p:spPr>
        <p:txBody>
          <a:bodyPr wrap="square">
            <a:spAutoFit/>
          </a:bodyPr>
          <a:lstStyle/>
          <a:p>
            <a:pPr algn="l"/>
            <a:r>
              <a:rPr sz="900" b="0" i="0">
                <a:solidFill>
                  <a:srgbClr val="8AB4C8"/>
                </a:solidFill>
              </a:rPr>
              <a:t>Oceanographic Reef Prediction Framework</a:t>
            </a:r>
          </a:p>
        </p:txBody>
      </p:sp>
      <p:sp>
        <p:nvSpPr>
          <p:cNvPr id="8" name="TextBox 7"/>
          <p:cNvSpPr txBox="1"/>
          <p:nvPr/>
        </p:nvSpPr>
        <p:spPr>
          <a:xfrm>
            <a:off x="11247120" y="6601968"/>
            <a:ext cx="731520" cy="228600"/>
          </a:xfrm>
          <a:prstGeom prst="rect">
            <a:avLst/>
          </a:prstGeom>
          <a:noFill/>
        </p:spPr>
        <p:txBody>
          <a:bodyPr wrap="square">
            <a:spAutoFit/>
          </a:bodyPr>
          <a:lstStyle/>
          <a:p>
            <a:pPr algn="r"/>
            <a:r>
              <a:rPr sz="900" b="0" i="0">
                <a:solidFill>
                  <a:srgbClr val="8AB4C8"/>
                </a:solidFill>
              </a:rPr>
              <a:t>8</a:t>
            </a:r>
          </a:p>
        </p:txBody>
      </p:sp>
      <p:sp>
        <p:nvSpPr>
          <p:cNvPr id="9" name="Rectangle 8"/>
          <p:cNvSpPr/>
          <p:nvPr/>
        </p:nvSpPr>
        <p:spPr>
          <a:xfrm>
            <a:off x="274320" y="1170432"/>
            <a:ext cx="3657600" cy="3657600"/>
          </a:xfrm>
          <a:prstGeom prst="rect">
            <a:avLst/>
          </a:prstGeom>
          <a:solidFill>
            <a:srgbClr val="122A4A"/>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170432"/>
            <a:ext cx="3657600" cy="3840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188720"/>
            <a:ext cx="3474720" cy="347472"/>
          </a:xfrm>
          <a:prstGeom prst="rect">
            <a:avLst/>
          </a:prstGeom>
          <a:noFill/>
        </p:spPr>
        <p:txBody>
          <a:bodyPr wrap="square">
            <a:spAutoFit/>
          </a:bodyPr>
          <a:lstStyle/>
          <a:p>
            <a:pPr algn="ctr"/>
            <a:r>
              <a:rPr sz="1250" b="1" i="0">
                <a:solidFill>
                  <a:srgbClr val="081224"/>
                </a:solidFill>
              </a:rPr>
              <a:t>Logistic Regression</a:t>
            </a:r>
          </a:p>
        </p:txBody>
      </p:sp>
      <p:sp>
        <p:nvSpPr>
          <p:cNvPr id="12" name="TextBox 11"/>
          <p:cNvSpPr txBox="1"/>
          <p:nvPr/>
        </p:nvSpPr>
        <p:spPr>
          <a:xfrm>
            <a:off x="365760" y="1609344"/>
            <a:ext cx="3474720" cy="256032"/>
          </a:xfrm>
          <a:prstGeom prst="rect">
            <a:avLst/>
          </a:prstGeom>
          <a:noFill/>
        </p:spPr>
        <p:txBody>
          <a:bodyPr wrap="square">
            <a:spAutoFit/>
          </a:bodyPr>
          <a:lstStyle/>
          <a:p>
            <a:pPr algn="l"/>
            <a:r>
              <a:rPr sz="950" b="1" i="0">
                <a:solidFill>
                  <a:srgbClr val="8AB4C8"/>
                </a:solidFill>
              </a:rPr>
              <a:t>Hyperparameters (params.yaml):</a:t>
            </a:r>
          </a:p>
        </p:txBody>
      </p:sp>
      <p:sp>
        <p:nvSpPr>
          <p:cNvPr id="13" name="TextBox 12"/>
          <p:cNvSpPr txBox="1"/>
          <p:nvPr/>
        </p:nvSpPr>
        <p:spPr>
          <a:xfrm>
            <a:off x="438912" y="1901952"/>
            <a:ext cx="3401568" cy="246888"/>
          </a:xfrm>
          <a:prstGeom prst="rect">
            <a:avLst/>
          </a:prstGeom>
          <a:noFill/>
        </p:spPr>
        <p:txBody>
          <a:bodyPr wrap="square">
            <a:spAutoFit/>
          </a:bodyPr>
          <a:lstStyle/>
          <a:p>
            <a:pPr algn="l"/>
            <a:r>
              <a:rPr sz="1000" b="0" i="0">
                <a:solidFill>
                  <a:srgbClr val="E8F4F8"/>
                </a:solidFill>
              </a:rPr>
              <a:t>C = 1.0  (regularisation strength)</a:t>
            </a:r>
          </a:p>
        </p:txBody>
      </p:sp>
      <p:sp>
        <p:nvSpPr>
          <p:cNvPr id="14" name="TextBox 13"/>
          <p:cNvSpPr txBox="1"/>
          <p:nvPr/>
        </p:nvSpPr>
        <p:spPr>
          <a:xfrm>
            <a:off x="438912" y="2153412"/>
            <a:ext cx="3401568" cy="246888"/>
          </a:xfrm>
          <a:prstGeom prst="rect">
            <a:avLst/>
          </a:prstGeom>
          <a:noFill/>
        </p:spPr>
        <p:txBody>
          <a:bodyPr wrap="square">
            <a:spAutoFit/>
          </a:bodyPr>
          <a:lstStyle/>
          <a:p>
            <a:pPr algn="l"/>
            <a:r>
              <a:rPr sz="1000" b="0" i="0">
                <a:solidFill>
                  <a:srgbClr val="E8F4F8"/>
                </a:solidFill>
              </a:rPr>
              <a:t>max_iter = 1000</a:t>
            </a:r>
          </a:p>
        </p:txBody>
      </p:sp>
      <p:sp>
        <p:nvSpPr>
          <p:cNvPr id="15" name="TextBox 14"/>
          <p:cNvSpPr txBox="1"/>
          <p:nvPr/>
        </p:nvSpPr>
        <p:spPr>
          <a:xfrm>
            <a:off x="438912" y="2404872"/>
            <a:ext cx="3401568" cy="246888"/>
          </a:xfrm>
          <a:prstGeom prst="rect">
            <a:avLst/>
          </a:prstGeom>
          <a:noFill/>
        </p:spPr>
        <p:txBody>
          <a:bodyPr wrap="square">
            <a:spAutoFit/>
          </a:bodyPr>
          <a:lstStyle/>
          <a:p>
            <a:pPr algn="l"/>
            <a:r>
              <a:rPr sz="1000" b="0" i="0">
                <a:solidFill>
                  <a:srgbClr val="E8F4F8"/>
                </a:solidFill>
              </a:rPr>
              <a:t>class_weight = balanced</a:t>
            </a:r>
          </a:p>
        </p:txBody>
      </p:sp>
      <p:sp>
        <p:nvSpPr>
          <p:cNvPr id="16" name="TextBox 15"/>
          <p:cNvSpPr txBox="1"/>
          <p:nvPr/>
        </p:nvSpPr>
        <p:spPr>
          <a:xfrm>
            <a:off x="438912" y="2656332"/>
            <a:ext cx="3401568" cy="246888"/>
          </a:xfrm>
          <a:prstGeom prst="rect">
            <a:avLst/>
          </a:prstGeom>
          <a:noFill/>
        </p:spPr>
        <p:txBody>
          <a:bodyPr wrap="square">
            <a:spAutoFit/>
          </a:bodyPr>
          <a:lstStyle/>
          <a:p>
            <a:pPr algn="l"/>
            <a:r>
              <a:rPr sz="1000" b="0" i="0">
                <a:solidFill>
                  <a:srgbClr val="E8F4F8"/>
                </a:solidFill>
              </a:rPr>
              <a:t>solver = lbfgs  (default)</a:t>
            </a:r>
          </a:p>
        </p:txBody>
      </p:sp>
      <p:sp>
        <p:nvSpPr>
          <p:cNvPr id="17" name="Rectangle 16"/>
          <p:cNvSpPr/>
          <p:nvPr/>
        </p:nvSpPr>
        <p:spPr>
          <a:xfrm>
            <a:off x="365760" y="2953511"/>
            <a:ext cx="3474720"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3017520"/>
            <a:ext cx="3474720" cy="621792"/>
          </a:xfrm>
          <a:prstGeom prst="rect">
            <a:avLst/>
          </a:prstGeom>
          <a:noFill/>
        </p:spPr>
        <p:txBody>
          <a:bodyPr wrap="square">
            <a:spAutoFit/>
          </a:bodyPr>
          <a:lstStyle/>
          <a:p>
            <a:pPr algn="l"/>
            <a:r>
              <a:rPr sz="950" b="0" i="1">
                <a:solidFill>
                  <a:srgbClr val="8AB4C8"/>
                </a:solidFill>
              </a:rPr>
              <a:t>Strong baseline for linearly separable features. Interpretable coefficients.</a:t>
            </a:r>
          </a:p>
        </p:txBody>
      </p:sp>
      <p:sp>
        <p:nvSpPr>
          <p:cNvPr id="19" name="Rectangle 18"/>
          <p:cNvSpPr/>
          <p:nvPr/>
        </p:nvSpPr>
        <p:spPr>
          <a:xfrm>
            <a:off x="4187952" y="1170432"/>
            <a:ext cx="3657600" cy="3657600"/>
          </a:xfrm>
          <a:prstGeom prst="rect">
            <a:avLst/>
          </a:prstGeom>
          <a:solidFill>
            <a:srgbClr val="122A4A"/>
          </a:solidFill>
          <a:ln w="19050">
            <a:solidFill>
              <a:srgbClr val="1B8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187952" y="1170432"/>
            <a:ext cx="3657600" cy="384048"/>
          </a:xfrm>
          <a:prstGeom prst="rect">
            <a:avLst/>
          </a:prstGeom>
          <a:solidFill>
            <a:srgbClr val="1B8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79392" y="1188720"/>
            <a:ext cx="3474720" cy="347472"/>
          </a:xfrm>
          <a:prstGeom prst="rect">
            <a:avLst/>
          </a:prstGeom>
          <a:noFill/>
        </p:spPr>
        <p:txBody>
          <a:bodyPr wrap="square">
            <a:spAutoFit/>
          </a:bodyPr>
          <a:lstStyle/>
          <a:p>
            <a:pPr algn="ctr"/>
            <a:r>
              <a:rPr sz="1250" b="1" i="0">
                <a:solidFill>
                  <a:srgbClr val="081224"/>
                </a:solidFill>
              </a:rPr>
              <a:t>Random Forest</a:t>
            </a:r>
          </a:p>
        </p:txBody>
      </p:sp>
      <p:sp>
        <p:nvSpPr>
          <p:cNvPr id="22" name="TextBox 21"/>
          <p:cNvSpPr txBox="1"/>
          <p:nvPr/>
        </p:nvSpPr>
        <p:spPr>
          <a:xfrm>
            <a:off x="4279392" y="1609344"/>
            <a:ext cx="3474720" cy="256032"/>
          </a:xfrm>
          <a:prstGeom prst="rect">
            <a:avLst/>
          </a:prstGeom>
          <a:noFill/>
        </p:spPr>
        <p:txBody>
          <a:bodyPr wrap="square">
            <a:spAutoFit/>
          </a:bodyPr>
          <a:lstStyle/>
          <a:p>
            <a:pPr algn="l"/>
            <a:r>
              <a:rPr sz="950" b="1" i="0">
                <a:solidFill>
                  <a:srgbClr val="8AB4C8"/>
                </a:solidFill>
              </a:rPr>
              <a:t>Hyperparameters (params.yaml):</a:t>
            </a:r>
          </a:p>
        </p:txBody>
      </p:sp>
      <p:sp>
        <p:nvSpPr>
          <p:cNvPr id="23" name="TextBox 22"/>
          <p:cNvSpPr txBox="1"/>
          <p:nvPr/>
        </p:nvSpPr>
        <p:spPr>
          <a:xfrm>
            <a:off x="4352544" y="1901952"/>
            <a:ext cx="3401568" cy="246888"/>
          </a:xfrm>
          <a:prstGeom prst="rect">
            <a:avLst/>
          </a:prstGeom>
          <a:noFill/>
        </p:spPr>
        <p:txBody>
          <a:bodyPr wrap="square">
            <a:spAutoFit/>
          </a:bodyPr>
          <a:lstStyle/>
          <a:p>
            <a:pPr algn="l"/>
            <a:r>
              <a:rPr sz="1000" b="0" i="0">
                <a:solidFill>
                  <a:srgbClr val="E8F4F8"/>
                </a:solidFill>
              </a:rPr>
              <a:t>n_estimators = 200</a:t>
            </a:r>
          </a:p>
        </p:txBody>
      </p:sp>
      <p:sp>
        <p:nvSpPr>
          <p:cNvPr id="24" name="TextBox 23"/>
          <p:cNvSpPr txBox="1"/>
          <p:nvPr/>
        </p:nvSpPr>
        <p:spPr>
          <a:xfrm>
            <a:off x="4352544" y="2153412"/>
            <a:ext cx="3401568" cy="246888"/>
          </a:xfrm>
          <a:prstGeom prst="rect">
            <a:avLst/>
          </a:prstGeom>
          <a:noFill/>
        </p:spPr>
        <p:txBody>
          <a:bodyPr wrap="square">
            <a:spAutoFit/>
          </a:bodyPr>
          <a:lstStyle/>
          <a:p>
            <a:pPr algn="l"/>
            <a:r>
              <a:rPr sz="1000" b="0" i="0">
                <a:solidFill>
                  <a:srgbClr val="E8F4F8"/>
                </a:solidFill>
              </a:rPr>
              <a:t>max_depth = 12</a:t>
            </a:r>
          </a:p>
        </p:txBody>
      </p:sp>
      <p:sp>
        <p:nvSpPr>
          <p:cNvPr id="25" name="TextBox 24"/>
          <p:cNvSpPr txBox="1"/>
          <p:nvPr/>
        </p:nvSpPr>
        <p:spPr>
          <a:xfrm>
            <a:off x="4352544" y="2404872"/>
            <a:ext cx="3401568" cy="246888"/>
          </a:xfrm>
          <a:prstGeom prst="rect">
            <a:avLst/>
          </a:prstGeom>
          <a:noFill/>
        </p:spPr>
        <p:txBody>
          <a:bodyPr wrap="square">
            <a:spAutoFit/>
          </a:bodyPr>
          <a:lstStyle/>
          <a:p>
            <a:pPr algn="l"/>
            <a:r>
              <a:rPr sz="1000" b="0" i="0">
                <a:solidFill>
                  <a:srgbClr val="E8F4F8"/>
                </a:solidFill>
              </a:rPr>
              <a:t>min_samples_leaf = 4</a:t>
            </a:r>
          </a:p>
        </p:txBody>
      </p:sp>
      <p:sp>
        <p:nvSpPr>
          <p:cNvPr id="26" name="TextBox 25"/>
          <p:cNvSpPr txBox="1"/>
          <p:nvPr/>
        </p:nvSpPr>
        <p:spPr>
          <a:xfrm>
            <a:off x="4352544" y="2656332"/>
            <a:ext cx="3401568" cy="246888"/>
          </a:xfrm>
          <a:prstGeom prst="rect">
            <a:avLst/>
          </a:prstGeom>
          <a:noFill/>
        </p:spPr>
        <p:txBody>
          <a:bodyPr wrap="square">
            <a:spAutoFit/>
          </a:bodyPr>
          <a:lstStyle/>
          <a:p>
            <a:pPr algn="l"/>
            <a:r>
              <a:rPr sz="1000" b="0" i="0">
                <a:solidFill>
                  <a:srgbClr val="E8F4F8"/>
                </a:solidFill>
              </a:rPr>
              <a:t>class_weight = balanced</a:t>
            </a:r>
          </a:p>
        </p:txBody>
      </p:sp>
      <p:sp>
        <p:nvSpPr>
          <p:cNvPr id="27" name="Rectangle 26"/>
          <p:cNvSpPr/>
          <p:nvPr/>
        </p:nvSpPr>
        <p:spPr>
          <a:xfrm>
            <a:off x="4279392" y="2953511"/>
            <a:ext cx="3474720" cy="22860"/>
          </a:xfrm>
          <a:prstGeom prst="rect">
            <a:avLst/>
          </a:prstGeom>
          <a:solidFill>
            <a:srgbClr val="1B8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79392" y="3017520"/>
            <a:ext cx="3474720" cy="621792"/>
          </a:xfrm>
          <a:prstGeom prst="rect">
            <a:avLst/>
          </a:prstGeom>
          <a:noFill/>
        </p:spPr>
        <p:txBody>
          <a:bodyPr wrap="square">
            <a:spAutoFit/>
          </a:bodyPr>
          <a:lstStyle/>
          <a:p>
            <a:pPr algn="l"/>
            <a:r>
              <a:rPr sz="950" b="0" i="1">
                <a:solidFill>
                  <a:srgbClr val="8AB4C8"/>
                </a:solidFill>
              </a:rPr>
              <a:t>Handles non-linear interactions between sensor readings. Robust to noise.</a:t>
            </a:r>
          </a:p>
        </p:txBody>
      </p:sp>
      <p:sp>
        <p:nvSpPr>
          <p:cNvPr id="29" name="Rectangle 28"/>
          <p:cNvSpPr/>
          <p:nvPr/>
        </p:nvSpPr>
        <p:spPr>
          <a:xfrm>
            <a:off x="8101584" y="1170432"/>
            <a:ext cx="3657600" cy="3657600"/>
          </a:xfrm>
          <a:prstGeom prst="rect">
            <a:avLst/>
          </a:prstGeom>
          <a:solidFill>
            <a:srgbClr val="122A4A"/>
          </a:solidFill>
          <a:ln w="19050">
            <a:solidFill>
              <a:srgbClr val="F4A2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01584" y="1170432"/>
            <a:ext cx="3657600" cy="384048"/>
          </a:xfrm>
          <a:prstGeom prst="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93024" y="1188720"/>
            <a:ext cx="3474720" cy="347472"/>
          </a:xfrm>
          <a:prstGeom prst="rect">
            <a:avLst/>
          </a:prstGeom>
          <a:noFill/>
        </p:spPr>
        <p:txBody>
          <a:bodyPr wrap="square">
            <a:spAutoFit/>
          </a:bodyPr>
          <a:lstStyle/>
          <a:p>
            <a:pPr algn="ctr"/>
            <a:r>
              <a:rPr sz="1250" b="1" i="0">
                <a:solidFill>
                  <a:srgbClr val="081224"/>
                </a:solidFill>
              </a:rPr>
              <a:t>XGBoost</a:t>
            </a:r>
          </a:p>
        </p:txBody>
      </p:sp>
      <p:sp>
        <p:nvSpPr>
          <p:cNvPr id="32" name="TextBox 31"/>
          <p:cNvSpPr txBox="1"/>
          <p:nvPr/>
        </p:nvSpPr>
        <p:spPr>
          <a:xfrm>
            <a:off x="8193024" y="1609344"/>
            <a:ext cx="3474720" cy="256032"/>
          </a:xfrm>
          <a:prstGeom prst="rect">
            <a:avLst/>
          </a:prstGeom>
          <a:noFill/>
        </p:spPr>
        <p:txBody>
          <a:bodyPr wrap="square">
            <a:spAutoFit/>
          </a:bodyPr>
          <a:lstStyle/>
          <a:p>
            <a:pPr algn="l"/>
            <a:r>
              <a:rPr sz="950" b="1" i="0">
                <a:solidFill>
                  <a:srgbClr val="8AB4C8"/>
                </a:solidFill>
              </a:rPr>
              <a:t>Hyperparameters (params.yaml):</a:t>
            </a:r>
          </a:p>
        </p:txBody>
      </p:sp>
      <p:sp>
        <p:nvSpPr>
          <p:cNvPr id="33" name="TextBox 32"/>
          <p:cNvSpPr txBox="1"/>
          <p:nvPr/>
        </p:nvSpPr>
        <p:spPr>
          <a:xfrm>
            <a:off x="8266176" y="1901952"/>
            <a:ext cx="3401568" cy="246888"/>
          </a:xfrm>
          <a:prstGeom prst="rect">
            <a:avLst/>
          </a:prstGeom>
          <a:noFill/>
        </p:spPr>
        <p:txBody>
          <a:bodyPr wrap="square">
            <a:spAutoFit/>
          </a:bodyPr>
          <a:lstStyle/>
          <a:p>
            <a:pPr algn="l"/>
            <a:r>
              <a:rPr sz="1000" b="0" i="0">
                <a:solidFill>
                  <a:srgbClr val="E8F4F8"/>
                </a:solidFill>
              </a:rPr>
              <a:t>n_estimators = 300</a:t>
            </a:r>
          </a:p>
        </p:txBody>
      </p:sp>
      <p:sp>
        <p:nvSpPr>
          <p:cNvPr id="34" name="TextBox 33"/>
          <p:cNvSpPr txBox="1"/>
          <p:nvPr/>
        </p:nvSpPr>
        <p:spPr>
          <a:xfrm>
            <a:off x="8266176" y="2153412"/>
            <a:ext cx="3401568" cy="246888"/>
          </a:xfrm>
          <a:prstGeom prst="rect">
            <a:avLst/>
          </a:prstGeom>
          <a:noFill/>
        </p:spPr>
        <p:txBody>
          <a:bodyPr wrap="square">
            <a:spAutoFit/>
          </a:bodyPr>
          <a:lstStyle/>
          <a:p>
            <a:pPr algn="l"/>
            <a:r>
              <a:rPr sz="1000" b="0" i="0">
                <a:solidFill>
                  <a:srgbClr val="E8F4F8"/>
                </a:solidFill>
              </a:rPr>
              <a:t>max_depth = 6</a:t>
            </a:r>
          </a:p>
        </p:txBody>
      </p:sp>
      <p:sp>
        <p:nvSpPr>
          <p:cNvPr id="35" name="TextBox 34"/>
          <p:cNvSpPr txBox="1"/>
          <p:nvPr/>
        </p:nvSpPr>
        <p:spPr>
          <a:xfrm>
            <a:off x="8266176" y="2404872"/>
            <a:ext cx="3401568" cy="246888"/>
          </a:xfrm>
          <a:prstGeom prst="rect">
            <a:avLst/>
          </a:prstGeom>
          <a:noFill/>
        </p:spPr>
        <p:txBody>
          <a:bodyPr wrap="square">
            <a:spAutoFit/>
          </a:bodyPr>
          <a:lstStyle/>
          <a:p>
            <a:pPr algn="l"/>
            <a:r>
              <a:rPr sz="1000" b="0" i="0">
                <a:solidFill>
                  <a:srgbClr val="E8F4F8"/>
                </a:solidFill>
              </a:rPr>
              <a:t>learning_rate = 0.05</a:t>
            </a:r>
          </a:p>
        </p:txBody>
      </p:sp>
      <p:sp>
        <p:nvSpPr>
          <p:cNvPr id="36" name="TextBox 35"/>
          <p:cNvSpPr txBox="1"/>
          <p:nvPr/>
        </p:nvSpPr>
        <p:spPr>
          <a:xfrm>
            <a:off x="8266176" y="2656332"/>
            <a:ext cx="3401568" cy="246888"/>
          </a:xfrm>
          <a:prstGeom prst="rect">
            <a:avLst/>
          </a:prstGeom>
          <a:noFill/>
        </p:spPr>
        <p:txBody>
          <a:bodyPr wrap="square">
            <a:spAutoFit/>
          </a:bodyPr>
          <a:lstStyle/>
          <a:p>
            <a:pPr algn="l"/>
            <a:r>
              <a:rPr sz="1000" b="0" i="0">
                <a:solidFill>
                  <a:srgbClr val="E8F4F8"/>
                </a:solidFill>
              </a:rPr>
              <a:t>subsample = 0.8  |  colsample_bytree = 0.8</a:t>
            </a:r>
          </a:p>
        </p:txBody>
      </p:sp>
      <p:sp>
        <p:nvSpPr>
          <p:cNvPr id="37" name="Rectangle 36"/>
          <p:cNvSpPr/>
          <p:nvPr/>
        </p:nvSpPr>
        <p:spPr>
          <a:xfrm>
            <a:off x="8193024" y="2953511"/>
            <a:ext cx="3474720" cy="22860"/>
          </a:xfrm>
          <a:prstGeom prst="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93024" y="3017520"/>
            <a:ext cx="3474720" cy="621792"/>
          </a:xfrm>
          <a:prstGeom prst="rect">
            <a:avLst/>
          </a:prstGeom>
          <a:noFill/>
        </p:spPr>
        <p:txBody>
          <a:bodyPr wrap="square">
            <a:spAutoFit/>
          </a:bodyPr>
          <a:lstStyle/>
          <a:p>
            <a:pPr algn="l"/>
            <a:r>
              <a:rPr sz="950" b="0" i="1">
                <a:solidFill>
                  <a:srgbClr val="8AB4C8"/>
                </a:solidFill>
              </a:rPr>
              <a:t>Gradient boosting often outperforms RF on tabular data with mixed features.</a:t>
            </a:r>
          </a:p>
        </p:txBody>
      </p:sp>
      <p:sp>
        <p:nvSpPr>
          <p:cNvPr id="39" name="Rectangle 38"/>
          <p:cNvSpPr/>
          <p:nvPr/>
        </p:nvSpPr>
        <p:spPr>
          <a:xfrm>
            <a:off x="256032" y="4919472"/>
            <a:ext cx="11658600" cy="274320"/>
          </a:xfrm>
          <a:prstGeom prst="rect">
            <a:avLst/>
          </a:prstGeom>
          <a:solidFill>
            <a:srgbClr val="12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47472" y="4937759"/>
            <a:ext cx="2834640" cy="246888"/>
          </a:xfrm>
          <a:prstGeom prst="rect">
            <a:avLst/>
          </a:prstGeom>
          <a:noFill/>
        </p:spPr>
        <p:txBody>
          <a:bodyPr wrap="square">
            <a:spAutoFit/>
          </a:bodyPr>
          <a:lstStyle/>
          <a:p>
            <a:pPr algn="l"/>
            <a:r>
              <a:rPr sz="1000" b="1" i="0">
                <a:solidFill>
                  <a:srgbClr val="00B4D8"/>
                </a:solidFill>
              </a:rPr>
              <a:t>Separate training for each task</a:t>
            </a:r>
          </a:p>
        </p:txBody>
      </p:sp>
      <p:sp>
        <p:nvSpPr>
          <p:cNvPr id="41" name="TextBox 40"/>
          <p:cNvSpPr txBox="1"/>
          <p:nvPr/>
        </p:nvSpPr>
        <p:spPr>
          <a:xfrm>
            <a:off x="3246120" y="4937759"/>
            <a:ext cx="8595360" cy="246888"/>
          </a:xfrm>
          <a:prstGeom prst="rect">
            <a:avLst/>
          </a:prstGeom>
          <a:noFill/>
        </p:spPr>
        <p:txBody>
          <a:bodyPr wrap="square">
            <a:spAutoFit/>
          </a:bodyPr>
          <a:lstStyle/>
          <a:p>
            <a:pPr algn="l"/>
            <a:r>
              <a:rPr sz="1000" b="0" i="0">
                <a:solidFill>
                  <a:srgbClr val="E8F4F8"/>
                </a:solidFill>
              </a:rPr>
              <a:t>Health and restoration are independent classifiers — not multi-output. Each trains on its own label column.</a:t>
            </a:r>
          </a:p>
        </p:txBody>
      </p:sp>
      <p:sp>
        <p:nvSpPr>
          <p:cNvPr id="42" name="Rectangle 41"/>
          <p:cNvSpPr/>
          <p:nvPr/>
        </p:nvSpPr>
        <p:spPr>
          <a:xfrm>
            <a:off x="256032" y="5202936"/>
            <a:ext cx="11658600" cy="27432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47472" y="5221223"/>
            <a:ext cx="2834640" cy="246888"/>
          </a:xfrm>
          <a:prstGeom prst="rect">
            <a:avLst/>
          </a:prstGeom>
          <a:noFill/>
        </p:spPr>
        <p:txBody>
          <a:bodyPr wrap="square">
            <a:spAutoFit/>
          </a:bodyPr>
          <a:lstStyle/>
          <a:p>
            <a:pPr algn="l"/>
            <a:r>
              <a:rPr sz="1000" b="1" i="0">
                <a:solidFill>
                  <a:srgbClr val="00B4D8"/>
                </a:solidFill>
              </a:rPr>
              <a:t>5-fold stratified cross-validation</a:t>
            </a:r>
          </a:p>
        </p:txBody>
      </p:sp>
      <p:sp>
        <p:nvSpPr>
          <p:cNvPr id="44" name="TextBox 43"/>
          <p:cNvSpPr txBox="1"/>
          <p:nvPr/>
        </p:nvSpPr>
        <p:spPr>
          <a:xfrm>
            <a:off x="3246120" y="5221223"/>
            <a:ext cx="8595360" cy="246888"/>
          </a:xfrm>
          <a:prstGeom prst="rect">
            <a:avLst/>
          </a:prstGeom>
          <a:noFill/>
        </p:spPr>
        <p:txBody>
          <a:bodyPr wrap="square">
            <a:spAutoFit/>
          </a:bodyPr>
          <a:lstStyle/>
          <a:p>
            <a:pPr algn="l"/>
            <a:r>
              <a:rPr sz="1000" b="0" i="0">
                <a:solidFill>
                  <a:srgbClr val="E8F4F8"/>
                </a:solidFill>
              </a:rPr>
              <a:t>CV macro-F1 is the primary selection metric. Winner is selected before evaluation on the held-out test set.</a:t>
            </a:r>
          </a:p>
        </p:txBody>
      </p:sp>
      <p:sp>
        <p:nvSpPr>
          <p:cNvPr id="45" name="Rectangle 44"/>
          <p:cNvSpPr/>
          <p:nvPr/>
        </p:nvSpPr>
        <p:spPr>
          <a:xfrm>
            <a:off x="256032" y="5486399"/>
            <a:ext cx="11658600" cy="274320"/>
          </a:xfrm>
          <a:prstGeom prst="rect">
            <a:avLst/>
          </a:prstGeom>
          <a:solidFill>
            <a:srgbClr val="12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47472" y="5504687"/>
            <a:ext cx="2834640" cy="246888"/>
          </a:xfrm>
          <a:prstGeom prst="rect">
            <a:avLst/>
          </a:prstGeom>
          <a:noFill/>
        </p:spPr>
        <p:txBody>
          <a:bodyPr wrap="square">
            <a:spAutoFit/>
          </a:bodyPr>
          <a:lstStyle/>
          <a:p>
            <a:pPr algn="l"/>
            <a:r>
              <a:rPr sz="1000" b="1" i="0">
                <a:solidFill>
                  <a:srgbClr val="00B4D8"/>
                </a:solidFill>
              </a:rPr>
              <a:t>class_weight = balanced</a:t>
            </a:r>
          </a:p>
        </p:txBody>
      </p:sp>
      <p:sp>
        <p:nvSpPr>
          <p:cNvPr id="47" name="TextBox 46"/>
          <p:cNvSpPr txBox="1"/>
          <p:nvPr/>
        </p:nvSpPr>
        <p:spPr>
          <a:xfrm>
            <a:off x="3246120" y="5504687"/>
            <a:ext cx="8595360" cy="246888"/>
          </a:xfrm>
          <a:prstGeom prst="rect">
            <a:avLst/>
          </a:prstGeom>
          <a:noFill/>
        </p:spPr>
        <p:txBody>
          <a:bodyPr wrap="square">
            <a:spAutoFit/>
          </a:bodyPr>
          <a:lstStyle/>
          <a:p>
            <a:pPr algn="l"/>
            <a:r>
              <a:rPr sz="1000" b="0" i="0">
                <a:solidFill>
                  <a:srgbClr val="E8F4F8"/>
                </a:solidFill>
              </a:rPr>
              <a:t>Automatically adjusts loss function weights to compensate for class imbalance. All three algorithms apply this.</a:t>
            </a:r>
          </a:p>
        </p:txBody>
      </p:sp>
      <p:sp>
        <p:nvSpPr>
          <p:cNvPr id="48" name="Rectangle 47"/>
          <p:cNvSpPr/>
          <p:nvPr/>
        </p:nvSpPr>
        <p:spPr>
          <a:xfrm>
            <a:off x="256032" y="5769863"/>
            <a:ext cx="11658600" cy="27432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7472" y="5788151"/>
            <a:ext cx="2834640" cy="246888"/>
          </a:xfrm>
          <a:prstGeom prst="rect">
            <a:avLst/>
          </a:prstGeom>
          <a:noFill/>
        </p:spPr>
        <p:txBody>
          <a:bodyPr wrap="square">
            <a:spAutoFit/>
          </a:bodyPr>
          <a:lstStyle/>
          <a:p>
            <a:pPr algn="l"/>
            <a:r>
              <a:rPr sz="1000" b="1" i="0">
                <a:solidFill>
                  <a:srgbClr val="00B4D8"/>
                </a:solidFill>
              </a:rPr>
              <a:t>Fixed random seed = 42</a:t>
            </a:r>
          </a:p>
        </p:txBody>
      </p:sp>
      <p:sp>
        <p:nvSpPr>
          <p:cNvPr id="50" name="TextBox 49"/>
          <p:cNvSpPr txBox="1"/>
          <p:nvPr/>
        </p:nvSpPr>
        <p:spPr>
          <a:xfrm>
            <a:off x="3246120" y="5788151"/>
            <a:ext cx="8595360" cy="246888"/>
          </a:xfrm>
          <a:prstGeom prst="rect">
            <a:avLst/>
          </a:prstGeom>
          <a:noFill/>
        </p:spPr>
        <p:txBody>
          <a:bodyPr wrap="square">
            <a:spAutoFit/>
          </a:bodyPr>
          <a:lstStyle/>
          <a:p>
            <a:pPr algn="l"/>
            <a:r>
              <a:rPr sz="1000" b="0" i="0">
                <a:solidFill>
                  <a:srgbClr val="E8F4F8"/>
                </a:solidFill>
              </a:rPr>
              <a:t>All randomness (data splits, model initialisation, numpy) is seeded for full reproducibility.</a:t>
            </a:r>
          </a:p>
        </p:txBody>
      </p:sp>
      <p:sp>
        <p:nvSpPr>
          <p:cNvPr id="51" name="Rectangle 50"/>
          <p:cNvSpPr/>
          <p:nvPr/>
        </p:nvSpPr>
        <p:spPr>
          <a:xfrm>
            <a:off x="256032" y="6053327"/>
            <a:ext cx="11658600" cy="274320"/>
          </a:xfrm>
          <a:prstGeom prst="rect">
            <a:avLst/>
          </a:prstGeom>
          <a:solidFill>
            <a:srgbClr val="12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47472" y="6071615"/>
            <a:ext cx="2834640" cy="246888"/>
          </a:xfrm>
          <a:prstGeom prst="rect">
            <a:avLst/>
          </a:prstGeom>
          <a:noFill/>
        </p:spPr>
        <p:txBody>
          <a:bodyPr wrap="square">
            <a:spAutoFit/>
          </a:bodyPr>
          <a:lstStyle/>
          <a:p>
            <a:pPr algn="l"/>
            <a:r>
              <a:rPr sz="1000" b="1" i="0">
                <a:solidFill>
                  <a:srgbClr val="00B4D8"/>
                </a:solidFill>
              </a:rPr>
              <a:t>MLflow experiment tracking</a:t>
            </a:r>
          </a:p>
        </p:txBody>
      </p:sp>
      <p:sp>
        <p:nvSpPr>
          <p:cNvPr id="53" name="TextBox 52"/>
          <p:cNvSpPr txBox="1"/>
          <p:nvPr/>
        </p:nvSpPr>
        <p:spPr>
          <a:xfrm>
            <a:off x="3246120" y="6071615"/>
            <a:ext cx="8595360" cy="246888"/>
          </a:xfrm>
          <a:prstGeom prst="rect">
            <a:avLst/>
          </a:prstGeom>
          <a:noFill/>
        </p:spPr>
        <p:txBody>
          <a:bodyPr wrap="square">
            <a:spAutoFit/>
          </a:bodyPr>
          <a:lstStyle/>
          <a:p>
            <a:pPr algn="l"/>
            <a:r>
              <a:rPr sz="1000" b="0" i="0">
                <a:solidFill>
                  <a:srgbClr val="E8F4F8"/>
                </a:solidFill>
              </a:rPr>
              <a:t>Every run logs: parameters, CV scores, test metrics, confusion matrix, feature importances, model artifact.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1224"/>
        </a:solidFill>
        <a:effectLst/>
      </p:bgPr>
    </p:bg>
    <p:spTree>
      <p:nvGrpSpPr>
        <p:cNvPr id="1" name=""/>
        <p:cNvGrpSpPr/>
        <p:nvPr/>
      </p:nvGrpSpPr>
      <p:grpSpPr/>
      <p:sp>
        <p:nvSpPr>
          <p:cNvPr id="2" name="Rectangle 1"/>
          <p:cNvSpPr/>
          <p:nvPr/>
        </p:nvSpPr>
        <p:spPr>
          <a:xfrm>
            <a:off x="0" y="0"/>
            <a:ext cx="12188952" cy="1024128"/>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37160"/>
            <a:ext cx="11430000" cy="594360"/>
          </a:xfrm>
          <a:prstGeom prst="rect">
            <a:avLst/>
          </a:prstGeom>
          <a:noFill/>
        </p:spPr>
        <p:txBody>
          <a:bodyPr wrap="square">
            <a:spAutoFit/>
          </a:bodyPr>
          <a:lstStyle/>
          <a:p>
            <a:pPr algn="l"/>
            <a:r>
              <a:rPr sz="2400" b="1" i="0">
                <a:solidFill>
                  <a:srgbClr val="00B4D8"/>
                </a:solidFill>
              </a:rPr>
              <a:t>Reef-Health Model Comparison</a:t>
            </a:r>
          </a:p>
        </p:txBody>
      </p:sp>
      <p:sp>
        <p:nvSpPr>
          <p:cNvPr id="4" name="TextBox 3"/>
          <p:cNvSpPr txBox="1"/>
          <p:nvPr/>
        </p:nvSpPr>
        <p:spPr>
          <a:xfrm>
            <a:off x="320040" y="658368"/>
            <a:ext cx="11430000" cy="320040"/>
          </a:xfrm>
          <a:prstGeom prst="rect">
            <a:avLst/>
          </a:prstGeom>
          <a:noFill/>
        </p:spPr>
        <p:txBody>
          <a:bodyPr wrap="square">
            <a:spAutoFit/>
          </a:bodyPr>
          <a:lstStyle/>
          <a:p>
            <a:pPr algn="l"/>
            <a:r>
              <a:rPr sz="1200" b="0" i="0">
                <a:solidFill>
                  <a:srgbClr val="8AB4C8"/>
                </a:solidFill>
              </a:rPr>
              <a:t>Selected model: Logistic Regression (highest CV Macro-F1) — SYNTHETIC DATA</a:t>
            </a:r>
          </a:p>
        </p:txBody>
      </p:sp>
      <p:sp>
        <p:nvSpPr>
          <p:cNvPr id="5" name="Rectangle 4"/>
          <p:cNvSpPr/>
          <p:nvPr/>
        </p:nvSpPr>
        <p:spPr>
          <a:xfrm>
            <a:off x="0" y="1024128"/>
            <a:ext cx="12188952" cy="27432"/>
          </a:xfrm>
          <a:prstGeom prst="rect">
            <a:avLst/>
          </a:prstGeom>
          <a:solidFill>
            <a:srgbClr val="1B8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65392"/>
            <a:ext cx="12188952" cy="36576"/>
          </a:xfrm>
          <a:prstGeom prst="rect">
            <a:avLst/>
          </a:prstGeom>
          <a:solidFill>
            <a:srgbClr val="1B8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01968"/>
            <a:ext cx="8229600" cy="228600"/>
          </a:xfrm>
          <a:prstGeom prst="rect">
            <a:avLst/>
          </a:prstGeom>
          <a:noFill/>
        </p:spPr>
        <p:txBody>
          <a:bodyPr wrap="square">
            <a:spAutoFit/>
          </a:bodyPr>
          <a:lstStyle/>
          <a:p>
            <a:pPr algn="l"/>
            <a:r>
              <a:rPr sz="900" b="0" i="0">
                <a:solidFill>
                  <a:srgbClr val="8AB4C8"/>
                </a:solidFill>
              </a:rPr>
              <a:t>Oceanographic Reef Prediction Framework</a:t>
            </a:r>
          </a:p>
        </p:txBody>
      </p:sp>
      <p:sp>
        <p:nvSpPr>
          <p:cNvPr id="8" name="TextBox 7"/>
          <p:cNvSpPr txBox="1"/>
          <p:nvPr/>
        </p:nvSpPr>
        <p:spPr>
          <a:xfrm>
            <a:off x="11247120" y="6601968"/>
            <a:ext cx="731520" cy="228600"/>
          </a:xfrm>
          <a:prstGeom prst="rect">
            <a:avLst/>
          </a:prstGeom>
          <a:noFill/>
        </p:spPr>
        <p:txBody>
          <a:bodyPr wrap="square">
            <a:spAutoFit/>
          </a:bodyPr>
          <a:lstStyle/>
          <a:p>
            <a:pPr algn="r"/>
            <a:r>
              <a:rPr sz="900" b="0" i="0">
                <a:solidFill>
                  <a:srgbClr val="8AB4C8"/>
                </a:solidFill>
              </a:rPr>
              <a:t>9</a:t>
            </a:r>
          </a:p>
        </p:txBody>
      </p:sp>
      <p:pic>
        <p:nvPicPr>
          <p:cNvPr id="9" name="Picture 8" descr="image.png"/>
          <p:cNvPicPr>
            <a:picLocks noChangeAspect="1"/>
          </p:cNvPicPr>
          <p:nvPr/>
        </p:nvPicPr>
        <p:blipFill>
          <a:blip r:embed="rId2"/>
          <a:stretch>
            <a:fillRect/>
          </a:stretch>
        </p:blipFill>
        <p:spPr>
          <a:xfrm>
            <a:off x="228600" y="1115568"/>
            <a:ext cx="8549640" cy="4114800"/>
          </a:xfrm>
          <a:prstGeom prst="rect">
            <a:avLst/>
          </a:prstGeom>
        </p:spPr>
      </p:pic>
      <p:sp>
        <p:nvSpPr>
          <p:cNvPr id="10" name="Rectangle 9"/>
          <p:cNvSpPr/>
          <p:nvPr/>
        </p:nvSpPr>
        <p:spPr>
          <a:xfrm>
            <a:off x="8887968" y="1115568"/>
            <a:ext cx="3090672" cy="4114800"/>
          </a:xfrm>
          <a:prstGeom prst="rect">
            <a:avLst/>
          </a:prstGeom>
          <a:solidFill>
            <a:srgbClr val="122A4A"/>
          </a:solidFill>
          <a:ln w="2286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887968" y="1115568"/>
            <a:ext cx="3090672" cy="38404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0" y="1133856"/>
            <a:ext cx="2926080" cy="347472"/>
          </a:xfrm>
          <a:prstGeom prst="rect">
            <a:avLst/>
          </a:prstGeom>
          <a:noFill/>
        </p:spPr>
        <p:txBody>
          <a:bodyPr wrap="square">
            <a:spAutoFit/>
          </a:bodyPr>
          <a:lstStyle/>
          <a:p>
            <a:pPr algn="ctr"/>
            <a:r>
              <a:rPr sz="1050" b="1" i="0">
                <a:solidFill>
                  <a:srgbClr val="081224"/>
                </a:solidFill>
              </a:rPr>
              <a:t>Selected: Logistic Regression</a:t>
            </a:r>
          </a:p>
        </p:txBody>
      </p:sp>
      <p:sp>
        <p:nvSpPr>
          <p:cNvPr id="13" name="TextBox 12"/>
          <p:cNvSpPr txBox="1"/>
          <p:nvPr/>
        </p:nvSpPr>
        <p:spPr>
          <a:xfrm>
            <a:off x="8979408" y="1581912"/>
            <a:ext cx="1828800" cy="237744"/>
          </a:xfrm>
          <a:prstGeom prst="rect">
            <a:avLst/>
          </a:prstGeom>
          <a:noFill/>
        </p:spPr>
        <p:txBody>
          <a:bodyPr wrap="square">
            <a:spAutoFit/>
          </a:bodyPr>
          <a:lstStyle/>
          <a:p>
            <a:pPr algn="l"/>
            <a:r>
              <a:rPr sz="950" b="1" i="0">
                <a:solidFill>
                  <a:srgbClr val="E8F4F8"/>
                </a:solidFill>
              </a:rPr>
              <a:t>CV Macro-F1</a:t>
            </a:r>
          </a:p>
        </p:txBody>
      </p:sp>
      <p:sp>
        <p:nvSpPr>
          <p:cNvPr id="14" name="TextBox 13"/>
          <p:cNvSpPr txBox="1"/>
          <p:nvPr/>
        </p:nvSpPr>
        <p:spPr>
          <a:xfrm>
            <a:off x="10835640" y="1581912"/>
            <a:ext cx="1051560" cy="237744"/>
          </a:xfrm>
          <a:prstGeom prst="rect">
            <a:avLst/>
          </a:prstGeom>
          <a:noFill/>
        </p:spPr>
        <p:txBody>
          <a:bodyPr wrap="square">
            <a:spAutoFit/>
          </a:bodyPr>
          <a:lstStyle/>
          <a:p>
            <a:pPr algn="r"/>
            <a:r>
              <a:rPr sz="950" b="1" i="0">
                <a:solidFill>
                  <a:srgbClr val="00B4D8"/>
                </a:solidFill>
              </a:rPr>
              <a:t>0.7612  ± 0.009</a:t>
            </a:r>
          </a:p>
        </p:txBody>
      </p:sp>
      <p:sp>
        <p:nvSpPr>
          <p:cNvPr id="15" name="TextBox 14"/>
          <p:cNvSpPr txBox="1"/>
          <p:nvPr/>
        </p:nvSpPr>
        <p:spPr>
          <a:xfrm>
            <a:off x="8979408" y="1847088"/>
            <a:ext cx="1828800" cy="237744"/>
          </a:xfrm>
          <a:prstGeom prst="rect">
            <a:avLst/>
          </a:prstGeom>
          <a:noFill/>
        </p:spPr>
        <p:txBody>
          <a:bodyPr wrap="square">
            <a:spAutoFit/>
          </a:bodyPr>
          <a:lstStyle/>
          <a:p>
            <a:pPr algn="l"/>
            <a:r>
              <a:rPr sz="950" b="1" i="0">
                <a:solidFill>
                  <a:srgbClr val="E8F4F8"/>
                </a:solidFill>
              </a:rPr>
              <a:t>Test Macro-F1</a:t>
            </a:r>
          </a:p>
        </p:txBody>
      </p:sp>
      <p:sp>
        <p:nvSpPr>
          <p:cNvPr id="16" name="TextBox 15"/>
          <p:cNvSpPr txBox="1"/>
          <p:nvPr/>
        </p:nvSpPr>
        <p:spPr>
          <a:xfrm>
            <a:off x="10835640" y="1847088"/>
            <a:ext cx="1051560" cy="237744"/>
          </a:xfrm>
          <a:prstGeom prst="rect">
            <a:avLst/>
          </a:prstGeom>
          <a:noFill/>
        </p:spPr>
        <p:txBody>
          <a:bodyPr wrap="square">
            <a:spAutoFit/>
          </a:bodyPr>
          <a:lstStyle/>
          <a:p>
            <a:pPr algn="r"/>
            <a:r>
              <a:rPr sz="950" b="1" i="0">
                <a:solidFill>
                  <a:srgbClr val="00B4D8"/>
                </a:solidFill>
              </a:rPr>
              <a:t>0.7871</a:t>
            </a:r>
          </a:p>
        </p:txBody>
      </p:sp>
      <p:sp>
        <p:nvSpPr>
          <p:cNvPr id="17" name="TextBox 16"/>
          <p:cNvSpPr txBox="1"/>
          <p:nvPr/>
        </p:nvSpPr>
        <p:spPr>
          <a:xfrm>
            <a:off x="8979408" y="2112264"/>
            <a:ext cx="1828800" cy="237744"/>
          </a:xfrm>
          <a:prstGeom prst="rect">
            <a:avLst/>
          </a:prstGeom>
          <a:noFill/>
        </p:spPr>
        <p:txBody>
          <a:bodyPr wrap="square">
            <a:spAutoFit/>
          </a:bodyPr>
          <a:lstStyle/>
          <a:p>
            <a:pPr algn="l"/>
            <a:r>
              <a:rPr sz="950" b="1" i="0">
                <a:solidFill>
                  <a:srgbClr val="E8F4F8"/>
                </a:solidFill>
              </a:rPr>
              <a:t>Balanced Accuracy</a:t>
            </a:r>
          </a:p>
        </p:txBody>
      </p:sp>
      <p:sp>
        <p:nvSpPr>
          <p:cNvPr id="18" name="TextBox 17"/>
          <p:cNvSpPr txBox="1"/>
          <p:nvPr/>
        </p:nvSpPr>
        <p:spPr>
          <a:xfrm>
            <a:off x="10835640" y="2112264"/>
            <a:ext cx="1051560" cy="237744"/>
          </a:xfrm>
          <a:prstGeom prst="rect">
            <a:avLst/>
          </a:prstGeom>
          <a:noFill/>
        </p:spPr>
        <p:txBody>
          <a:bodyPr wrap="square">
            <a:spAutoFit/>
          </a:bodyPr>
          <a:lstStyle/>
          <a:p>
            <a:pPr algn="r"/>
            <a:r>
              <a:rPr sz="950" b="1" i="0">
                <a:solidFill>
                  <a:srgbClr val="00B4D8"/>
                </a:solidFill>
              </a:rPr>
              <a:t>0.8012</a:t>
            </a:r>
          </a:p>
        </p:txBody>
      </p:sp>
      <p:sp>
        <p:nvSpPr>
          <p:cNvPr id="19" name="TextBox 18"/>
          <p:cNvSpPr txBox="1"/>
          <p:nvPr/>
        </p:nvSpPr>
        <p:spPr>
          <a:xfrm>
            <a:off x="8979408" y="2377440"/>
            <a:ext cx="1828800" cy="237744"/>
          </a:xfrm>
          <a:prstGeom prst="rect">
            <a:avLst/>
          </a:prstGeom>
          <a:noFill/>
        </p:spPr>
        <p:txBody>
          <a:bodyPr wrap="square">
            <a:spAutoFit/>
          </a:bodyPr>
          <a:lstStyle/>
          <a:p>
            <a:pPr algn="l"/>
            <a:r>
              <a:rPr sz="950" b="1" i="0">
                <a:solidFill>
                  <a:srgbClr val="E8F4F8"/>
                </a:solidFill>
              </a:rPr>
              <a:t>Overall Accuracy</a:t>
            </a:r>
          </a:p>
        </p:txBody>
      </p:sp>
      <p:sp>
        <p:nvSpPr>
          <p:cNvPr id="20" name="TextBox 19"/>
          <p:cNvSpPr txBox="1"/>
          <p:nvPr/>
        </p:nvSpPr>
        <p:spPr>
          <a:xfrm>
            <a:off x="10835640" y="2377440"/>
            <a:ext cx="1051560" cy="237744"/>
          </a:xfrm>
          <a:prstGeom prst="rect">
            <a:avLst/>
          </a:prstGeom>
          <a:noFill/>
        </p:spPr>
        <p:txBody>
          <a:bodyPr wrap="square">
            <a:spAutoFit/>
          </a:bodyPr>
          <a:lstStyle/>
          <a:p>
            <a:pPr algn="r"/>
            <a:r>
              <a:rPr sz="950" b="1" i="0">
                <a:solidFill>
                  <a:srgbClr val="00B4D8"/>
                </a:solidFill>
              </a:rPr>
              <a:t>0.8193</a:t>
            </a:r>
          </a:p>
        </p:txBody>
      </p:sp>
      <p:sp>
        <p:nvSpPr>
          <p:cNvPr id="21" name="TextBox 20"/>
          <p:cNvSpPr txBox="1"/>
          <p:nvPr/>
        </p:nvSpPr>
        <p:spPr>
          <a:xfrm>
            <a:off x="8979408" y="2642616"/>
            <a:ext cx="1828800" cy="237744"/>
          </a:xfrm>
          <a:prstGeom prst="rect">
            <a:avLst/>
          </a:prstGeom>
          <a:noFill/>
        </p:spPr>
        <p:txBody>
          <a:bodyPr wrap="square">
            <a:spAutoFit/>
          </a:bodyPr>
          <a:lstStyle/>
          <a:p>
            <a:pPr algn="l"/>
            <a:r>
              <a:rPr sz="950" b="1" i="0">
                <a:solidFill>
                  <a:srgbClr val="E8F4F8"/>
                </a:solidFill>
              </a:rPr>
              <a:t/>
            </a:r>
          </a:p>
        </p:txBody>
      </p:sp>
      <p:sp>
        <p:nvSpPr>
          <p:cNvPr id="22" name="TextBox 21"/>
          <p:cNvSpPr txBox="1"/>
          <p:nvPr/>
        </p:nvSpPr>
        <p:spPr>
          <a:xfrm>
            <a:off x="8979408" y="2907792"/>
            <a:ext cx="1828800" cy="237744"/>
          </a:xfrm>
          <a:prstGeom prst="rect">
            <a:avLst/>
          </a:prstGeom>
          <a:noFill/>
        </p:spPr>
        <p:txBody>
          <a:bodyPr wrap="square">
            <a:spAutoFit/>
          </a:bodyPr>
          <a:lstStyle/>
          <a:p>
            <a:pPr algn="l"/>
            <a:r>
              <a:rPr sz="950" b="1" i="0">
                <a:solidFill>
                  <a:srgbClr val="E8F4F8"/>
                </a:solidFill>
              </a:rPr>
              <a:t>Per-class Test F1:</a:t>
            </a:r>
          </a:p>
        </p:txBody>
      </p:sp>
      <p:sp>
        <p:nvSpPr>
          <p:cNvPr id="23" name="TextBox 22"/>
          <p:cNvSpPr txBox="1"/>
          <p:nvPr/>
        </p:nvSpPr>
        <p:spPr>
          <a:xfrm>
            <a:off x="8979408" y="3172968"/>
            <a:ext cx="1828800" cy="237744"/>
          </a:xfrm>
          <a:prstGeom prst="rect">
            <a:avLst/>
          </a:prstGeom>
          <a:noFill/>
        </p:spPr>
        <p:txBody>
          <a:bodyPr wrap="square">
            <a:spAutoFit/>
          </a:bodyPr>
          <a:lstStyle/>
          <a:p>
            <a:pPr algn="l"/>
            <a:r>
              <a:rPr sz="950" b="0" i="0">
                <a:solidFill>
                  <a:srgbClr val="8AB4C8"/>
                </a:solidFill>
              </a:rPr>
              <a:t>  healthy</a:t>
            </a:r>
          </a:p>
        </p:txBody>
      </p:sp>
      <p:sp>
        <p:nvSpPr>
          <p:cNvPr id="24" name="TextBox 23"/>
          <p:cNvSpPr txBox="1"/>
          <p:nvPr/>
        </p:nvSpPr>
        <p:spPr>
          <a:xfrm>
            <a:off x="10835640" y="3172968"/>
            <a:ext cx="1051560" cy="237744"/>
          </a:xfrm>
          <a:prstGeom prst="rect">
            <a:avLst/>
          </a:prstGeom>
          <a:noFill/>
        </p:spPr>
        <p:txBody>
          <a:bodyPr wrap="square">
            <a:spAutoFit/>
          </a:bodyPr>
          <a:lstStyle/>
          <a:p>
            <a:pPr algn="r"/>
            <a:r>
              <a:rPr sz="950" b="1" i="0">
                <a:solidFill>
                  <a:srgbClr val="00B4D8"/>
                </a:solidFill>
              </a:rPr>
              <a:t>0.6962</a:t>
            </a:r>
          </a:p>
        </p:txBody>
      </p:sp>
      <p:sp>
        <p:nvSpPr>
          <p:cNvPr id="25" name="TextBox 24"/>
          <p:cNvSpPr txBox="1"/>
          <p:nvPr/>
        </p:nvSpPr>
        <p:spPr>
          <a:xfrm>
            <a:off x="8979408" y="3438144"/>
            <a:ext cx="1828800" cy="237744"/>
          </a:xfrm>
          <a:prstGeom prst="rect">
            <a:avLst/>
          </a:prstGeom>
          <a:noFill/>
        </p:spPr>
        <p:txBody>
          <a:bodyPr wrap="square">
            <a:spAutoFit/>
          </a:bodyPr>
          <a:lstStyle/>
          <a:p>
            <a:pPr algn="l"/>
            <a:r>
              <a:rPr sz="950" b="0" i="0">
                <a:solidFill>
                  <a:srgbClr val="8AB4C8"/>
                </a:solidFill>
              </a:rPr>
              <a:t>  stressed</a:t>
            </a:r>
          </a:p>
        </p:txBody>
      </p:sp>
      <p:sp>
        <p:nvSpPr>
          <p:cNvPr id="26" name="TextBox 25"/>
          <p:cNvSpPr txBox="1"/>
          <p:nvPr/>
        </p:nvSpPr>
        <p:spPr>
          <a:xfrm>
            <a:off x="10835640" y="3438144"/>
            <a:ext cx="1051560" cy="237744"/>
          </a:xfrm>
          <a:prstGeom prst="rect">
            <a:avLst/>
          </a:prstGeom>
          <a:noFill/>
        </p:spPr>
        <p:txBody>
          <a:bodyPr wrap="square">
            <a:spAutoFit/>
          </a:bodyPr>
          <a:lstStyle/>
          <a:p>
            <a:pPr algn="r"/>
            <a:r>
              <a:rPr sz="950" b="1" i="0">
                <a:solidFill>
                  <a:srgbClr val="00B4D8"/>
                </a:solidFill>
              </a:rPr>
              <a:t>0.8986</a:t>
            </a:r>
          </a:p>
        </p:txBody>
      </p:sp>
      <p:sp>
        <p:nvSpPr>
          <p:cNvPr id="27" name="TextBox 26"/>
          <p:cNvSpPr txBox="1"/>
          <p:nvPr/>
        </p:nvSpPr>
        <p:spPr>
          <a:xfrm>
            <a:off x="8979408" y="3703320"/>
            <a:ext cx="1828800" cy="237744"/>
          </a:xfrm>
          <a:prstGeom prst="rect">
            <a:avLst/>
          </a:prstGeom>
          <a:noFill/>
        </p:spPr>
        <p:txBody>
          <a:bodyPr wrap="square">
            <a:spAutoFit/>
          </a:bodyPr>
          <a:lstStyle/>
          <a:p>
            <a:pPr algn="l"/>
            <a:r>
              <a:rPr sz="950" b="0" i="0">
                <a:solidFill>
                  <a:srgbClr val="8AB4C8"/>
                </a:solidFill>
              </a:rPr>
              <a:t>  bleached</a:t>
            </a:r>
          </a:p>
        </p:txBody>
      </p:sp>
      <p:sp>
        <p:nvSpPr>
          <p:cNvPr id="28" name="TextBox 27"/>
          <p:cNvSpPr txBox="1"/>
          <p:nvPr/>
        </p:nvSpPr>
        <p:spPr>
          <a:xfrm>
            <a:off x="10835640" y="3703320"/>
            <a:ext cx="1051560" cy="237744"/>
          </a:xfrm>
          <a:prstGeom prst="rect">
            <a:avLst/>
          </a:prstGeom>
          <a:noFill/>
        </p:spPr>
        <p:txBody>
          <a:bodyPr wrap="square">
            <a:spAutoFit/>
          </a:bodyPr>
          <a:lstStyle/>
          <a:p>
            <a:pPr algn="r"/>
            <a:r>
              <a:rPr sz="950" b="1" i="0">
                <a:solidFill>
                  <a:srgbClr val="00B4D8"/>
                </a:solidFill>
              </a:rPr>
              <a:t>0.8830</a:t>
            </a:r>
          </a:p>
        </p:txBody>
      </p:sp>
      <p:sp>
        <p:nvSpPr>
          <p:cNvPr id="29" name="TextBox 28"/>
          <p:cNvSpPr txBox="1"/>
          <p:nvPr/>
        </p:nvSpPr>
        <p:spPr>
          <a:xfrm>
            <a:off x="8979408" y="3968496"/>
            <a:ext cx="1828800" cy="237744"/>
          </a:xfrm>
          <a:prstGeom prst="rect">
            <a:avLst/>
          </a:prstGeom>
          <a:noFill/>
        </p:spPr>
        <p:txBody>
          <a:bodyPr wrap="square">
            <a:spAutoFit/>
          </a:bodyPr>
          <a:lstStyle/>
          <a:p>
            <a:pPr algn="l"/>
            <a:r>
              <a:rPr sz="950" b="0" i="0">
                <a:solidFill>
                  <a:srgbClr val="8AB4C8"/>
                </a:solidFill>
              </a:rPr>
              <a:t>  severely_degraded</a:t>
            </a:r>
          </a:p>
        </p:txBody>
      </p:sp>
      <p:sp>
        <p:nvSpPr>
          <p:cNvPr id="30" name="TextBox 29"/>
          <p:cNvSpPr txBox="1"/>
          <p:nvPr/>
        </p:nvSpPr>
        <p:spPr>
          <a:xfrm>
            <a:off x="10835640" y="3968496"/>
            <a:ext cx="1051560" cy="237744"/>
          </a:xfrm>
          <a:prstGeom prst="rect">
            <a:avLst/>
          </a:prstGeom>
          <a:noFill/>
        </p:spPr>
        <p:txBody>
          <a:bodyPr wrap="square">
            <a:spAutoFit/>
          </a:bodyPr>
          <a:lstStyle/>
          <a:p>
            <a:pPr algn="r"/>
            <a:r>
              <a:rPr sz="950" b="1" i="0">
                <a:solidFill>
                  <a:srgbClr val="00B4D8"/>
                </a:solidFill>
              </a:rPr>
              <a:t>0.6708</a:t>
            </a:r>
          </a:p>
        </p:txBody>
      </p:sp>
      <p:sp>
        <p:nvSpPr>
          <p:cNvPr id="31" name="Rectangle 30"/>
          <p:cNvSpPr/>
          <p:nvPr/>
        </p:nvSpPr>
        <p:spPr>
          <a:xfrm>
            <a:off x="228600" y="5321808"/>
            <a:ext cx="11750040" cy="932688"/>
          </a:xfrm>
          <a:prstGeom prst="rect">
            <a:avLst/>
          </a:prstGeom>
          <a:solidFill>
            <a:srgbClr val="122A4A"/>
          </a:solidFill>
          <a:ln w="6350">
            <a:solidFill>
              <a:srgbClr val="1B8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5376672"/>
            <a:ext cx="11430000" cy="256032"/>
          </a:xfrm>
          <a:prstGeom prst="rect">
            <a:avLst/>
          </a:prstGeom>
          <a:noFill/>
        </p:spPr>
        <p:txBody>
          <a:bodyPr wrap="square">
            <a:spAutoFit/>
          </a:bodyPr>
          <a:lstStyle/>
          <a:p>
            <a:pPr algn="l"/>
            <a:r>
              <a:rPr sz="1000" b="0" i="0">
                <a:solidFill>
                  <a:srgbClr val="E8F4F8"/>
                </a:solidFill>
              </a:rPr>
              <a:t>Why Logistic Regression won: Although all three models achieved very similar CV macro-F1 (within 0.003 of each other), Logistic Regression scored highest at 0.7612 and also achieved the best test macro-F1 (0.7871) and balanced accuracy (0.8012).</a:t>
            </a:r>
          </a:p>
        </p:txBody>
      </p:sp>
      <p:sp>
        <p:nvSpPr>
          <p:cNvPr id="33" name="Rectangle 32"/>
          <p:cNvSpPr/>
          <p:nvPr/>
        </p:nvSpPr>
        <p:spPr>
          <a:xfrm>
            <a:off x="228600" y="6309360"/>
            <a:ext cx="11750040" cy="274320"/>
          </a:xfrm>
          <a:prstGeom prst="rect">
            <a:avLst/>
          </a:prstGeom>
          <a:solidFill>
            <a:srgbClr val="143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0040" y="6327648"/>
            <a:ext cx="11567160" cy="237744"/>
          </a:xfrm>
          <a:prstGeom prst="rect">
            <a:avLst/>
          </a:prstGeom>
          <a:noFill/>
        </p:spPr>
        <p:txBody>
          <a:bodyPr wrap="square">
            <a:spAutoFit/>
          </a:bodyPr>
          <a:lstStyle/>
          <a:p>
            <a:pPr algn="l"/>
            <a:r>
              <a:rPr sz="950" b="0" i="1">
                <a:solidFill>
                  <a:srgbClr val="F4A261"/>
                </a:solidFill>
              </a:rPr>
              <a:t>SYNTHETIC DATA DISCLAIMER: These metrics reflect performance on synthetic observations only. They do not indicate real-world coral reef prediction accuracy.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1224"/>
        </a:solidFill>
        <a:effectLst/>
      </p:bgPr>
    </p:bg>
    <p:spTree>
      <p:nvGrpSpPr>
        <p:cNvPr id="1" name=""/>
        <p:cNvGrpSpPr/>
        <p:nvPr/>
      </p:nvGrpSpPr>
      <p:grpSpPr/>
      <p:sp>
        <p:nvSpPr>
          <p:cNvPr id="2" name="Rectangle 1"/>
          <p:cNvSpPr/>
          <p:nvPr/>
        </p:nvSpPr>
        <p:spPr>
          <a:xfrm>
            <a:off x="0" y="0"/>
            <a:ext cx="12188952" cy="1024128"/>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37160"/>
            <a:ext cx="11430000" cy="594360"/>
          </a:xfrm>
          <a:prstGeom prst="rect">
            <a:avLst/>
          </a:prstGeom>
          <a:noFill/>
        </p:spPr>
        <p:txBody>
          <a:bodyPr wrap="square">
            <a:spAutoFit/>
          </a:bodyPr>
          <a:lstStyle/>
          <a:p>
            <a:pPr algn="l"/>
            <a:r>
              <a:rPr sz="2400" b="1" i="0">
                <a:solidFill>
                  <a:srgbClr val="00B4D8"/>
                </a:solidFill>
              </a:rPr>
              <a:t>Restoration Suitability Model Comparison</a:t>
            </a:r>
          </a:p>
        </p:txBody>
      </p:sp>
      <p:sp>
        <p:nvSpPr>
          <p:cNvPr id="4" name="TextBox 3"/>
          <p:cNvSpPr txBox="1"/>
          <p:nvPr/>
        </p:nvSpPr>
        <p:spPr>
          <a:xfrm>
            <a:off x="320040" y="658368"/>
            <a:ext cx="11430000" cy="320040"/>
          </a:xfrm>
          <a:prstGeom prst="rect">
            <a:avLst/>
          </a:prstGeom>
          <a:noFill/>
        </p:spPr>
        <p:txBody>
          <a:bodyPr wrap="square">
            <a:spAutoFit/>
          </a:bodyPr>
          <a:lstStyle/>
          <a:p>
            <a:pPr algn="l"/>
            <a:r>
              <a:rPr sz="1200" b="0" i="0">
                <a:solidFill>
                  <a:srgbClr val="8AB4C8"/>
                </a:solidFill>
              </a:rPr>
              <a:t>Selected model: XGBoost (highest CV Macro-F1) — SYNTHETIC DATA</a:t>
            </a:r>
          </a:p>
        </p:txBody>
      </p:sp>
      <p:sp>
        <p:nvSpPr>
          <p:cNvPr id="5" name="Rectangle 4"/>
          <p:cNvSpPr/>
          <p:nvPr/>
        </p:nvSpPr>
        <p:spPr>
          <a:xfrm>
            <a:off x="0" y="1024128"/>
            <a:ext cx="12188952" cy="27432"/>
          </a:xfrm>
          <a:prstGeom prst="rect">
            <a:avLst/>
          </a:prstGeom>
          <a:solidFill>
            <a:srgbClr val="1B8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65392"/>
            <a:ext cx="12188952" cy="36576"/>
          </a:xfrm>
          <a:prstGeom prst="rect">
            <a:avLst/>
          </a:prstGeom>
          <a:solidFill>
            <a:srgbClr val="1B8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01968"/>
            <a:ext cx="8229600" cy="228600"/>
          </a:xfrm>
          <a:prstGeom prst="rect">
            <a:avLst/>
          </a:prstGeom>
          <a:noFill/>
        </p:spPr>
        <p:txBody>
          <a:bodyPr wrap="square">
            <a:spAutoFit/>
          </a:bodyPr>
          <a:lstStyle/>
          <a:p>
            <a:pPr algn="l"/>
            <a:r>
              <a:rPr sz="900" b="0" i="0">
                <a:solidFill>
                  <a:srgbClr val="8AB4C8"/>
                </a:solidFill>
              </a:rPr>
              <a:t>Oceanographic Reef Prediction Framework</a:t>
            </a:r>
          </a:p>
        </p:txBody>
      </p:sp>
      <p:sp>
        <p:nvSpPr>
          <p:cNvPr id="8" name="TextBox 7"/>
          <p:cNvSpPr txBox="1"/>
          <p:nvPr/>
        </p:nvSpPr>
        <p:spPr>
          <a:xfrm>
            <a:off x="11247120" y="6601968"/>
            <a:ext cx="731520" cy="228600"/>
          </a:xfrm>
          <a:prstGeom prst="rect">
            <a:avLst/>
          </a:prstGeom>
          <a:noFill/>
        </p:spPr>
        <p:txBody>
          <a:bodyPr wrap="square">
            <a:spAutoFit/>
          </a:bodyPr>
          <a:lstStyle/>
          <a:p>
            <a:pPr algn="r"/>
            <a:r>
              <a:rPr sz="900" b="0" i="0">
                <a:solidFill>
                  <a:srgbClr val="8AB4C8"/>
                </a:solidFill>
              </a:rPr>
              <a:t>10</a:t>
            </a:r>
          </a:p>
        </p:txBody>
      </p:sp>
      <p:pic>
        <p:nvPicPr>
          <p:cNvPr id="9" name="Picture 8" descr="image.png"/>
          <p:cNvPicPr>
            <a:picLocks noChangeAspect="1"/>
          </p:cNvPicPr>
          <p:nvPr/>
        </p:nvPicPr>
        <p:blipFill>
          <a:blip r:embed="rId2"/>
          <a:stretch>
            <a:fillRect/>
          </a:stretch>
        </p:blipFill>
        <p:spPr>
          <a:xfrm>
            <a:off x="228600" y="1115568"/>
            <a:ext cx="8549640" cy="4114800"/>
          </a:xfrm>
          <a:prstGeom prst="rect">
            <a:avLst/>
          </a:prstGeom>
        </p:spPr>
      </p:pic>
      <p:sp>
        <p:nvSpPr>
          <p:cNvPr id="10" name="Rectangle 9"/>
          <p:cNvSpPr/>
          <p:nvPr/>
        </p:nvSpPr>
        <p:spPr>
          <a:xfrm>
            <a:off x="8887968" y="1115568"/>
            <a:ext cx="3090672" cy="4114800"/>
          </a:xfrm>
          <a:prstGeom prst="rect">
            <a:avLst/>
          </a:prstGeom>
          <a:solidFill>
            <a:srgbClr val="122A4A"/>
          </a:solidFill>
          <a:ln w="2286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887968" y="1115568"/>
            <a:ext cx="3090672" cy="38404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0" y="1133856"/>
            <a:ext cx="2926080" cy="347472"/>
          </a:xfrm>
          <a:prstGeom prst="rect">
            <a:avLst/>
          </a:prstGeom>
          <a:noFill/>
        </p:spPr>
        <p:txBody>
          <a:bodyPr wrap="square">
            <a:spAutoFit/>
          </a:bodyPr>
          <a:lstStyle/>
          <a:p>
            <a:pPr algn="ctr"/>
            <a:r>
              <a:rPr sz="1050" b="1" i="0">
                <a:solidFill>
                  <a:srgbClr val="081224"/>
                </a:solidFill>
              </a:rPr>
              <a:t>Selected: XGBoost</a:t>
            </a:r>
          </a:p>
        </p:txBody>
      </p:sp>
      <p:sp>
        <p:nvSpPr>
          <p:cNvPr id="13" name="TextBox 12"/>
          <p:cNvSpPr txBox="1"/>
          <p:nvPr/>
        </p:nvSpPr>
        <p:spPr>
          <a:xfrm>
            <a:off x="8979408" y="1581912"/>
            <a:ext cx="1828800" cy="246888"/>
          </a:xfrm>
          <a:prstGeom prst="rect">
            <a:avLst/>
          </a:prstGeom>
          <a:noFill/>
        </p:spPr>
        <p:txBody>
          <a:bodyPr wrap="square">
            <a:spAutoFit/>
          </a:bodyPr>
          <a:lstStyle/>
          <a:p>
            <a:pPr algn="l"/>
            <a:r>
              <a:rPr sz="950" b="1" i="0">
                <a:solidFill>
                  <a:srgbClr val="E8F4F8"/>
                </a:solidFill>
              </a:rPr>
              <a:t>CV Macro-F1</a:t>
            </a:r>
          </a:p>
        </p:txBody>
      </p:sp>
      <p:sp>
        <p:nvSpPr>
          <p:cNvPr id="14" name="TextBox 13"/>
          <p:cNvSpPr txBox="1"/>
          <p:nvPr/>
        </p:nvSpPr>
        <p:spPr>
          <a:xfrm>
            <a:off x="10835640" y="1581912"/>
            <a:ext cx="1051560" cy="246888"/>
          </a:xfrm>
          <a:prstGeom prst="rect">
            <a:avLst/>
          </a:prstGeom>
          <a:noFill/>
        </p:spPr>
        <p:txBody>
          <a:bodyPr wrap="square">
            <a:spAutoFit/>
          </a:bodyPr>
          <a:lstStyle/>
          <a:p>
            <a:pPr algn="r"/>
            <a:r>
              <a:rPr sz="950" b="1" i="0">
                <a:solidFill>
                  <a:srgbClr val="00B4D8"/>
                </a:solidFill>
              </a:rPr>
              <a:t>0.7913  ± 0.008</a:t>
            </a:r>
          </a:p>
        </p:txBody>
      </p:sp>
      <p:sp>
        <p:nvSpPr>
          <p:cNvPr id="15" name="TextBox 14"/>
          <p:cNvSpPr txBox="1"/>
          <p:nvPr/>
        </p:nvSpPr>
        <p:spPr>
          <a:xfrm>
            <a:off x="8979408" y="1865376"/>
            <a:ext cx="1828800" cy="246888"/>
          </a:xfrm>
          <a:prstGeom prst="rect">
            <a:avLst/>
          </a:prstGeom>
          <a:noFill/>
        </p:spPr>
        <p:txBody>
          <a:bodyPr wrap="square">
            <a:spAutoFit/>
          </a:bodyPr>
          <a:lstStyle/>
          <a:p>
            <a:pPr algn="l"/>
            <a:r>
              <a:rPr sz="950" b="1" i="0">
                <a:solidFill>
                  <a:srgbClr val="E8F4F8"/>
                </a:solidFill>
              </a:rPr>
              <a:t>Test Macro-F1</a:t>
            </a:r>
          </a:p>
        </p:txBody>
      </p:sp>
      <p:sp>
        <p:nvSpPr>
          <p:cNvPr id="16" name="TextBox 15"/>
          <p:cNvSpPr txBox="1"/>
          <p:nvPr/>
        </p:nvSpPr>
        <p:spPr>
          <a:xfrm>
            <a:off x="10835640" y="1865376"/>
            <a:ext cx="1051560" cy="246888"/>
          </a:xfrm>
          <a:prstGeom prst="rect">
            <a:avLst/>
          </a:prstGeom>
          <a:noFill/>
        </p:spPr>
        <p:txBody>
          <a:bodyPr wrap="square">
            <a:spAutoFit/>
          </a:bodyPr>
          <a:lstStyle/>
          <a:p>
            <a:pPr algn="r"/>
            <a:r>
              <a:rPr sz="950" b="1" i="0">
                <a:solidFill>
                  <a:srgbClr val="00B4D8"/>
                </a:solidFill>
              </a:rPr>
              <a:t>0.8029</a:t>
            </a:r>
          </a:p>
        </p:txBody>
      </p:sp>
      <p:sp>
        <p:nvSpPr>
          <p:cNvPr id="17" name="TextBox 16"/>
          <p:cNvSpPr txBox="1"/>
          <p:nvPr/>
        </p:nvSpPr>
        <p:spPr>
          <a:xfrm>
            <a:off x="8979408" y="2148840"/>
            <a:ext cx="1828800" cy="246888"/>
          </a:xfrm>
          <a:prstGeom prst="rect">
            <a:avLst/>
          </a:prstGeom>
          <a:noFill/>
        </p:spPr>
        <p:txBody>
          <a:bodyPr wrap="square">
            <a:spAutoFit/>
          </a:bodyPr>
          <a:lstStyle/>
          <a:p>
            <a:pPr algn="l"/>
            <a:r>
              <a:rPr sz="950" b="1" i="0">
                <a:solidFill>
                  <a:srgbClr val="E8F4F8"/>
                </a:solidFill>
              </a:rPr>
              <a:t>Balanced Accuracy</a:t>
            </a:r>
          </a:p>
        </p:txBody>
      </p:sp>
      <p:sp>
        <p:nvSpPr>
          <p:cNvPr id="18" name="TextBox 17"/>
          <p:cNvSpPr txBox="1"/>
          <p:nvPr/>
        </p:nvSpPr>
        <p:spPr>
          <a:xfrm>
            <a:off x="10835640" y="2148840"/>
            <a:ext cx="1051560" cy="246888"/>
          </a:xfrm>
          <a:prstGeom prst="rect">
            <a:avLst/>
          </a:prstGeom>
          <a:noFill/>
        </p:spPr>
        <p:txBody>
          <a:bodyPr wrap="square">
            <a:spAutoFit/>
          </a:bodyPr>
          <a:lstStyle/>
          <a:p>
            <a:pPr algn="r"/>
            <a:r>
              <a:rPr sz="950" b="1" i="0">
                <a:solidFill>
                  <a:srgbClr val="00B4D8"/>
                </a:solidFill>
              </a:rPr>
              <a:t>0.8121</a:t>
            </a:r>
          </a:p>
        </p:txBody>
      </p:sp>
      <p:sp>
        <p:nvSpPr>
          <p:cNvPr id="19" name="TextBox 18"/>
          <p:cNvSpPr txBox="1"/>
          <p:nvPr/>
        </p:nvSpPr>
        <p:spPr>
          <a:xfrm>
            <a:off x="8979408" y="2432304"/>
            <a:ext cx="1828800" cy="246888"/>
          </a:xfrm>
          <a:prstGeom prst="rect">
            <a:avLst/>
          </a:prstGeom>
          <a:noFill/>
        </p:spPr>
        <p:txBody>
          <a:bodyPr wrap="square">
            <a:spAutoFit/>
          </a:bodyPr>
          <a:lstStyle/>
          <a:p>
            <a:pPr algn="l"/>
            <a:r>
              <a:rPr sz="950" b="1" i="0">
                <a:solidFill>
                  <a:srgbClr val="E8F4F8"/>
                </a:solidFill>
              </a:rPr>
              <a:t>Overall Accuracy</a:t>
            </a:r>
          </a:p>
        </p:txBody>
      </p:sp>
      <p:sp>
        <p:nvSpPr>
          <p:cNvPr id="20" name="TextBox 19"/>
          <p:cNvSpPr txBox="1"/>
          <p:nvPr/>
        </p:nvSpPr>
        <p:spPr>
          <a:xfrm>
            <a:off x="10835640" y="2432304"/>
            <a:ext cx="1051560" cy="246888"/>
          </a:xfrm>
          <a:prstGeom prst="rect">
            <a:avLst/>
          </a:prstGeom>
          <a:noFill/>
        </p:spPr>
        <p:txBody>
          <a:bodyPr wrap="square">
            <a:spAutoFit/>
          </a:bodyPr>
          <a:lstStyle/>
          <a:p>
            <a:pPr algn="r"/>
            <a:r>
              <a:rPr sz="950" b="1" i="0">
                <a:solidFill>
                  <a:srgbClr val="00B4D8"/>
                </a:solidFill>
              </a:rPr>
              <a:t>0.8277</a:t>
            </a:r>
          </a:p>
        </p:txBody>
      </p:sp>
      <p:sp>
        <p:nvSpPr>
          <p:cNvPr id="21" name="TextBox 20"/>
          <p:cNvSpPr txBox="1"/>
          <p:nvPr/>
        </p:nvSpPr>
        <p:spPr>
          <a:xfrm>
            <a:off x="8979408" y="2715768"/>
            <a:ext cx="1828800" cy="246888"/>
          </a:xfrm>
          <a:prstGeom prst="rect">
            <a:avLst/>
          </a:prstGeom>
          <a:noFill/>
        </p:spPr>
        <p:txBody>
          <a:bodyPr wrap="square">
            <a:spAutoFit/>
          </a:bodyPr>
          <a:lstStyle/>
          <a:p>
            <a:pPr algn="l"/>
            <a:r>
              <a:rPr sz="950" b="1" i="0">
                <a:solidFill>
                  <a:srgbClr val="E8F4F8"/>
                </a:solidFill>
              </a:rPr>
              <a:t/>
            </a:r>
          </a:p>
        </p:txBody>
      </p:sp>
      <p:sp>
        <p:nvSpPr>
          <p:cNvPr id="22" name="TextBox 21"/>
          <p:cNvSpPr txBox="1"/>
          <p:nvPr/>
        </p:nvSpPr>
        <p:spPr>
          <a:xfrm>
            <a:off x="8979408" y="2999232"/>
            <a:ext cx="1828800" cy="246888"/>
          </a:xfrm>
          <a:prstGeom prst="rect">
            <a:avLst/>
          </a:prstGeom>
          <a:noFill/>
        </p:spPr>
        <p:txBody>
          <a:bodyPr wrap="square">
            <a:spAutoFit/>
          </a:bodyPr>
          <a:lstStyle/>
          <a:p>
            <a:pPr algn="l"/>
            <a:r>
              <a:rPr sz="950" b="1" i="0">
                <a:solidFill>
                  <a:srgbClr val="E8F4F8"/>
                </a:solidFill>
              </a:rPr>
              <a:t>Per-class Test F1:</a:t>
            </a:r>
          </a:p>
        </p:txBody>
      </p:sp>
      <p:sp>
        <p:nvSpPr>
          <p:cNvPr id="23" name="TextBox 22"/>
          <p:cNvSpPr txBox="1"/>
          <p:nvPr/>
        </p:nvSpPr>
        <p:spPr>
          <a:xfrm>
            <a:off x="8979408" y="3282696"/>
            <a:ext cx="1828800" cy="246888"/>
          </a:xfrm>
          <a:prstGeom prst="rect">
            <a:avLst/>
          </a:prstGeom>
          <a:noFill/>
        </p:spPr>
        <p:txBody>
          <a:bodyPr wrap="square">
            <a:spAutoFit/>
          </a:bodyPr>
          <a:lstStyle/>
          <a:p>
            <a:pPr algn="l"/>
            <a:r>
              <a:rPr sz="950" b="0" i="0">
                <a:solidFill>
                  <a:srgbClr val="8AB4C8"/>
                </a:solidFill>
              </a:rPr>
              <a:t>  suitable</a:t>
            </a:r>
          </a:p>
        </p:txBody>
      </p:sp>
      <p:sp>
        <p:nvSpPr>
          <p:cNvPr id="24" name="TextBox 23"/>
          <p:cNvSpPr txBox="1"/>
          <p:nvPr/>
        </p:nvSpPr>
        <p:spPr>
          <a:xfrm>
            <a:off x="10835640" y="3282696"/>
            <a:ext cx="1051560" cy="246888"/>
          </a:xfrm>
          <a:prstGeom prst="rect">
            <a:avLst/>
          </a:prstGeom>
          <a:noFill/>
        </p:spPr>
        <p:txBody>
          <a:bodyPr wrap="square">
            <a:spAutoFit/>
          </a:bodyPr>
          <a:lstStyle/>
          <a:p>
            <a:pPr algn="r"/>
            <a:r>
              <a:rPr sz="950" b="1" i="0">
                <a:solidFill>
                  <a:srgbClr val="00B4D8"/>
                </a:solidFill>
              </a:rPr>
              <a:t>0.7204</a:t>
            </a:r>
          </a:p>
        </p:txBody>
      </p:sp>
      <p:sp>
        <p:nvSpPr>
          <p:cNvPr id="25" name="TextBox 24"/>
          <p:cNvSpPr txBox="1"/>
          <p:nvPr/>
        </p:nvSpPr>
        <p:spPr>
          <a:xfrm>
            <a:off x="8979408" y="3566160"/>
            <a:ext cx="1828800" cy="246888"/>
          </a:xfrm>
          <a:prstGeom prst="rect">
            <a:avLst/>
          </a:prstGeom>
          <a:noFill/>
        </p:spPr>
        <p:txBody>
          <a:bodyPr wrap="square">
            <a:spAutoFit/>
          </a:bodyPr>
          <a:lstStyle/>
          <a:p>
            <a:pPr algn="l"/>
            <a:r>
              <a:rPr sz="950" b="0" i="0">
                <a:solidFill>
                  <a:srgbClr val="8AB4C8"/>
                </a:solidFill>
              </a:rPr>
              <a:t>  mod. suitable</a:t>
            </a:r>
          </a:p>
        </p:txBody>
      </p:sp>
      <p:sp>
        <p:nvSpPr>
          <p:cNvPr id="26" name="TextBox 25"/>
          <p:cNvSpPr txBox="1"/>
          <p:nvPr/>
        </p:nvSpPr>
        <p:spPr>
          <a:xfrm>
            <a:off x="10835640" y="3566160"/>
            <a:ext cx="1051560" cy="246888"/>
          </a:xfrm>
          <a:prstGeom prst="rect">
            <a:avLst/>
          </a:prstGeom>
          <a:noFill/>
        </p:spPr>
        <p:txBody>
          <a:bodyPr wrap="square">
            <a:spAutoFit/>
          </a:bodyPr>
          <a:lstStyle/>
          <a:p>
            <a:pPr algn="r"/>
            <a:r>
              <a:rPr sz="950" b="1" i="0">
                <a:solidFill>
                  <a:srgbClr val="00B4D8"/>
                </a:solidFill>
              </a:rPr>
              <a:t>0.8884</a:t>
            </a:r>
          </a:p>
        </p:txBody>
      </p:sp>
      <p:sp>
        <p:nvSpPr>
          <p:cNvPr id="27" name="TextBox 26"/>
          <p:cNvSpPr txBox="1"/>
          <p:nvPr/>
        </p:nvSpPr>
        <p:spPr>
          <a:xfrm>
            <a:off x="8979408" y="3849624"/>
            <a:ext cx="1828800" cy="246888"/>
          </a:xfrm>
          <a:prstGeom prst="rect">
            <a:avLst/>
          </a:prstGeom>
          <a:noFill/>
        </p:spPr>
        <p:txBody>
          <a:bodyPr wrap="square">
            <a:spAutoFit/>
          </a:bodyPr>
          <a:lstStyle/>
          <a:p>
            <a:pPr algn="l"/>
            <a:r>
              <a:rPr sz="950" b="0" i="0">
                <a:solidFill>
                  <a:srgbClr val="8AB4C8"/>
                </a:solidFill>
              </a:rPr>
              <a:t>  unsuitable</a:t>
            </a:r>
          </a:p>
        </p:txBody>
      </p:sp>
      <p:sp>
        <p:nvSpPr>
          <p:cNvPr id="28" name="TextBox 27"/>
          <p:cNvSpPr txBox="1"/>
          <p:nvPr/>
        </p:nvSpPr>
        <p:spPr>
          <a:xfrm>
            <a:off x="10835640" y="3849624"/>
            <a:ext cx="1051560" cy="246888"/>
          </a:xfrm>
          <a:prstGeom prst="rect">
            <a:avLst/>
          </a:prstGeom>
          <a:noFill/>
        </p:spPr>
        <p:txBody>
          <a:bodyPr wrap="square">
            <a:spAutoFit/>
          </a:bodyPr>
          <a:lstStyle/>
          <a:p>
            <a:pPr algn="r"/>
            <a:r>
              <a:rPr sz="950" b="1" i="0">
                <a:solidFill>
                  <a:srgbClr val="00B4D8"/>
                </a:solidFill>
              </a:rPr>
              <a:t>0.8000</a:t>
            </a:r>
          </a:p>
        </p:txBody>
      </p:sp>
      <p:sp>
        <p:nvSpPr>
          <p:cNvPr id="29" name="Rectangle 28"/>
          <p:cNvSpPr/>
          <p:nvPr/>
        </p:nvSpPr>
        <p:spPr>
          <a:xfrm>
            <a:off x="228600" y="5321808"/>
            <a:ext cx="11750040" cy="932688"/>
          </a:xfrm>
          <a:prstGeom prst="rect">
            <a:avLst/>
          </a:prstGeom>
          <a:solidFill>
            <a:srgbClr val="122A4A"/>
          </a:solidFill>
          <a:ln w="6350">
            <a:solidFill>
              <a:srgbClr val="1B8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 y="5376672"/>
            <a:ext cx="11430000" cy="256032"/>
          </a:xfrm>
          <a:prstGeom prst="rect">
            <a:avLst/>
          </a:prstGeom>
          <a:noFill/>
        </p:spPr>
        <p:txBody>
          <a:bodyPr wrap="square">
            <a:spAutoFit/>
          </a:bodyPr>
          <a:lstStyle/>
          <a:p>
            <a:pPr algn="l"/>
            <a:r>
              <a:rPr sz="1000" b="0" i="0">
                <a:solidFill>
                  <a:srgbClr val="E8F4F8"/>
                </a:solidFill>
              </a:rPr>
              <a:t>Why XGBoost won: XGBoost achieved CV macro-F1 of 0.7913, ahead of Random Forest (0.7839) and Logistic Regression (0.7808). It also produced the best test macro-F1 (0.8029) and accuracy (0.8277), capturing non-linear interactions between substrate and water quality.</a:t>
            </a:r>
          </a:p>
        </p:txBody>
      </p:sp>
      <p:sp>
        <p:nvSpPr>
          <p:cNvPr id="31" name="Rectangle 30"/>
          <p:cNvSpPr/>
          <p:nvPr/>
        </p:nvSpPr>
        <p:spPr>
          <a:xfrm>
            <a:off x="228600" y="6309360"/>
            <a:ext cx="11750040" cy="274320"/>
          </a:xfrm>
          <a:prstGeom prst="rect">
            <a:avLst/>
          </a:prstGeom>
          <a:solidFill>
            <a:srgbClr val="143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0040" y="6327648"/>
            <a:ext cx="11567160" cy="237744"/>
          </a:xfrm>
          <a:prstGeom prst="rect">
            <a:avLst/>
          </a:prstGeom>
          <a:noFill/>
        </p:spPr>
        <p:txBody>
          <a:bodyPr wrap="square">
            <a:spAutoFit/>
          </a:bodyPr>
          <a:lstStyle/>
          <a:p>
            <a:pPr algn="l"/>
            <a:r>
              <a:rPr sz="950" b="0" i="1">
                <a:solidFill>
                  <a:srgbClr val="F4A261"/>
                </a:solidFill>
              </a:rPr>
              <a:t>SYNTHETIC DATA DISCLAIMER: These metrics reflect performance on synthetic observations only. They do not indicate real-world coral reef prediction accuracy.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1224"/>
        </a:solidFill>
        <a:effectLst/>
      </p:bgPr>
    </p:bg>
    <p:spTree>
      <p:nvGrpSpPr>
        <p:cNvPr id="1" name=""/>
        <p:cNvGrpSpPr/>
        <p:nvPr/>
      </p:nvGrpSpPr>
      <p:grpSpPr/>
      <p:sp>
        <p:nvSpPr>
          <p:cNvPr id="2" name="Rectangle 1"/>
          <p:cNvSpPr/>
          <p:nvPr/>
        </p:nvSpPr>
        <p:spPr>
          <a:xfrm>
            <a:off x="0" y="0"/>
            <a:ext cx="12188952" cy="1024128"/>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37160"/>
            <a:ext cx="11430000" cy="594360"/>
          </a:xfrm>
          <a:prstGeom prst="rect">
            <a:avLst/>
          </a:prstGeom>
          <a:noFill/>
        </p:spPr>
        <p:txBody>
          <a:bodyPr wrap="square">
            <a:spAutoFit/>
          </a:bodyPr>
          <a:lstStyle/>
          <a:p>
            <a:pPr algn="l"/>
            <a:r>
              <a:rPr sz="2400" b="1" i="0">
                <a:solidFill>
                  <a:srgbClr val="00B4D8"/>
                </a:solidFill>
              </a:rPr>
              <a:t>Reproducibility and Experiment Tracking</a:t>
            </a:r>
          </a:p>
        </p:txBody>
      </p:sp>
      <p:sp>
        <p:nvSpPr>
          <p:cNvPr id="4" name="TextBox 3"/>
          <p:cNvSpPr txBox="1"/>
          <p:nvPr/>
        </p:nvSpPr>
        <p:spPr>
          <a:xfrm>
            <a:off x="320040" y="658368"/>
            <a:ext cx="11430000" cy="320040"/>
          </a:xfrm>
          <a:prstGeom prst="rect">
            <a:avLst/>
          </a:prstGeom>
          <a:noFill/>
        </p:spPr>
        <p:txBody>
          <a:bodyPr wrap="square">
            <a:spAutoFit/>
          </a:bodyPr>
          <a:lstStyle/>
          <a:p>
            <a:pPr algn="l"/>
            <a:r>
              <a:rPr sz="1200" b="0" i="0">
                <a:solidFill>
                  <a:srgbClr val="8AB4C8"/>
                </a:solidFill>
              </a:rPr>
              <a:t>Every step from data generation to candidate registration is versioned</a:t>
            </a:r>
          </a:p>
        </p:txBody>
      </p:sp>
      <p:sp>
        <p:nvSpPr>
          <p:cNvPr id="5" name="Rectangle 4"/>
          <p:cNvSpPr/>
          <p:nvPr/>
        </p:nvSpPr>
        <p:spPr>
          <a:xfrm>
            <a:off x="0" y="1024128"/>
            <a:ext cx="12188952" cy="27432"/>
          </a:xfrm>
          <a:prstGeom prst="rect">
            <a:avLst/>
          </a:prstGeom>
          <a:solidFill>
            <a:srgbClr val="1B8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65392"/>
            <a:ext cx="12188952" cy="36576"/>
          </a:xfrm>
          <a:prstGeom prst="rect">
            <a:avLst/>
          </a:prstGeom>
          <a:solidFill>
            <a:srgbClr val="1B8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01968"/>
            <a:ext cx="8229600" cy="228600"/>
          </a:xfrm>
          <a:prstGeom prst="rect">
            <a:avLst/>
          </a:prstGeom>
          <a:noFill/>
        </p:spPr>
        <p:txBody>
          <a:bodyPr wrap="square">
            <a:spAutoFit/>
          </a:bodyPr>
          <a:lstStyle/>
          <a:p>
            <a:pPr algn="l"/>
            <a:r>
              <a:rPr sz="900" b="0" i="0">
                <a:solidFill>
                  <a:srgbClr val="8AB4C8"/>
                </a:solidFill>
              </a:rPr>
              <a:t>Oceanographic Reef Prediction Framework</a:t>
            </a:r>
          </a:p>
        </p:txBody>
      </p:sp>
      <p:sp>
        <p:nvSpPr>
          <p:cNvPr id="8" name="TextBox 7"/>
          <p:cNvSpPr txBox="1"/>
          <p:nvPr/>
        </p:nvSpPr>
        <p:spPr>
          <a:xfrm>
            <a:off x="11247120" y="6601968"/>
            <a:ext cx="731520" cy="228600"/>
          </a:xfrm>
          <a:prstGeom prst="rect">
            <a:avLst/>
          </a:prstGeom>
          <a:noFill/>
        </p:spPr>
        <p:txBody>
          <a:bodyPr wrap="square">
            <a:spAutoFit/>
          </a:bodyPr>
          <a:lstStyle/>
          <a:p>
            <a:pPr algn="r"/>
            <a:r>
              <a:rPr sz="900" b="0" i="0">
                <a:solidFill>
                  <a:srgbClr val="8AB4C8"/>
                </a:solidFill>
              </a:rPr>
              <a:t>11</a:t>
            </a:r>
          </a:p>
        </p:txBody>
      </p:sp>
      <p:pic>
        <p:nvPicPr>
          <p:cNvPr id="9" name="Picture 8" descr="image.png"/>
          <p:cNvPicPr>
            <a:picLocks noChangeAspect="1"/>
          </p:cNvPicPr>
          <p:nvPr/>
        </p:nvPicPr>
        <p:blipFill>
          <a:blip r:embed="rId2"/>
          <a:stretch>
            <a:fillRect/>
          </a:stretch>
        </p:blipFill>
        <p:spPr>
          <a:xfrm>
            <a:off x="228600" y="1115568"/>
            <a:ext cx="11750040" cy="2240280"/>
          </a:xfrm>
          <a:prstGeom prst="rect">
            <a:avLst/>
          </a:prstGeom>
        </p:spPr>
      </p:pic>
      <p:sp>
        <p:nvSpPr>
          <p:cNvPr id="10" name="Rectangle 9"/>
          <p:cNvSpPr/>
          <p:nvPr/>
        </p:nvSpPr>
        <p:spPr>
          <a:xfrm>
            <a:off x="256032" y="3493008"/>
            <a:ext cx="11658600" cy="379476"/>
          </a:xfrm>
          <a:prstGeom prst="rect">
            <a:avLst/>
          </a:prstGeom>
          <a:solidFill>
            <a:srgbClr val="12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 y="3547872"/>
            <a:ext cx="2103120" cy="274320"/>
          </a:xfrm>
          <a:prstGeom prst="rect">
            <a:avLst/>
          </a:prstGeom>
          <a:noFill/>
        </p:spPr>
        <p:txBody>
          <a:bodyPr wrap="square">
            <a:spAutoFit/>
          </a:bodyPr>
          <a:lstStyle/>
          <a:p>
            <a:pPr algn="l"/>
            <a:r>
              <a:rPr sz="1050" b="1" i="0">
                <a:solidFill>
                  <a:srgbClr val="00B4D8"/>
                </a:solidFill>
              </a:rPr>
              <a:t>Git</a:t>
            </a:r>
          </a:p>
        </p:txBody>
      </p:sp>
      <p:sp>
        <p:nvSpPr>
          <p:cNvPr id="12" name="TextBox 11"/>
          <p:cNvSpPr txBox="1"/>
          <p:nvPr/>
        </p:nvSpPr>
        <p:spPr>
          <a:xfrm>
            <a:off x="2514600" y="3547872"/>
            <a:ext cx="9345168" cy="274320"/>
          </a:xfrm>
          <a:prstGeom prst="rect">
            <a:avLst/>
          </a:prstGeom>
          <a:noFill/>
        </p:spPr>
        <p:txBody>
          <a:bodyPr wrap="square">
            <a:spAutoFit/>
          </a:bodyPr>
          <a:lstStyle/>
          <a:p>
            <a:pPr algn="l"/>
            <a:r>
              <a:rPr sz="1050" b="0" i="0">
                <a:solidFill>
                  <a:srgbClr val="E8F4F8"/>
                </a:solidFill>
              </a:rPr>
              <a:t>Source code versioning — every training run is tied to a specific commit hash.</a:t>
            </a:r>
          </a:p>
        </p:txBody>
      </p:sp>
      <p:sp>
        <p:nvSpPr>
          <p:cNvPr id="13" name="Rectangle 12"/>
          <p:cNvSpPr/>
          <p:nvPr/>
        </p:nvSpPr>
        <p:spPr>
          <a:xfrm>
            <a:off x="256032" y="3881628"/>
            <a:ext cx="11658600" cy="379476"/>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3936491"/>
            <a:ext cx="2103120" cy="274320"/>
          </a:xfrm>
          <a:prstGeom prst="rect">
            <a:avLst/>
          </a:prstGeom>
          <a:noFill/>
        </p:spPr>
        <p:txBody>
          <a:bodyPr wrap="square">
            <a:spAutoFit/>
          </a:bodyPr>
          <a:lstStyle/>
          <a:p>
            <a:pPr algn="l"/>
            <a:r>
              <a:rPr sz="1050" b="1" i="0">
                <a:solidFill>
                  <a:srgbClr val="00B4D8"/>
                </a:solidFill>
              </a:rPr>
              <a:t>DVC</a:t>
            </a:r>
          </a:p>
        </p:txBody>
      </p:sp>
      <p:sp>
        <p:nvSpPr>
          <p:cNvPr id="15" name="TextBox 14"/>
          <p:cNvSpPr txBox="1"/>
          <p:nvPr/>
        </p:nvSpPr>
        <p:spPr>
          <a:xfrm>
            <a:off x="2514600" y="3936491"/>
            <a:ext cx="9345168" cy="274320"/>
          </a:xfrm>
          <a:prstGeom prst="rect">
            <a:avLst/>
          </a:prstGeom>
          <a:noFill/>
        </p:spPr>
        <p:txBody>
          <a:bodyPr wrap="square">
            <a:spAutoFit/>
          </a:bodyPr>
          <a:lstStyle/>
          <a:p>
            <a:pPr algn="l"/>
            <a:r>
              <a:rPr sz="1050" b="0" i="0">
                <a:solidFill>
                  <a:srgbClr val="E8F4F8"/>
                </a:solidFill>
              </a:rPr>
              <a:t>Data and pipeline versioning — dvc repro reruns only changed stages (params.yaml-driven).</a:t>
            </a:r>
          </a:p>
        </p:txBody>
      </p:sp>
      <p:sp>
        <p:nvSpPr>
          <p:cNvPr id="16" name="Rectangle 15"/>
          <p:cNvSpPr/>
          <p:nvPr/>
        </p:nvSpPr>
        <p:spPr>
          <a:xfrm>
            <a:off x="256032" y="4270248"/>
            <a:ext cx="11658600" cy="379476"/>
          </a:xfrm>
          <a:prstGeom prst="rect">
            <a:avLst/>
          </a:prstGeom>
          <a:solidFill>
            <a:srgbClr val="12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472" y="4325112"/>
            <a:ext cx="2103120" cy="274320"/>
          </a:xfrm>
          <a:prstGeom prst="rect">
            <a:avLst/>
          </a:prstGeom>
          <a:noFill/>
        </p:spPr>
        <p:txBody>
          <a:bodyPr wrap="square">
            <a:spAutoFit/>
          </a:bodyPr>
          <a:lstStyle/>
          <a:p>
            <a:pPr algn="l"/>
            <a:r>
              <a:rPr sz="1050" b="1" i="0">
                <a:solidFill>
                  <a:srgbClr val="00B4D8"/>
                </a:solidFill>
              </a:rPr>
              <a:t>params.yaml</a:t>
            </a:r>
          </a:p>
        </p:txBody>
      </p:sp>
      <p:sp>
        <p:nvSpPr>
          <p:cNvPr id="18" name="TextBox 17"/>
          <p:cNvSpPr txBox="1"/>
          <p:nvPr/>
        </p:nvSpPr>
        <p:spPr>
          <a:xfrm>
            <a:off x="2514600" y="4325112"/>
            <a:ext cx="9345168" cy="274320"/>
          </a:xfrm>
          <a:prstGeom prst="rect">
            <a:avLst/>
          </a:prstGeom>
          <a:noFill/>
        </p:spPr>
        <p:txBody>
          <a:bodyPr wrap="square">
            <a:spAutoFit/>
          </a:bodyPr>
          <a:lstStyle/>
          <a:p>
            <a:pPr algn="l"/>
            <a:r>
              <a:rPr sz="1050" b="0" i="0">
                <a:solidFill>
                  <a:srgbClr val="E8F4F8"/>
                </a:solidFill>
              </a:rPr>
              <a:t>Single source of truth for all hyperparameters, dataset size, split ratios, thresholds.</a:t>
            </a:r>
          </a:p>
        </p:txBody>
      </p:sp>
      <p:sp>
        <p:nvSpPr>
          <p:cNvPr id="19" name="Rectangle 18"/>
          <p:cNvSpPr/>
          <p:nvPr/>
        </p:nvSpPr>
        <p:spPr>
          <a:xfrm>
            <a:off x="256032" y="4658868"/>
            <a:ext cx="11658600" cy="379476"/>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 y="4713731"/>
            <a:ext cx="2103120" cy="274320"/>
          </a:xfrm>
          <a:prstGeom prst="rect">
            <a:avLst/>
          </a:prstGeom>
          <a:noFill/>
        </p:spPr>
        <p:txBody>
          <a:bodyPr wrap="square">
            <a:spAutoFit/>
          </a:bodyPr>
          <a:lstStyle/>
          <a:p>
            <a:pPr algn="l"/>
            <a:r>
              <a:rPr sz="1050" b="1" i="0">
                <a:solidFill>
                  <a:srgbClr val="00B4D8"/>
                </a:solidFill>
              </a:rPr>
              <a:t>MLflow</a:t>
            </a:r>
          </a:p>
        </p:txBody>
      </p:sp>
      <p:sp>
        <p:nvSpPr>
          <p:cNvPr id="21" name="TextBox 20"/>
          <p:cNvSpPr txBox="1"/>
          <p:nvPr/>
        </p:nvSpPr>
        <p:spPr>
          <a:xfrm>
            <a:off x="2514600" y="4713731"/>
            <a:ext cx="9345168" cy="274320"/>
          </a:xfrm>
          <a:prstGeom prst="rect">
            <a:avLst/>
          </a:prstGeom>
          <a:noFill/>
        </p:spPr>
        <p:txBody>
          <a:bodyPr wrap="square">
            <a:spAutoFit/>
          </a:bodyPr>
          <a:lstStyle/>
          <a:p>
            <a:pPr algn="l"/>
            <a:r>
              <a:rPr sz="1050" b="0" i="0">
                <a:solidFill>
                  <a:srgbClr val="E8F4F8"/>
                </a:solidFill>
              </a:rPr>
              <a:t>Experiment tracking — logs parameters, CV scores, test metrics, confusion matrix, model artifact.</a:t>
            </a:r>
          </a:p>
        </p:txBody>
      </p:sp>
      <p:sp>
        <p:nvSpPr>
          <p:cNvPr id="22" name="Rectangle 21"/>
          <p:cNvSpPr/>
          <p:nvPr/>
        </p:nvSpPr>
        <p:spPr>
          <a:xfrm>
            <a:off x="256032" y="5047488"/>
            <a:ext cx="11658600" cy="379476"/>
          </a:xfrm>
          <a:prstGeom prst="rect">
            <a:avLst/>
          </a:prstGeom>
          <a:solidFill>
            <a:srgbClr val="12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7472" y="5102351"/>
            <a:ext cx="2103120" cy="274320"/>
          </a:xfrm>
          <a:prstGeom prst="rect">
            <a:avLst/>
          </a:prstGeom>
          <a:noFill/>
        </p:spPr>
        <p:txBody>
          <a:bodyPr wrap="square">
            <a:spAutoFit/>
          </a:bodyPr>
          <a:lstStyle/>
          <a:p>
            <a:pPr algn="l"/>
            <a:r>
              <a:rPr sz="1050" b="1" i="0">
                <a:solidFill>
                  <a:srgbClr val="00B4D8"/>
                </a:solidFill>
              </a:rPr>
              <a:t>Saved preprocessors</a:t>
            </a:r>
          </a:p>
        </p:txBody>
      </p:sp>
      <p:sp>
        <p:nvSpPr>
          <p:cNvPr id="24" name="TextBox 23"/>
          <p:cNvSpPr txBox="1"/>
          <p:nvPr/>
        </p:nvSpPr>
        <p:spPr>
          <a:xfrm>
            <a:off x="2514600" y="5102351"/>
            <a:ext cx="9345168" cy="274320"/>
          </a:xfrm>
          <a:prstGeom prst="rect">
            <a:avLst/>
          </a:prstGeom>
          <a:noFill/>
        </p:spPr>
        <p:txBody>
          <a:bodyPr wrap="square">
            <a:spAutoFit/>
          </a:bodyPr>
          <a:lstStyle/>
          <a:p>
            <a:pPr algn="l"/>
            <a:r>
              <a:rPr sz="1050" b="0" i="0">
                <a:solidFill>
                  <a:srgbClr val="E8F4F8"/>
                </a:solidFill>
              </a:rPr>
              <a:t>Fitted ColumnTransformer (.joblib) artifacts preserved — inference uses same scaling as training.</a:t>
            </a:r>
          </a:p>
        </p:txBody>
      </p:sp>
      <p:sp>
        <p:nvSpPr>
          <p:cNvPr id="25" name="Rectangle 24"/>
          <p:cNvSpPr/>
          <p:nvPr/>
        </p:nvSpPr>
        <p:spPr>
          <a:xfrm>
            <a:off x="256032" y="5436107"/>
            <a:ext cx="11658600" cy="379476"/>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7472" y="5490971"/>
            <a:ext cx="2103120" cy="274320"/>
          </a:xfrm>
          <a:prstGeom prst="rect">
            <a:avLst/>
          </a:prstGeom>
          <a:noFill/>
        </p:spPr>
        <p:txBody>
          <a:bodyPr wrap="square">
            <a:spAutoFit/>
          </a:bodyPr>
          <a:lstStyle/>
          <a:p>
            <a:pPr algn="l"/>
            <a:r>
              <a:rPr sz="1050" b="1" i="0">
                <a:solidFill>
                  <a:srgbClr val="00B4D8"/>
                </a:solidFill>
              </a:rPr>
              <a:t>Model registry</a:t>
            </a:r>
          </a:p>
        </p:txBody>
      </p:sp>
      <p:sp>
        <p:nvSpPr>
          <p:cNvPr id="27" name="TextBox 26"/>
          <p:cNvSpPr txBox="1"/>
          <p:nvPr/>
        </p:nvSpPr>
        <p:spPr>
          <a:xfrm>
            <a:off x="2514600" y="5490971"/>
            <a:ext cx="9345168" cy="274320"/>
          </a:xfrm>
          <a:prstGeom prst="rect">
            <a:avLst/>
          </a:prstGeom>
          <a:noFill/>
        </p:spPr>
        <p:txBody>
          <a:bodyPr wrap="square">
            <a:spAutoFit/>
          </a:bodyPr>
          <a:lstStyle/>
          <a:p>
            <a:pPr algn="l"/>
            <a:r>
              <a:rPr sz="1050" b="0" i="0">
                <a:solidFill>
                  <a:srgbClr val="E8F4F8"/>
                </a:solidFill>
              </a:rPr>
              <a:t>Champions registered in MLflow registry with 'champion' alias. Candidates never auto-promoted.</a:t>
            </a:r>
          </a:p>
        </p:txBody>
      </p:sp>
      <p:sp>
        <p:nvSpPr>
          <p:cNvPr id="28" name="Rectangle 27"/>
          <p:cNvSpPr/>
          <p:nvPr/>
        </p:nvSpPr>
        <p:spPr>
          <a:xfrm>
            <a:off x="256032" y="5824727"/>
            <a:ext cx="11658600" cy="379476"/>
          </a:xfrm>
          <a:prstGeom prst="rect">
            <a:avLst/>
          </a:prstGeom>
          <a:solidFill>
            <a:srgbClr val="12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7472" y="5879591"/>
            <a:ext cx="2103120" cy="274320"/>
          </a:xfrm>
          <a:prstGeom prst="rect">
            <a:avLst/>
          </a:prstGeom>
          <a:noFill/>
        </p:spPr>
        <p:txBody>
          <a:bodyPr wrap="square">
            <a:spAutoFit/>
          </a:bodyPr>
          <a:lstStyle/>
          <a:p>
            <a:pPr algn="l"/>
            <a:r>
              <a:rPr sz="1050" b="1" i="0">
                <a:solidFill>
                  <a:srgbClr val="00B4D8"/>
                </a:solidFill>
              </a:rPr>
              <a:t>1,023 tests</a:t>
            </a:r>
          </a:p>
        </p:txBody>
      </p:sp>
      <p:sp>
        <p:nvSpPr>
          <p:cNvPr id="30" name="TextBox 29"/>
          <p:cNvSpPr txBox="1"/>
          <p:nvPr/>
        </p:nvSpPr>
        <p:spPr>
          <a:xfrm>
            <a:off x="2514600" y="5879591"/>
            <a:ext cx="9345168" cy="274320"/>
          </a:xfrm>
          <a:prstGeom prst="rect">
            <a:avLst/>
          </a:prstGeom>
          <a:noFill/>
        </p:spPr>
        <p:txBody>
          <a:bodyPr wrap="square">
            <a:spAutoFit/>
          </a:bodyPr>
          <a:lstStyle/>
          <a:p>
            <a:pPr algn="l"/>
            <a:r>
              <a:rPr sz="1050" b="0" i="0">
                <a:solidFill>
                  <a:srgbClr val="E8F4F8"/>
                </a:solidFill>
              </a:rPr>
              <a:t>Full pytest suite (tests/) validates pipeline, API, drift, retraining, and governance.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1224"/>
        </a:solidFill>
        <a:effectLst/>
      </p:bgPr>
    </p:bg>
    <p:spTree>
      <p:nvGrpSpPr>
        <p:cNvPr id="1" name=""/>
        <p:cNvGrpSpPr/>
        <p:nvPr/>
      </p:nvGrpSpPr>
      <p:grpSpPr/>
      <p:sp>
        <p:nvSpPr>
          <p:cNvPr id="2" name="Rectangle 1"/>
          <p:cNvSpPr/>
          <p:nvPr/>
        </p:nvSpPr>
        <p:spPr>
          <a:xfrm>
            <a:off x="0" y="0"/>
            <a:ext cx="12188952" cy="1024128"/>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37160"/>
            <a:ext cx="11430000" cy="594360"/>
          </a:xfrm>
          <a:prstGeom prst="rect">
            <a:avLst/>
          </a:prstGeom>
          <a:noFill/>
        </p:spPr>
        <p:txBody>
          <a:bodyPr wrap="square">
            <a:spAutoFit/>
          </a:bodyPr>
          <a:lstStyle/>
          <a:p>
            <a:pPr algn="l"/>
            <a:r>
              <a:rPr sz="2400" b="1" i="0">
                <a:solidFill>
                  <a:srgbClr val="00B4D8"/>
                </a:solidFill>
              </a:rPr>
              <a:t>Results, Limitations and Next Steps</a:t>
            </a:r>
          </a:p>
        </p:txBody>
      </p:sp>
      <p:sp>
        <p:nvSpPr>
          <p:cNvPr id="4" name="TextBox 3"/>
          <p:cNvSpPr txBox="1"/>
          <p:nvPr/>
        </p:nvSpPr>
        <p:spPr>
          <a:xfrm>
            <a:off x="320040" y="658368"/>
            <a:ext cx="11430000" cy="320040"/>
          </a:xfrm>
          <a:prstGeom prst="rect">
            <a:avLst/>
          </a:prstGeom>
          <a:noFill/>
        </p:spPr>
        <p:txBody>
          <a:bodyPr wrap="square">
            <a:spAutoFit/>
          </a:bodyPr>
          <a:lstStyle/>
          <a:p>
            <a:pPr algn="l"/>
            <a:r>
              <a:rPr sz="1200" b="0" i="0">
                <a:solidFill>
                  <a:srgbClr val="8AB4C8"/>
                </a:solidFill>
              </a:rPr>
              <a:t>Prototype performance on synthetic data — real-world validation required</a:t>
            </a:r>
          </a:p>
        </p:txBody>
      </p:sp>
      <p:sp>
        <p:nvSpPr>
          <p:cNvPr id="5" name="Rectangle 4"/>
          <p:cNvSpPr/>
          <p:nvPr/>
        </p:nvSpPr>
        <p:spPr>
          <a:xfrm>
            <a:off x="0" y="1024128"/>
            <a:ext cx="12188952" cy="27432"/>
          </a:xfrm>
          <a:prstGeom prst="rect">
            <a:avLst/>
          </a:prstGeom>
          <a:solidFill>
            <a:srgbClr val="1B8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65392"/>
            <a:ext cx="12188952" cy="36576"/>
          </a:xfrm>
          <a:prstGeom prst="rect">
            <a:avLst/>
          </a:prstGeom>
          <a:solidFill>
            <a:srgbClr val="1B8A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01968"/>
            <a:ext cx="8229600" cy="228600"/>
          </a:xfrm>
          <a:prstGeom prst="rect">
            <a:avLst/>
          </a:prstGeom>
          <a:noFill/>
        </p:spPr>
        <p:txBody>
          <a:bodyPr wrap="square">
            <a:spAutoFit/>
          </a:bodyPr>
          <a:lstStyle/>
          <a:p>
            <a:pPr algn="l"/>
            <a:r>
              <a:rPr sz="900" b="0" i="0">
                <a:solidFill>
                  <a:srgbClr val="8AB4C8"/>
                </a:solidFill>
              </a:rPr>
              <a:t>Oceanographic Reef Prediction Framework</a:t>
            </a:r>
          </a:p>
        </p:txBody>
      </p:sp>
      <p:sp>
        <p:nvSpPr>
          <p:cNvPr id="8" name="TextBox 7"/>
          <p:cNvSpPr txBox="1"/>
          <p:nvPr/>
        </p:nvSpPr>
        <p:spPr>
          <a:xfrm>
            <a:off x="11247120" y="6601968"/>
            <a:ext cx="731520" cy="228600"/>
          </a:xfrm>
          <a:prstGeom prst="rect">
            <a:avLst/>
          </a:prstGeom>
          <a:noFill/>
        </p:spPr>
        <p:txBody>
          <a:bodyPr wrap="square">
            <a:spAutoFit/>
          </a:bodyPr>
          <a:lstStyle/>
          <a:p>
            <a:pPr algn="r"/>
            <a:r>
              <a:rPr sz="900" b="0" i="0">
                <a:solidFill>
                  <a:srgbClr val="8AB4C8"/>
                </a:solidFill>
              </a:rPr>
              <a:t>12</a:t>
            </a:r>
          </a:p>
        </p:txBody>
      </p:sp>
      <p:sp>
        <p:nvSpPr>
          <p:cNvPr id="9" name="Rectangle 8"/>
          <p:cNvSpPr/>
          <p:nvPr/>
        </p:nvSpPr>
        <p:spPr>
          <a:xfrm>
            <a:off x="274320" y="1170432"/>
            <a:ext cx="3840480" cy="5120640"/>
          </a:xfrm>
          <a:prstGeom prst="rect">
            <a:avLst/>
          </a:prstGeom>
          <a:solidFill>
            <a:srgbClr val="122A4A"/>
          </a:solidFill>
          <a:ln w="12700">
            <a:solidFill>
              <a:srgbClr val="2EC4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170432"/>
            <a:ext cx="3840480" cy="384048"/>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188720"/>
            <a:ext cx="3657600" cy="347472"/>
          </a:xfrm>
          <a:prstGeom prst="rect">
            <a:avLst/>
          </a:prstGeom>
          <a:noFill/>
        </p:spPr>
        <p:txBody>
          <a:bodyPr wrap="square">
            <a:spAutoFit/>
          </a:bodyPr>
          <a:lstStyle/>
          <a:p>
            <a:pPr algn="ctr"/>
            <a:r>
              <a:rPr sz="1200" b="1" i="0">
                <a:solidFill>
                  <a:srgbClr val="081224"/>
                </a:solidFill>
              </a:rPr>
              <a:t>Selected Models</a:t>
            </a:r>
          </a:p>
        </p:txBody>
      </p:sp>
      <p:sp>
        <p:nvSpPr>
          <p:cNvPr id="12" name="TextBox 11"/>
          <p:cNvSpPr txBox="1"/>
          <p:nvPr/>
        </p:nvSpPr>
        <p:spPr>
          <a:xfrm>
            <a:off x="384048" y="1664208"/>
            <a:ext cx="1828800" cy="256032"/>
          </a:xfrm>
          <a:prstGeom prst="rect">
            <a:avLst/>
          </a:prstGeom>
          <a:noFill/>
        </p:spPr>
        <p:txBody>
          <a:bodyPr wrap="square">
            <a:spAutoFit/>
          </a:bodyPr>
          <a:lstStyle/>
          <a:p>
            <a:pPr algn="l"/>
            <a:r>
              <a:rPr sz="1050" b="1" i="0">
                <a:solidFill>
                  <a:srgbClr val="00B4D8"/>
                </a:solidFill>
              </a:rPr>
              <a:t>Reef Health</a:t>
            </a:r>
          </a:p>
        </p:txBody>
      </p:sp>
      <p:sp>
        <p:nvSpPr>
          <p:cNvPr id="13" name="TextBox 12"/>
          <p:cNvSpPr txBox="1"/>
          <p:nvPr/>
        </p:nvSpPr>
        <p:spPr>
          <a:xfrm>
            <a:off x="2240280" y="1664208"/>
            <a:ext cx="1783080" cy="256032"/>
          </a:xfrm>
          <a:prstGeom prst="rect">
            <a:avLst/>
          </a:prstGeom>
          <a:noFill/>
        </p:spPr>
        <p:txBody>
          <a:bodyPr wrap="square">
            <a:spAutoFit/>
          </a:bodyPr>
          <a:lstStyle/>
          <a:p>
            <a:pPr algn="r"/>
            <a:r>
              <a:rPr sz="1050" b="1" i="0">
                <a:solidFill>
                  <a:srgbClr val="00B4D8"/>
                </a:solidFill>
              </a:rPr>
              <a:t>Logistic Regression</a:t>
            </a:r>
          </a:p>
        </p:txBody>
      </p:sp>
      <p:sp>
        <p:nvSpPr>
          <p:cNvPr id="14" name="TextBox 13"/>
          <p:cNvSpPr txBox="1"/>
          <p:nvPr/>
        </p:nvSpPr>
        <p:spPr>
          <a:xfrm>
            <a:off x="384048" y="1938528"/>
            <a:ext cx="1828800" cy="256032"/>
          </a:xfrm>
          <a:prstGeom prst="rect">
            <a:avLst/>
          </a:prstGeom>
          <a:noFill/>
        </p:spPr>
        <p:txBody>
          <a:bodyPr wrap="square">
            <a:spAutoFit/>
          </a:bodyPr>
          <a:lstStyle/>
          <a:p>
            <a:pPr algn="l"/>
            <a:r>
              <a:rPr sz="1050" b="0" i="0">
                <a:solidFill>
                  <a:srgbClr val="8AB4C8"/>
                </a:solidFill>
              </a:rPr>
              <a:t>CV Macro-F1</a:t>
            </a:r>
          </a:p>
        </p:txBody>
      </p:sp>
      <p:sp>
        <p:nvSpPr>
          <p:cNvPr id="15" name="TextBox 14"/>
          <p:cNvSpPr txBox="1"/>
          <p:nvPr/>
        </p:nvSpPr>
        <p:spPr>
          <a:xfrm>
            <a:off x="2240280" y="1938528"/>
            <a:ext cx="1783080" cy="256032"/>
          </a:xfrm>
          <a:prstGeom prst="rect">
            <a:avLst/>
          </a:prstGeom>
          <a:noFill/>
        </p:spPr>
        <p:txBody>
          <a:bodyPr wrap="square">
            <a:spAutoFit/>
          </a:bodyPr>
          <a:lstStyle/>
          <a:p>
            <a:pPr algn="r"/>
            <a:r>
              <a:rPr sz="1050" b="0" i="0">
                <a:solidFill>
                  <a:srgbClr val="E8F4F8"/>
                </a:solidFill>
              </a:rPr>
              <a:t>0.7612</a:t>
            </a:r>
          </a:p>
        </p:txBody>
      </p:sp>
      <p:sp>
        <p:nvSpPr>
          <p:cNvPr id="16" name="TextBox 15"/>
          <p:cNvSpPr txBox="1"/>
          <p:nvPr/>
        </p:nvSpPr>
        <p:spPr>
          <a:xfrm>
            <a:off x="384048" y="2212848"/>
            <a:ext cx="1828800" cy="256032"/>
          </a:xfrm>
          <a:prstGeom prst="rect">
            <a:avLst/>
          </a:prstGeom>
          <a:noFill/>
        </p:spPr>
        <p:txBody>
          <a:bodyPr wrap="square">
            <a:spAutoFit/>
          </a:bodyPr>
          <a:lstStyle/>
          <a:p>
            <a:pPr algn="l"/>
            <a:r>
              <a:rPr sz="1050" b="0" i="0">
                <a:solidFill>
                  <a:srgbClr val="8AB4C8"/>
                </a:solidFill>
              </a:rPr>
              <a:t>Test Macro-F1</a:t>
            </a:r>
          </a:p>
        </p:txBody>
      </p:sp>
      <p:sp>
        <p:nvSpPr>
          <p:cNvPr id="17" name="TextBox 16"/>
          <p:cNvSpPr txBox="1"/>
          <p:nvPr/>
        </p:nvSpPr>
        <p:spPr>
          <a:xfrm>
            <a:off x="2240280" y="2212848"/>
            <a:ext cx="1783080" cy="256032"/>
          </a:xfrm>
          <a:prstGeom prst="rect">
            <a:avLst/>
          </a:prstGeom>
          <a:noFill/>
        </p:spPr>
        <p:txBody>
          <a:bodyPr wrap="square">
            <a:spAutoFit/>
          </a:bodyPr>
          <a:lstStyle/>
          <a:p>
            <a:pPr algn="r"/>
            <a:r>
              <a:rPr sz="1050" b="0" i="0">
                <a:solidFill>
                  <a:srgbClr val="E8F4F8"/>
                </a:solidFill>
              </a:rPr>
              <a:t>0.7871</a:t>
            </a:r>
          </a:p>
        </p:txBody>
      </p:sp>
      <p:sp>
        <p:nvSpPr>
          <p:cNvPr id="18" name="TextBox 17"/>
          <p:cNvSpPr txBox="1"/>
          <p:nvPr/>
        </p:nvSpPr>
        <p:spPr>
          <a:xfrm>
            <a:off x="384048" y="2487168"/>
            <a:ext cx="1828800" cy="256032"/>
          </a:xfrm>
          <a:prstGeom prst="rect">
            <a:avLst/>
          </a:prstGeom>
          <a:noFill/>
        </p:spPr>
        <p:txBody>
          <a:bodyPr wrap="square">
            <a:spAutoFit/>
          </a:bodyPr>
          <a:lstStyle/>
          <a:p>
            <a:pPr algn="l"/>
            <a:r>
              <a:rPr sz="1050" b="0" i="0">
                <a:solidFill>
                  <a:srgbClr val="8AB4C8"/>
                </a:solidFill>
              </a:rPr>
              <a:t>Test Accuracy</a:t>
            </a:r>
          </a:p>
        </p:txBody>
      </p:sp>
      <p:sp>
        <p:nvSpPr>
          <p:cNvPr id="19" name="TextBox 18"/>
          <p:cNvSpPr txBox="1"/>
          <p:nvPr/>
        </p:nvSpPr>
        <p:spPr>
          <a:xfrm>
            <a:off x="2240280" y="2487168"/>
            <a:ext cx="1783080" cy="256032"/>
          </a:xfrm>
          <a:prstGeom prst="rect">
            <a:avLst/>
          </a:prstGeom>
          <a:noFill/>
        </p:spPr>
        <p:txBody>
          <a:bodyPr wrap="square">
            <a:spAutoFit/>
          </a:bodyPr>
          <a:lstStyle/>
          <a:p>
            <a:pPr algn="r"/>
            <a:r>
              <a:rPr sz="1050" b="0" i="0">
                <a:solidFill>
                  <a:srgbClr val="E8F4F8"/>
                </a:solidFill>
              </a:rPr>
              <a:t>0.8193</a:t>
            </a:r>
          </a:p>
        </p:txBody>
      </p:sp>
      <p:sp>
        <p:nvSpPr>
          <p:cNvPr id="20" name="TextBox 19"/>
          <p:cNvSpPr txBox="1"/>
          <p:nvPr/>
        </p:nvSpPr>
        <p:spPr>
          <a:xfrm>
            <a:off x="384048" y="2871215"/>
            <a:ext cx="1828800" cy="256032"/>
          </a:xfrm>
          <a:prstGeom prst="rect">
            <a:avLst/>
          </a:prstGeom>
          <a:noFill/>
        </p:spPr>
        <p:txBody>
          <a:bodyPr wrap="square">
            <a:spAutoFit/>
          </a:bodyPr>
          <a:lstStyle/>
          <a:p>
            <a:pPr algn="l"/>
            <a:r>
              <a:rPr sz="1050" b="1" i="0">
                <a:solidFill>
                  <a:srgbClr val="00B4D8"/>
                </a:solidFill>
              </a:rPr>
              <a:t>Restoration</a:t>
            </a:r>
          </a:p>
        </p:txBody>
      </p:sp>
      <p:sp>
        <p:nvSpPr>
          <p:cNvPr id="21" name="TextBox 20"/>
          <p:cNvSpPr txBox="1"/>
          <p:nvPr/>
        </p:nvSpPr>
        <p:spPr>
          <a:xfrm>
            <a:off x="2240280" y="2871215"/>
            <a:ext cx="1783080" cy="256032"/>
          </a:xfrm>
          <a:prstGeom prst="rect">
            <a:avLst/>
          </a:prstGeom>
          <a:noFill/>
        </p:spPr>
        <p:txBody>
          <a:bodyPr wrap="square">
            <a:spAutoFit/>
          </a:bodyPr>
          <a:lstStyle/>
          <a:p>
            <a:pPr algn="r"/>
            <a:r>
              <a:rPr sz="1050" b="1" i="0">
                <a:solidFill>
                  <a:srgbClr val="00B4D8"/>
                </a:solidFill>
              </a:rPr>
              <a:t>XGBoost</a:t>
            </a:r>
          </a:p>
        </p:txBody>
      </p:sp>
      <p:sp>
        <p:nvSpPr>
          <p:cNvPr id="22" name="TextBox 21"/>
          <p:cNvSpPr txBox="1"/>
          <p:nvPr/>
        </p:nvSpPr>
        <p:spPr>
          <a:xfrm>
            <a:off x="384048" y="3145535"/>
            <a:ext cx="1828800" cy="256032"/>
          </a:xfrm>
          <a:prstGeom prst="rect">
            <a:avLst/>
          </a:prstGeom>
          <a:noFill/>
        </p:spPr>
        <p:txBody>
          <a:bodyPr wrap="square">
            <a:spAutoFit/>
          </a:bodyPr>
          <a:lstStyle/>
          <a:p>
            <a:pPr algn="l"/>
            <a:r>
              <a:rPr sz="1050" b="0" i="0">
                <a:solidFill>
                  <a:srgbClr val="8AB4C8"/>
                </a:solidFill>
              </a:rPr>
              <a:t>CV Macro-F1</a:t>
            </a:r>
          </a:p>
        </p:txBody>
      </p:sp>
      <p:sp>
        <p:nvSpPr>
          <p:cNvPr id="23" name="TextBox 22"/>
          <p:cNvSpPr txBox="1"/>
          <p:nvPr/>
        </p:nvSpPr>
        <p:spPr>
          <a:xfrm>
            <a:off x="2240280" y="3145535"/>
            <a:ext cx="1783080" cy="256032"/>
          </a:xfrm>
          <a:prstGeom prst="rect">
            <a:avLst/>
          </a:prstGeom>
          <a:noFill/>
        </p:spPr>
        <p:txBody>
          <a:bodyPr wrap="square">
            <a:spAutoFit/>
          </a:bodyPr>
          <a:lstStyle/>
          <a:p>
            <a:pPr algn="r"/>
            <a:r>
              <a:rPr sz="1050" b="0" i="0">
                <a:solidFill>
                  <a:srgbClr val="E8F4F8"/>
                </a:solidFill>
              </a:rPr>
              <a:t>0.7913</a:t>
            </a:r>
          </a:p>
        </p:txBody>
      </p:sp>
      <p:sp>
        <p:nvSpPr>
          <p:cNvPr id="24" name="TextBox 23"/>
          <p:cNvSpPr txBox="1"/>
          <p:nvPr/>
        </p:nvSpPr>
        <p:spPr>
          <a:xfrm>
            <a:off x="384048" y="3419855"/>
            <a:ext cx="1828800" cy="256032"/>
          </a:xfrm>
          <a:prstGeom prst="rect">
            <a:avLst/>
          </a:prstGeom>
          <a:noFill/>
        </p:spPr>
        <p:txBody>
          <a:bodyPr wrap="square">
            <a:spAutoFit/>
          </a:bodyPr>
          <a:lstStyle/>
          <a:p>
            <a:pPr algn="l"/>
            <a:r>
              <a:rPr sz="1050" b="0" i="0">
                <a:solidFill>
                  <a:srgbClr val="8AB4C8"/>
                </a:solidFill>
              </a:rPr>
              <a:t>Test Macro-F1</a:t>
            </a:r>
          </a:p>
        </p:txBody>
      </p:sp>
      <p:sp>
        <p:nvSpPr>
          <p:cNvPr id="25" name="TextBox 24"/>
          <p:cNvSpPr txBox="1"/>
          <p:nvPr/>
        </p:nvSpPr>
        <p:spPr>
          <a:xfrm>
            <a:off x="2240280" y="3419855"/>
            <a:ext cx="1783080" cy="256032"/>
          </a:xfrm>
          <a:prstGeom prst="rect">
            <a:avLst/>
          </a:prstGeom>
          <a:noFill/>
        </p:spPr>
        <p:txBody>
          <a:bodyPr wrap="square">
            <a:spAutoFit/>
          </a:bodyPr>
          <a:lstStyle/>
          <a:p>
            <a:pPr algn="r"/>
            <a:r>
              <a:rPr sz="1050" b="0" i="0">
                <a:solidFill>
                  <a:srgbClr val="E8F4F8"/>
                </a:solidFill>
              </a:rPr>
              <a:t>0.8029</a:t>
            </a:r>
          </a:p>
        </p:txBody>
      </p:sp>
      <p:sp>
        <p:nvSpPr>
          <p:cNvPr id="26" name="TextBox 25"/>
          <p:cNvSpPr txBox="1"/>
          <p:nvPr/>
        </p:nvSpPr>
        <p:spPr>
          <a:xfrm>
            <a:off x="384048" y="3694175"/>
            <a:ext cx="1828800" cy="256032"/>
          </a:xfrm>
          <a:prstGeom prst="rect">
            <a:avLst/>
          </a:prstGeom>
          <a:noFill/>
        </p:spPr>
        <p:txBody>
          <a:bodyPr wrap="square">
            <a:spAutoFit/>
          </a:bodyPr>
          <a:lstStyle/>
          <a:p>
            <a:pPr algn="l"/>
            <a:r>
              <a:rPr sz="1050" b="0" i="0">
                <a:solidFill>
                  <a:srgbClr val="8AB4C8"/>
                </a:solidFill>
              </a:rPr>
              <a:t>Test Accuracy</a:t>
            </a:r>
          </a:p>
        </p:txBody>
      </p:sp>
      <p:sp>
        <p:nvSpPr>
          <p:cNvPr id="27" name="TextBox 26"/>
          <p:cNvSpPr txBox="1"/>
          <p:nvPr/>
        </p:nvSpPr>
        <p:spPr>
          <a:xfrm>
            <a:off x="2240280" y="3694175"/>
            <a:ext cx="1783080" cy="256032"/>
          </a:xfrm>
          <a:prstGeom prst="rect">
            <a:avLst/>
          </a:prstGeom>
          <a:noFill/>
        </p:spPr>
        <p:txBody>
          <a:bodyPr wrap="square">
            <a:spAutoFit/>
          </a:bodyPr>
          <a:lstStyle/>
          <a:p>
            <a:pPr algn="r"/>
            <a:r>
              <a:rPr sz="1050" b="0" i="0">
                <a:solidFill>
                  <a:srgbClr val="E8F4F8"/>
                </a:solidFill>
              </a:rPr>
              <a:t>0.8277</a:t>
            </a:r>
          </a:p>
        </p:txBody>
      </p:sp>
      <p:sp>
        <p:nvSpPr>
          <p:cNvPr id="28" name="Rectangle 27"/>
          <p:cNvSpPr/>
          <p:nvPr/>
        </p:nvSpPr>
        <p:spPr>
          <a:xfrm>
            <a:off x="4343400" y="1170432"/>
            <a:ext cx="3840480" cy="5120640"/>
          </a:xfrm>
          <a:prstGeom prst="rect">
            <a:avLst/>
          </a:prstGeom>
          <a:solidFill>
            <a:srgbClr val="122A4A"/>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43400" y="1170432"/>
            <a:ext cx="3840480" cy="38404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34840" y="1188720"/>
            <a:ext cx="3657600" cy="347472"/>
          </a:xfrm>
          <a:prstGeom prst="rect">
            <a:avLst/>
          </a:prstGeom>
          <a:noFill/>
        </p:spPr>
        <p:txBody>
          <a:bodyPr wrap="square">
            <a:spAutoFit/>
          </a:bodyPr>
          <a:lstStyle/>
          <a:p>
            <a:pPr algn="ctr"/>
            <a:r>
              <a:rPr sz="1200" b="1" i="0">
                <a:solidFill>
                  <a:srgbClr val="FFFFFF"/>
                </a:solidFill>
              </a:rPr>
              <a:t>Current Limitations</a:t>
            </a:r>
          </a:p>
        </p:txBody>
      </p:sp>
      <p:sp>
        <p:nvSpPr>
          <p:cNvPr id="31" name="TextBox 30"/>
          <p:cNvSpPr txBox="1"/>
          <p:nvPr/>
        </p:nvSpPr>
        <p:spPr>
          <a:xfrm>
            <a:off x="4480560" y="1664208"/>
            <a:ext cx="3566160" cy="242316"/>
          </a:xfrm>
          <a:prstGeom prst="rect">
            <a:avLst/>
          </a:prstGeom>
          <a:noFill/>
        </p:spPr>
        <p:txBody>
          <a:bodyPr wrap="square">
            <a:spAutoFit/>
          </a:bodyPr>
          <a:lstStyle/>
          <a:p>
            <a:pPr algn="l"/>
            <a:r>
              <a:rPr sz="1000" b="0" i="0">
                <a:solidFill>
                  <a:srgbClr val="E8F4F8"/>
                </a:solidFill>
              </a:rPr>
              <a:t>All 15,000 observations are synthetic.</a:t>
            </a:r>
          </a:p>
        </p:txBody>
      </p:sp>
      <p:sp>
        <p:nvSpPr>
          <p:cNvPr id="32" name="TextBox 31"/>
          <p:cNvSpPr txBox="1"/>
          <p:nvPr/>
        </p:nvSpPr>
        <p:spPr>
          <a:xfrm>
            <a:off x="4480560" y="1906524"/>
            <a:ext cx="3566160" cy="242316"/>
          </a:xfrm>
          <a:prstGeom prst="rect">
            <a:avLst/>
          </a:prstGeom>
          <a:noFill/>
        </p:spPr>
        <p:txBody>
          <a:bodyPr wrap="square">
            <a:spAutoFit/>
          </a:bodyPr>
          <a:lstStyle/>
          <a:p>
            <a:pPr algn="l"/>
            <a:r>
              <a:rPr sz="1000" b="0" i="0">
                <a:solidFill>
                  <a:srgbClr val="E8F4F8"/>
                </a:solidFill>
              </a:rPr>
              <a:t>Labels are generated by a known scoring</a:t>
            </a:r>
          </a:p>
        </p:txBody>
      </p:sp>
      <p:sp>
        <p:nvSpPr>
          <p:cNvPr id="33" name="TextBox 32"/>
          <p:cNvSpPr txBox="1"/>
          <p:nvPr/>
        </p:nvSpPr>
        <p:spPr>
          <a:xfrm>
            <a:off x="4480560" y="2148840"/>
            <a:ext cx="3566160" cy="242316"/>
          </a:xfrm>
          <a:prstGeom prst="rect">
            <a:avLst/>
          </a:prstGeom>
          <a:noFill/>
        </p:spPr>
        <p:txBody>
          <a:bodyPr wrap="square">
            <a:spAutoFit/>
          </a:bodyPr>
          <a:lstStyle/>
          <a:p>
            <a:pPr algn="l"/>
            <a:r>
              <a:rPr sz="1000" b="0" i="0">
                <a:solidFill>
                  <a:srgbClr val="E8F4F8"/>
                </a:solidFill>
              </a:rPr>
              <a:t>function — real labels require expert</a:t>
            </a:r>
          </a:p>
        </p:txBody>
      </p:sp>
      <p:sp>
        <p:nvSpPr>
          <p:cNvPr id="34" name="TextBox 33"/>
          <p:cNvSpPr txBox="1"/>
          <p:nvPr/>
        </p:nvSpPr>
        <p:spPr>
          <a:xfrm>
            <a:off x="4480560" y="2391156"/>
            <a:ext cx="3566160" cy="242316"/>
          </a:xfrm>
          <a:prstGeom prst="rect">
            <a:avLst/>
          </a:prstGeom>
          <a:noFill/>
        </p:spPr>
        <p:txBody>
          <a:bodyPr wrap="square">
            <a:spAutoFit/>
          </a:bodyPr>
          <a:lstStyle/>
          <a:p>
            <a:pPr algn="l"/>
            <a:r>
              <a:rPr sz="1000" b="0" i="0">
                <a:solidFill>
                  <a:srgbClr val="E8F4F8"/>
                </a:solidFill>
              </a:rPr>
              <a:t>biological field surveys.</a:t>
            </a:r>
          </a:p>
        </p:txBody>
      </p:sp>
      <p:sp>
        <p:nvSpPr>
          <p:cNvPr id="35" name="TextBox 34"/>
          <p:cNvSpPr txBox="1"/>
          <p:nvPr/>
        </p:nvSpPr>
        <p:spPr>
          <a:xfrm>
            <a:off x="4480560" y="2633472"/>
            <a:ext cx="3566160" cy="242316"/>
          </a:xfrm>
          <a:prstGeom prst="rect">
            <a:avLst/>
          </a:prstGeom>
          <a:noFill/>
        </p:spPr>
        <p:txBody>
          <a:bodyPr wrap="square">
            <a:spAutoFit/>
          </a:bodyPr>
          <a:lstStyle/>
          <a:p>
            <a:pPr algn="l"/>
            <a:r>
              <a:rPr sz="1000" b="0" i="0">
                <a:solidFill>
                  <a:srgbClr val="E8F4F8"/>
                </a:solidFill>
              </a:rPr>
              <a:t/>
            </a:r>
          </a:p>
        </p:txBody>
      </p:sp>
      <p:sp>
        <p:nvSpPr>
          <p:cNvPr id="36" name="TextBox 35"/>
          <p:cNvSpPr txBox="1"/>
          <p:nvPr/>
        </p:nvSpPr>
        <p:spPr>
          <a:xfrm>
            <a:off x="4480560" y="2875788"/>
            <a:ext cx="3566160" cy="242316"/>
          </a:xfrm>
          <a:prstGeom prst="rect">
            <a:avLst/>
          </a:prstGeom>
          <a:noFill/>
        </p:spPr>
        <p:txBody>
          <a:bodyPr wrap="square">
            <a:spAutoFit/>
          </a:bodyPr>
          <a:lstStyle/>
          <a:p>
            <a:pPr algn="l"/>
            <a:r>
              <a:rPr sz="1000" b="0" i="0">
                <a:solidFill>
                  <a:srgbClr val="E8F4F8"/>
                </a:solidFill>
              </a:rPr>
              <a:t>Sonar features in this dataset are</a:t>
            </a:r>
          </a:p>
        </p:txBody>
      </p:sp>
      <p:sp>
        <p:nvSpPr>
          <p:cNvPr id="37" name="TextBox 36"/>
          <p:cNvSpPr txBox="1"/>
          <p:nvPr/>
        </p:nvSpPr>
        <p:spPr>
          <a:xfrm>
            <a:off x="4480560" y="3118104"/>
            <a:ext cx="3566160" cy="242316"/>
          </a:xfrm>
          <a:prstGeom prst="rect">
            <a:avLst/>
          </a:prstGeom>
          <a:noFill/>
        </p:spPr>
        <p:txBody>
          <a:bodyPr wrap="square">
            <a:spAutoFit/>
          </a:bodyPr>
          <a:lstStyle/>
          <a:p>
            <a:pPr algn="l"/>
            <a:r>
              <a:rPr sz="1000" b="0" i="0">
                <a:solidFill>
                  <a:srgbClr val="E8F4F8"/>
                </a:solidFill>
              </a:rPr>
              <a:t>statistically simulated, not calibrated</a:t>
            </a:r>
          </a:p>
        </p:txBody>
      </p:sp>
      <p:sp>
        <p:nvSpPr>
          <p:cNvPr id="38" name="TextBox 37"/>
          <p:cNvSpPr txBox="1"/>
          <p:nvPr/>
        </p:nvSpPr>
        <p:spPr>
          <a:xfrm>
            <a:off x="4480560" y="3360420"/>
            <a:ext cx="3566160" cy="242316"/>
          </a:xfrm>
          <a:prstGeom prst="rect">
            <a:avLst/>
          </a:prstGeom>
          <a:noFill/>
        </p:spPr>
        <p:txBody>
          <a:bodyPr wrap="square">
            <a:spAutoFit/>
          </a:bodyPr>
          <a:lstStyle/>
          <a:p>
            <a:pPr algn="l"/>
            <a:r>
              <a:rPr sz="1000" b="0" i="0">
                <a:solidFill>
                  <a:srgbClr val="E8F4F8"/>
                </a:solidFill>
              </a:rPr>
              <a:t>from real acoustic hardware.</a:t>
            </a:r>
          </a:p>
        </p:txBody>
      </p:sp>
      <p:sp>
        <p:nvSpPr>
          <p:cNvPr id="39" name="TextBox 38"/>
          <p:cNvSpPr txBox="1"/>
          <p:nvPr/>
        </p:nvSpPr>
        <p:spPr>
          <a:xfrm>
            <a:off x="4480560" y="3602736"/>
            <a:ext cx="3566160" cy="242316"/>
          </a:xfrm>
          <a:prstGeom prst="rect">
            <a:avLst/>
          </a:prstGeom>
          <a:noFill/>
        </p:spPr>
        <p:txBody>
          <a:bodyPr wrap="square">
            <a:spAutoFit/>
          </a:bodyPr>
          <a:lstStyle/>
          <a:p>
            <a:pPr algn="l"/>
            <a:r>
              <a:rPr sz="1000" b="0" i="0">
                <a:solidFill>
                  <a:srgbClr val="E8F4F8"/>
                </a:solidFill>
              </a:rPr>
              <a:t/>
            </a:r>
          </a:p>
        </p:txBody>
      </p:sp>
      <p:sp>
        <p:nvSpPr>
          <p:cNvPr id="40" name="TextBox 39"/>
          <p:cNvSpPr txBox="1"/>
          <p:nvPr/>
        </p:nvSpPr>
        <p:spPr>
          <a:xfrm>
            <a:off x="4480560" y="3845052"/>
            <a:ext cx="3566160" cy="242316"/>
          </a:xfrm>
          <a:prstGeom prst="rect">
            <a:avLst/>
          </a:prstGeom>
          <a:noFill/>
        </p:spPr>
        <p:txBody>
          <a:bodyPr wrap="square">
            <a:spAutoFit/>
          </a:bodyPr>
          <a:lstStyle/>
          <a:p>
            <a:pPr algn="l"/>
            <a:r>
              <a:rPr sz="1000" b="0" i="0">
                <a:solidFill>
                  <a:srgbClr val="E8F4F8"/>
                </a:solidFill>
              </a:rPr>
              <a:t>Metrics demonstrate prototype pipeline</a:t>
            </a:r>
          </a:p>
        </p:txBody>
      </p:sp>
      <p:sp>
        <p:nvSpPr>
          <p:cNvPr id="41" name="TextBox 40"/>
          <p:cNvSpPr txBox="1"/>
          <p:nvPr/>
        </p:nvSpPr>
        <p:spPr>
          <a:xfrm>
            <a:off x="4480560" y="4087368"/>
            <a:ext cx="3566160" cy="242316"/>
          </a:xfrm>
          <a:prstGeom prst="rect">
            <a:avLst/>
          </a:prstGeom>
          <a:noFill/>
        </p:spPr>
        <p:txBody>
          <a:bodyPr wrap="square">
            <a:spAutoFit/>
          </a:bodyPr>
          <a:lstStyle/>
          <a:p>
            <a:pPr algn="l"/>
            <a:r>
              <a:rPr sz="1000" b="0" i="0">
                <a:solidFill>
                  <a:srgbClr val="E8F4F8"/>
                </a:solidFill>
              </a:rPr>
              <a:t>correctness, not real-world reef</a:t>
            </a:r>
          </a:p>
        </p:txBody>
      </p:sp>
      <p:sp>
        <p:nvSpPr>
          <p:cNvPr id="42" name="TextBox 41"/>
          <p:cNvSpPr txBox="1"/>
          <p:nvPr/>
        </p:nvSpPr>
        <p:spPr>
          <a:xfrm>
            <a:off x="4480560" y="4329684"/>
            <a:ext cx="3566160" cy="242316"/>
          </a:xfrm>
          <a:prstGeom prst="rect">
            <a:avLst/>
          </a:prstGeom>
          <a:noFill/>
        </p:spPr>
        <p:txBody>
          <a:bodyPr wrap="square">
            <a:spAutoFit/>
          </a:bodyPr>
          <a:lstStyle/>
          <a:p>
            <a:pPr algn="l"/>
            <a:r>
              <a:rPr sz="1000" b="0" i="0">
                <a:solidFill>
                  <a:srgbClr val="E8F4F8"/>
                </a:solidFill>
              </a:rPr>
              <a:t>prediction accuracy.</a:t>
            </a:r>
          </a:p>
        </p:txBody>
      </p:sp>
      <p:sp>
        <p:nvSpPr>
          <p:cNvPr id="43" name="TextBox 42"/>
          <p:cNvSpPr txBox="1"/>
          <p:nvPr/>
        </p:nvSpPr>
        <p:spPr>
          <a:xfrm>
            <a:off x="4480560" y="4572000"/>
            <a:ext cx="3566160" cy="242316"/>
          </a:xfrm>
          <a:prstGeom prst="rect">
            <a:avLst/>
          </a:prstGeom>
          <a:noFill/>
        </p:spPr>
        <p:txBody>
          <a:bodyPr wrap="square">
            <a:spAutoFit/>
          </a:bodyPr>
          <a:lstStyle/>
          <a:p>
            <a:pPr algn="l"/>
            <a:r>
              <a:rPr sz="1000" b="0" i="0">
                <a:solidFill>
                  <a:srgbClr val="E8F4F8"/>
                </a:solidFill>
              </a:rPr>
              <a:t/>
            </a:r>
          </a:p>
        </p:txBody>
      </p:sp>
      <p:sp>
        <p:nvSpPr>
          <p:cNvPr id="44" name="TextBox 43"/>
          <p:cNvSpPr txBox="1"/>
          <p:nvPr/>
        </p:nvSpPr>
        <p:spPr>
          <a:xfrm>
            <a:off x="4480560" y="4814316"/>
            <a:ext cx="3566160" cy="242316"/>
          </a:xfrm>
          <a:prstGeom prst="rect">
            <a:avLst/>
          </a:prstGeom>
          <a:noFill/>
        </p:spPr>
        <p:txBody>
          <a:bodyPr wrap="square">
            <a:spAutoFit/>
          </a:bodyPr>
          <a:lstStyle/>
          <a:p>
            <a:pPr algn="l"/>
            <a:r>
              <a:rPr sz="1000" b="0" i="0">
                <a:solidFill>
                  <a:srgbClr val="E8F4F8"/>
                </a:solidFill>
              </a:rPr>
              <a:t>No temporal or regional hold-out splits</a:t>
            </a:r>
          </a:p>
        </p:txBody>
      </p:sp>
      <p:sp>
        <p:nvSpPr>
          <p:cNvPr id="45" name="TextBox 44"/>
          <p:cNvSpPr txBox="1"/>
          <p:nvPr/>
        </p:nvSpPr>
        <p:spPr>
          <a:xfrm>
            <a:off x="4480560" y="5056631"/>
            <a:ext cx="3566160" cy="242316"/>
          </a:xfrm>
          <a:prstGeom prst="rect">
            <a:avLst/>
          </a:prstGeom>
          <a:noFill/>
        </p:spPr>
        <p:txBody>
          <a:bodyPr wrap="square">
            <a:spAutoFit/>
          </a:bodyPr>
          <a:lstStyle/>
          <a:p>
            <a:pPr algn="l"/>
            <a:r>
              <a:rPr sz="1000" b="0" i="0">
                <a:solidFill>
                  <a:srgbClr val="E8F4F8"/>
                </a:solidFill>
              </a:rPr>
              <a:t>— spatial autocorrelation not yet modelled.</a:t>
            </a:r>
          </a:p>
        </p:txBody>
      </p:sp>
      <p:sp>
        <p:nvSpPr>
          <p:cNvPr id="46" name="TextBox 45"/>
          <p:cNvSpPr txBox="1"/>
          <p:nvPr/>
        </p:nvSpPr>
        <p:spPr>
          <a:xfrm>
            <a:off x="4480560" y="5298947"/>
            <a:ext cx="3566160" cy="242316"/>
          </a:xfrm>
          <a:prstGeom prst="rect">
            <a:avLst/>
          </a:prstGeom>
          <a:noFill/>
        </p:spPr>
        <p:txBody>
          <a:bodyPr wrap="square">
            <a:spAutoFit/>
          </a:bodyPr>
          <a:lstStyle/>
          <a:p>
            <a:pPr algn="l"/>
            <a:r>
              <a:rPr sz="1000" b="0" i="0">
                <a:solidFill>
                  <a:srgbClr val="E8F4F8"/>
                </a:solidFill>
              </a:rPr>
              <a:t/>
            </a:r>
          </a:p>
        </p:txBody>
      </p:sp>
      <p:sp>
        <p:nvSpPr>
          <p:cNvPr id="47" name="TextBox 46"/>
          <p:cNvSpPr txBox="1"/>
          <p:nvPr/>
        </p:nvSpPr>
        <p:spPr>
          <a:xfrm>
            <a:off x="4480560" y="5541263"/>
            <a:ext cx="3566160" cy="242316"/>
          </a:xfrm>
          <a:prstGeom prst="rect">
            <a:avLst/>
          </a:prstGeom>
          <a:noFill/>
        </p:spPr>
        <p:txBody>
          <a:bodyPr wrap="square">
            <a:spAutoFit/>
          </a:bodyPr>
          <a:lstStyle/>
          <a:p>
            <a:pPr algn="l"/>
            <a:r>
              <a:rPr sz="1000" b="0" i="0">
                <a:solidFill>
                  <a:srgbClr val="E8F4F8"/>
                </a:solidFill>
              </a:rPr>
              <a:t>No independent external validation set</a:t>
            </a:r>
          </a:p>
        </p:txBody>
      </p:sp>
      <p:sp>
        <p:nvSpPr>
          <p:cNvPr id="48" name="TextBox 47"/>
          <p:cNvSpPr txBox="1"/>
          <p:nvPr/>
        </p:nvSpPr>
        <p:spPr>
          <a:xfrm>
            <a:off x="4480560" y="5783579"/>
            <a:ext cx="3566160" cy="242316"/>
          </a:xfrm>
          <a:prstGeom prst="rect">
            <a:avLst/>
          </a:prstGeom>
          <a:noFill/>
        </p:spPr>
        <p:txBody>
          <a:bodyPr wrap="square">
            <a:spAutoFit/>
          </a:bodyPr>
          <a:lstStyle/>
          <a:p>
            <a:pPr algn="l"/>
            <a:r>
              <a:rPr sz="1000" b="0" i="0">
                <a:solidFill>
                  <a:srgbClr val="E8F4F8"/>
                </a:solidFill>
              </a:rPr>
              <a:t>from a separate reef system.</a:t>
            </a:r>
          </a:p>
        </p:txBody>
      </p:sp>
      <p:sp>
        <p:nvSpPr>
          <p:cNvPr id="49" name="Rectangle 48"/>
          <p:cNvSpPr/>
          <p:nvPr/>
        </p:nvSpPr>
        <p:spPr>
          <a:xfrm>
            <a:off x="8412480" y="1170432"/>
            <a:ext cx="3547872" cy="5120640"/>
          </a:xfrm>
          <a:prstGeom prst="rect">
            <a:avLst/>
          </a:prstGeom>
          <a:solidFill>
            <a:srgbClr val="122A4A"/>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412480" y="1170432"/>
            <a:ext cx="3547872" cy="3840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503920" y="1188720"/>
            <a:ext cx="3364992" cy="347472"/>
          </a:xfrm>
          <a:prstGeom prst="rect">
            <a:avLst/>
          </a:prstGeom>
          <a:noFill/>
        </p:spPr>
        <p:txBody>
          <a:bodyPr wrap="square">
            <a:spAutoFit/>
          </a:bodyPr>
          <a:lstStyle/>
          <a:p>
            <a:pPr algn="ctr"/>
            <a:r>
              <a:rPr sz="1200" b="1" i="0">
                <a:solidFill>
                  <a:srgbClr val="081224"/>
                </a:solidFill>
              </a:rPr>
              <a:t>Next Steps</a:t>
            </a:r>
          </a:p>
        </p:txBody>
      </p:sp>
      <p:sp>
        <p:nvSpPr>
          <p:cNvPr id="52" name="TextBox 51"/>
          <p:cNvSpPr txBox="1"/>
          <p:nvPr/>
        </p:nvSpPr>
        <p:spPr>
          <a:xfrm>
            <a:off x="8503920" y="1664208"/>
            <a:ext cx="3364992" cy="256032"/>
          </a:xfrm>
          <a:prstGeom prst="rect">
            <a:avLst/>
          </a:prstGeom>
          <a:noFill/>
        </p:spPr>
        <p:txBody>
          <a:bodyPr wrap="square">
            <a:spAutoFit/>
          </a:bodyPr>
          <a:lstStyle/>
          <a:p>
            <a:pPr algn="l"/>
            <a:r>
              <a:rPr sz="1050" b="1" i="0">
                <a:solidFill>
                  <a:srgbClr val="00B4D8"/>
                </a:solidFill>
              </a:rPr>
              <a:t>Field data integration</a:t>
            </a:r>
          </a:p>
        </p:txBody>
      </p:sp>
      <p:sp>
        <p:nvSpPr>
          <p:cNvPr id="53" name="TextBox 52"/>
          <p:cNvSpPr txBox="1"/>
          <p:nvPr/>
        </p:nvSpPr>
        <p:spPr>
          <a:xfrm>
            <a:off x="8595360" y="1938528"/>
            <a:ext cx="3273552" cy="233172"/>
          </a:xfrm>
          <a:prstGeom prst="rect">
            <a:avLst/>
          </a:prstGeom>
          <a:noFill/>
        </p:spPr>
        <p:txBody>
          <a:bodyPr wrap="square">
            <a:spAutoFit/>
          </a:bodyPr>
          <a:lstStyle/>
          <a:p>
            <a:pPr algn="l"/>
            <a:r>
              <a:rPr sz="950" b="0" i="0">
                <a:solidFill>
                  <a:srgbClr val="E8F4F8"/>
                </a:solidFill>
              </a:rPr>
              <a:t>Deploy real sonar hardware and</a:t>
            </a:r>
          </a:p>
        </p:txBody>
      </p:sp>
      <p:sp>
        <p:nvSpPr>
          <p:cNvPr id="54" name="TextBox 53"/>
          <p:cNvSpPr txBox="1"/>
          <p:nvPr/>
        </p:nvSpPr>
        <p:spPr>
          <a:xfrm>
            <a:off x="8595360" y="2171700"/>
            <a:ext cx="3273552" cy="233172"/>
          </a:xfrm>
          <a:prstGeom prst="rect">
            <a:avLst/>
          </a:prstGeom>
          <a:noFill/>
        </p:spPr>
        <p:txBody>
          <a:bodyPr wrap="square">
            <a:spAutoFit/>
          </a:bodyPr>
          <a:lstStyle/>
          <a:p>
            <a:pPr algn="l"/>
            <a:r>
              <a:rPr sz="950" b="0" i="0">
                <a:solidFill>
                  <a:srgbClr val="E8F4F8"/>
                </a:solidFill>
              </a:rPr>
              <a:t>calibrated environmental sensors.</a:t>
            </a:r>
          </a:p>
        </p:txBody>
      </p:sp>
      <p:sp>
        <p:nvSpPr>
          <p:cNvPr id="55" name="TextBox 54"/>
          <p:cNvSpPr txBox="1"/>
          <p:nvPr/>
        </p:nvSpPr>
        <p:spPr>
          <a:xfrm>
            <a:off x="8595360" y="2404872"/>
            <a:ext cx="3273552" cy="233172"/>
          </a:xfrm>
          <a:prstGeom prst="rect">
            <a:avLst/>
          </a:prstGeom>
          <a:noFill/>
        </p:spPr>
        <p:txBody>
          <a:bodyPr wrap="square">
            <a:spAutoFit/>
          </a:bodyPr>
          <a:lstStyle/>
          <a:p>
            <a:pPr algn="l"/>
            <a:r>
              <a:rPr sz="950" b="0" i="0">
                <a:solidFill>
                  <a:srgbClr val="E8F4F8"/>
                </a:solidFill>
              </a:rPr>
              <a:t>Commission expert biological surveys</a:t>
            </a:r>
          </a:p>
        </p:txBody>
      </p:sp>
      <p:sp>
        <p:nvSpPr>
          <p:cNvPr id="56" name="TextBox 55"/>
          <p:cNvSpPr txBox="1"/>
          <p:nvPr/>
        </p:nvSpPr>
        <p:spPr>
          <a:xfrm>
            <a:off x="8595360" y="2638044"/>
            <a:ext cx="3273552" cy="233172"/>
          </a:xfrm>
          <a:prstGeom prst="rect">
            <a:avLst/>
          </a:prstGeom>
          <a:noFill/>
        </p:spPr>
        <p:txBody>
          <a:bodyPr wrap="square">
            <a:spAutoFit/>
          </a:bodyPr>
          <a:lstStyle/>
          <a:p>
            <a:pPr algn="l"/>
            <a:r>
              <a:rPr sz="950" b="0" i="0">
                <a:solidFill>
                  <a:srgbClr val="E8F4F8"/>
                </a:solidFill>
              </a:rPr>
              <a:t>for ground-truth label annotation.</a:t>
            </a:r>
          </a:p>
        </p:txBody>
      </p:sp>
      <p:sp>
        <p:nvSpPr>
          <p:cNvPr id="57" name="TextBox 56"/>
          <p:cNvSpPr txBox="1"/>
          <p:nvPr/>
        </p:nvSpPr>
        <p:spPr>
          <a:xfrm>
            <a:off x="8503920" y="2999232"/>
            <a:ext cx="3364992" cy="256032"/>
          </a:xfrm>
          <a:prstGeom prst="rect">
            <a:avLst/>
          </a:prstGeom>
          <a:noFill/>
        </p:spPr>
        <p:txBody>
          <a:bodyPr wrap="square">
            <a:spAutoFit/>
          </a:bodyPr>
          <a:lstStyle/>
          <a:p>
            <a:pPr algn="l"/>
            <a:r>
              <a:rPr sz="1050" b="1" i="0">
                <a:solidFill>
                  <a:srgbClr val="00B4D8"/>
                </a:solidFill>
              </a:rPr>
              <a:t>Validation strategy</a:t>
            </a:r>
          </a:p>
        </p:txBody>
      </p:sp>
      <p:sp>
        <p:nvSpPr>
          <p:cNvPr id="58" name="TextBox 57"/>
          <p:cNvSpPr txBox="1"/>
          <p:nvPr/>
        </p:nvSpPr>
        <p:spPr>
          <a:xfrm>
            <a:off x="8595360" y="3273551"/>
            <a:ext cx="3273552" cy="233172"/>
          </a:xfrm>
          <a:prstGeom prst="rect">
            <a:avLst/>
          </a:prstGeom>
          <a:noFill/>
        </p:spPr>
        <p:txBody>
          <a:bodyPr wrap="square">
            <a:spAutoFit/>
          </a:bodyPr>
          <a:lstStyle/>
          <a:p>
            <a:pPr algn="l"/>
            <a:r>
              <a:rPr sz="950" b="0" i="0">
                <a:solidFill>
                  <a:srgbClr val="E8F4F8"/>
                </a:solidFill>
              </a:rPr>
              <a:t>Hold out a geographically separate</a:t>
            </a:r>
          </a:p>
        </p:txBody>
      </p:sp>
      <p:sp>
        <p:nvSpPr>
          <p:cNvPr id="59" name="TextBox 58"/>
          <p:cNvSpPr txBox="1"/>
          <p:nvPr/>
        </p:nvSpPr>
        <p:spPr>
          <a:xfrm>
            <a:off x="8595360" y="3506723"/>
            <a:ext cx="3273552" cy="233172"/>
          </a:xfrm>
          <a:prstGeom prst="rect">
            <a:avLst/>
          </a:prstGeom>
          <a:noFill/>
        </p:spPr>
        <p:txBody>
          <a:bodyPr wrap="square">
            <a:spAutoFit/>
          </a:bodyPr>
          <a:lstStyle/>
          <a:p>
            <a:pPr algn="l"/>
            <a:r>
              <a:rPr sz="950" b="0" i="0">
                <a:solidFill>
                  <a:srgbClr val="E8F4F8"/>
                </a:solidFill>
              </a:rPr>
              <a:t>reef region for external evaluation.</a:t>
            </a:r>
          </a:p>
        </p:txBody>
      </p:sp>
      <p:sp>
        <p:nvSpPr>
          <p:cNvPr id="60" name="TextBox 59"/>
          <p:cNvSpPr txBox="1"/>
          <p:nvPr/>
        </p:nvSpPr>
        <p:spPr>
          <a:xfrm>
            <a:off x="8595360" y="3739896"/>
            <a:ext cx="3273552" cy="233172"/>
          </a:xfrm>
          <a:prstGeom prst="rect">
            <a:avLst/>
          </a:prstGeom>
          <a:noFill/>
        </p:spPr>
        <p:txBody>
          <a:bodyPr wrap="square">
            <a:spAutoFit/>
          </a:bodyPr>
          <a:lstStyle/>
          <a:p>
            <a:pPr algn="l"/>
            <a:r>
              <a:rPr sz="950" b="0" i="0">
                <a:solidFill>
                  <a:srgbClr val="E8F4F8"/>
                </a:solidFill>
              </a:rPr>
              <a:t>Temporal cross-validation across</a:t>
            </a:r>
          </a:p>
        </p:txBody>
      </p:sp>
      <p:sp>
        <p:nvSpPr>
          <p:cNvPr id="61" name="TextBox 60"/>
          <p:cNvSpPr txBox="1"/>
          <p:nvPr/>
        </p:nvSpPr>
        <p:spPr>
          <a:xfrm>
            <a:off x="8595360" y="3973068"/>
            <a:ext cx="3273552" cy="233172"/>
          </a:xfrm>
          <a:prstGeom prst="rect">
            <a:avLst/>
          </a:prstGeom>
          <a:noFill/>
        </p:spPr>
        <p:txBody>
          <a:bodyPr wrap="square">
            <a:spAutoFit/>
          </a:bodyPr>
          <a:lstStyle/>
          <a:p>
            <a:pPr algn="l"/>
            <a:r>
              <a:rPr sz="950" b="0" i="0">
                <a:solidFill>
                  <a:srgbClr val="E8F4F8"/>
                </a:solidFill>
              </a:rPr>
              <a:t>survey years (2018–2024).</a:t>
            </a:r>
          </a:p>
        </p:txBody>
      </p:sp>
      <p:sp>
        <p:nvSpPr>
          <p:cNvPr id="62" name="TextBox 61"/>
          <p:cNvSpPr txBox="1"/>
          <p:nvPr/>
        </p:nvSpPr>
        <p:spPr>
          <a:xfrm>
            <a:off x="8503920" y="4334255"/>
            <a:ext cx="3364992" cy="256032"/>
          </a:xfrm>
          <a:prstGeom prst="rect">
            <a:avLst/>
          </a:prstGeom>
          <a:noFill/>
        </p:spPr>
        <p:txBody>
          <a:bodyPr wrap="square">
            <a:spAutoFit/>
          </a:bodyPr>
          <a:lstStyle/>
          <a:p>
            <a:pPr algn="l"/>
            <a:r>
              <a:rPr sz="1050" b="1" i="0">
                <a:solidFill>
                  <a:srgbClr val="00B4D8"/>
                </a:solidFill>
              </a:rPr>
              <a:t>Model improvement</a:t>
            </a:r>
          </a:p>
        </p:txBody>
      </p:sp>
      <p:sp>
        <p:nvSpPr>
          <p:cNvPr id="63" name="TextBox 62"/>
          <p:cNvSpPr txBox="1"/>
          <p:nvPr/>
        </p:nvSpPr>
        <p:spPr>
          <a:xfrm>
            <a:off x="8595360" y="4608575"/>
            <a:ext cx="3273552" cy="233172"/>
          </a:xfrm>
          <a:prstGeom prst="rect">
            <a:avLst/>
          </a:prstGeom>
          <a:noFill/>
        </p:spPr>
        <p:txBody>
          <a:bodyPr wrap="square">
            <a:spAutoFit/>
          </a:bodyPr>
          <a:lstStyle/>
          <a:p>
            <a:pPr algn="l"/>
            <a:r>
              <a:rPr sz="950" b="0" i="0">
                <a:solidFill>
                  <a:srgbClr val="E8F4F8"/>
                </a:solidFill>
              </a:rPr>
              <a:t>SHAP feature importance analysis</a:t>
            </a:r>
          </a:p>
        </p:txBody>
      </p:sp>
      <p:sp>
        <p:nvSpPr>
          <p:cNvPr id="64" name="TextBox 63"/>
          <p:cNvSpPr txBox="1"/>
          <p:nvPr/>
        </p:nvSpPr>
        <p:spPr>
          <a:xfrm>
            <a:off x="8595360" y="4841747"/>
            <a:ext cx="3273552" cy="233172"/>
          </a:xfrm>
          <a:prstGeom prst="rect">
            <a:avLst/>
          </a:prstGeom>
          <a:noFill/>
        </p:spPr>
        <p:txBody>
          <a:bodyPr wrap="square">
            <a:spAutoFit/>
          </a:bodyPr>
          <a:lstStyle/>
          <a:p>
            <a:pPr algn="l"/>
            <a:r>
              <a:rPr sz="950" b="0" i="0">
                <a:solidFill>
                  <a:srgbClr val="E8F4F8"/>
                </a:solidFill>
              </a:rPr>
              <a:t>to identify key sensor drivers.</a:t>
            </a:r>
          </a:p>
        </p:txBody>
      </p:sp>
      <p:sp>
        <p:nvSpPr>
          <p:cNvPr id="65" name="TextBox 64"/>
          <p:cNvSpPr txBox="1"/>
          <p:nvPr/>
        </p:nvSpPr>
        <p:spPr>
          <a:xfrm>
            <a:off x="8595360" y="5074919"/>
            <a:ext cx="3273552" cy="233172"/>
          </a:xfrm>
          <a:prstGeom prst="rect">
            <a:avLst/>
          </a:prstGeom>
          <a:noFill/>
        </p:spPr>
        <p:txBody>
          <a:bodyPr wrap="square">
            <a:spAutoFit/>
          </a:bodyPr>
          <a:lstStyle/>
          <a:p>
            <a:pPr algn="l"/>
            <a:r>
              <a:rPr sz="950" b="0" i="0">
                <a:solidFill>
                  <a:srgbClr val="E8F4F8"/>
                </a:solidFill>
              </a:rPr>
              <a:t>Hyperparameter search beyond</a:t>
            </a:r>
          </a:p>
        </p:txBody>
      </p:sp>
      <p:sp>
        <p:nvSpPr>
          <p:cNvPr id="66" name="TextBox 65"/>
          <p:cNvSpPr txBox="1"/>
          <p:nvPr/>
        </p:nvSpPr>
        <p:spPr>
          <a:xfrm>
            <a:off x="8595360" y="5308091"/>
            <a:ext cx="3273552" cy="233172"/>
          </a:xfrm>
          <a:prstGeom prst="rect">
            <a:avLst/>
          </a:prstGeom>
          <a:noFill/>
        </p:spPr>
        <p:txBody>
          <a:bodyPr wrap="square">
            <a:spAutoFit/>
          </a:bodyPr>
          <a:lstStyle/>
          <a:p>
            <a:pPr algn="l"/>
            <a:r>
              <a:rPr sz="950" b="0" i="0">
                <a:solidFill>
                  <a:srgbClr val="E8F4F8"/>
                </a:solidFill>
              </a:rPr>
              <a:t>current params.yaml defaults.</a:t>
            </a:r>
          </a:p>
        </p:txBody>
      </p:sp>
      <p:sp>
        <p:nvSpPr>
          <p:cNvPr id="67" name="Rectangle 66"/>
          <p:cNvSpPr/>
          <p:nvPr/>
        </p:nvSpPr>
        <p:spPr>
          <a:xfrm>
            <a:off x="274320" y="6364224"/>
            <a:ext cx="11686032" cy="292608"/>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65760" y="6373368"/>
            <a:ext cx="11521440" cy="256032"/>
          </a:xfrm>
          <a:prstGeom prst="rect">
            <a:avLst/>
          </a:prstGeom>
          <a:noFill/>
        </p:spPr>
        <p:txBody>
          <a:bodyPr wrap="square">
            <a:spAutoFit/>
          </a:bodyPr>
          <a:lstStyle/>
          <a:p>
            <a:pPr algn="ctr"/>
            <a:r>
              <a:rPr sz="1000" b="0" i="1">
                <a:solidFill>
                  <a:srgbClr val="8AB4C8"/>
                </a:solidFill>
              </a:rPr>
              <a:t>The pipeline is complete and test-verified. Replacing synthetic data with real calibrated field observations is the critical next milestone before any ecological conclusions can be drawn.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